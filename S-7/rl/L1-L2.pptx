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4" r:id="rId9"/>
    <p:sldId id="265" r:id="rId10"/>
    <p:sldId id="261" r:id="rId11"/>
    <p:sldId id="266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7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405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96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44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98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55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61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57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28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569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65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64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55F4E-AD25-4989-9D75-F68C1B08CCB7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50135-6E11-4DB9-B239-4B880A6A9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13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Reinforcement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733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Syllabus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632" y="1851587"/>
            <a:ext cx="8497824" cy="46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16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Suggested Readings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4660"/>
            <a:ext cx="9918907" cy="276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 to Control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Familiar models of Machine Learning</a:t>
            </a:r>
          </a:p>
          <a:p>
            <a:pPr lvl="1"/>
            <a:r>
              <a:rPr lang="en-US" dirty="0" smtClean="0"/>
              <a:t>Supervised: Classification, Regression etc.</a:t>
            </a:r>
          </a:p>
          <a:p>
            <a:pPr lvl="1"/>
            <a:r>
              <a:rPr lang="en-US" dirty="0" smtClean="0"/>
              <a:t>Unsupervised: Clustering, Frequent Patterns etc.</a:t>
            </a:r>
            <a:endParaRPr lang="en-IN" dirty="0"/>
          </a:p>
          <a:p>
            <a:pPr lvl="1"/>
            <a:endParaRPr lang="en-US" dirty="0" smtClean="0"/>
          </a:p>
          <a:p>
            <a:r>
              <a:rPr lang="en-US" dirty="0" smtClean="0"/>
              <a:t>How did you learn the cycle?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938" y="3936430"/>
            <a:ext cx="2914742" cy="19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8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Reinforcement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Trial-and-Error learning paradigm</a:t>
            </a:r>
          </a:p>
          <a:p>
            <a:r>
              <a:rPr lang="en-US" dirty="0" smtClean="0"/>
              <a:t>Learn about a system through interaction</a:t>
            </a:r>
          </a:p>
          <a:p>
            <a:r>
              <a:rPr lang="en-US" dirty="0" smtClean="0"/>
              <a:t>Inspired by behavioral psychology!</a:t>
            </a:r>
          </a:p>
          <a:p>
            <a:pPr lvl="1"/>
            <a:r>
              <a:rPr lang="en-US" dirty="0" smtClean="0"/>
              <a:t>Pavlov’s dog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8255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Reinforcement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Learning about stimuli and actions based on rewards and punishments alone.</a:t>
            </a:r>
          </a:p>
          <a:p>
            <a:r>
              <a:rPr lang="en-US" dirty="0" smtClean="0"/>
              <a:t>No detailed supervision available</a:t>
            </a:r>
          </a:p>
          <a:p>
            <a:r>
              <a:rPr lang="en-US" dirty="0" smtClean="0"/>
              <a:t>Trial-and-Error learning</a:t>
            </a:r>
          </a:p>
          <a:p>
            <a:r>
              <a:rPr lang="en-US" dirty="0" smtClean="0"/>
              <a:t>Delayed rewards</a:t>
            </a:r>
          </a:p>
          <a:p>
            <a:r>
              <a:rPr lang="en-US" dirty="0" smtClean="0"/>
              <a:t>Sequence of actions required to obtain reward</a:t>
            </a:r>
          </a:p>
          <a:p>
            <a:r>
              <a:rPr lang="en-US" dirty="0" smtClean="0"/>
              <a:t>Associative learning required</a:t>
            </a:r>
          </a:p>
          <a:p>
            <a:pPr lvl="1"/>
            <a:r>
              <a:rPr lang="en-US" dirty="0" smtClean="0"/>
              <a:t>Need to associate actions to states</a:t>
            </a:r>
          </a:p>
          <a:p>
            <a:r>
              <a:rPr lang="en-US" dirty="0" smtClean="0"/>
              <a:t>Learn about policies not just actions</a:t>
            </a:r>
          </a:p>
          <a:p>
            <a:r>
              <a:rPr lang="en-US" dirty="0" smtClean="0"/>
              <a:t>Typically in a stochastic world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68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RL Applications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2337" y="1850784"/>
            <a:ext cx="8166607" cy="471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37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RL Framework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Learn from close interaction</a:t>
            </a:r>
          </a:p>
          <a:p>
            <a:r>
              <a:rPr lang="en-US" dirty="0" smtClean="0"/>
              <a:t>Stochastic environment</a:t>
            </a:r>
          </a:p>
          <a:p>
            <a:r>
              <a:rPr lang="en-US" dirty="0" smtClean="0"/>
              <a:t>Noisy delayed scalar evaluation</a:t>
            </a:r>
          </a:p>
          <a:p>
            <a:r>
              <a:rPr lang="en-US" dirty="0" smtClean="0"/>
              <a:t>Maximize a measure of long term performance</a:t>
            </a:r>
            <a:endParaRPr lang="en-IN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599" y="1761617"/>
            <a:ext cx="2321209" cy="24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132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RL Framework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Learn from close interaction</a:t>
            </a:r>
          </a:p>
          <a:p>
            <a:r>
              <a:rPr lang="en-US" dirty="0" smtClean="0"/>
              <a:t>Stochastic environment</a:t>
            </a:r>
          </a:p>
          <a:p>
            <a:r>
              <a:rPr lang="en-US" dirty="0" smtClean="0"/>
              <a:t>Noisy delayed scalar evaluation</a:t>
            </a:r>
          </a:p>
          <a:p>
            <a:r>
              <a:rPr lang="en-US" dirty="0" smtClean="0"/>
              <a:t>Maximize a measure of long term performance</a:t>
            </a:r>
            <a:endParaRPr lang="en-IN" dirty="0"/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794" y="1825625"/>
            <a:ext cx="4833542" cy="215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633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Supervised Learning!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Very sparse “Supervision”</a:t>
            </a:r>
          </a:p>
          <a:p>
            <a:r>
              <a:rPr lang="en-US" dirty="0" smtClean="0"/>
              <a:t>No target output provided</a:t>
            </a:r>
          </a:p>
          <a:p>
            <a:r>
              <a:rPr lang="en-US" dirty="0" smtClean="0"/>
              <a:t>No error gradient information available</a:t>
            </a:r>
          </a:p>
          <a:p>
            <a:r>
              <a:rPr lang="en-US" dirty="0" smtClean="0"/>
              <a:t>Action chooses next state</a:t>
            </a:r>
          </a:p>
          <a:p>
            <a:r>
              <a:rPr lang="en-US" dirty="0" smtClean="0"/>
              <a:t>Explore to estimate gradient – Trial and Error Learning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745" y="1690688"/>
            <a:ext cx="5715551" cy="163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4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Unsupervised Learning!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Sparse “Supervision” available</a:t>
            </a:r>
            <a:endParaRPr lang="en-IN" dirty="0"/>
          </a:p>
          <a:p>
            <a:r>
              <a:rPr lang="en-US" dirty="0" smtClean="0"/>
              <a:t>Pattern detection not primary goal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882" y="1951426"/>
            <a:ext cx="4941588" cy="166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56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RL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Apart from Agent and Environment, It has other crucial components:</a:t>
            </a:r>
          </a:p>
          <a:p>
            <a:pPr lvl="1"/>
            <a:r>
              <a:rPr lang="en-US" dirty="0" smtClean="0"/>
              <a:t>Policy</a:t>
            </a:r>
          </a:p>
          <a:p>
            <a:pPr lvl="1"/>
            <a:r>
              <a:rPr lang="en-US" dirty="0" smtClean="0"/>
              <a:t>Reward signals</a:t>
            </a:r>
          </a:p>
          <a:p>
            <a:pPr lvl="1"/>
            <a:r>
              <a:rPr lang="en-US" dirty="0" smtClean="0"/>
              <a:t>Value functions </a:t>
            </a:r>
          </a:p>
          <a:p>
            <a:pPr lvl="1"/>
            <a:r>
              <a:rPr lang="en-US" dirty="0" smtClean="0"/>
              <a:t>Model of environment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709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Policy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Defines agent’s way of behaving at a given time</a:t>
            </a:r>
          </a:p>
          <a:p>
            <a:r>
              <a:rPr lang="en-US" dirty="0" smtClean="0"/>
              <a:t>In psychology, it is called a set of Stimulus-Response rules or associations</a:t>
            </a:r>
          </a:p>
          <a:p>
            <a:r>
              <a:rPr lang="en-US" dirty="0" smtClean="0"/>
              <a:t>May be a simple function or requires extensive computation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49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Reward Signals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Defines the goal in a RL Problem</a:t>
            </a:r>
          </a:p>
          <a:p>
            <a:r>
              <a:rPr lang="en-US" dirty="0" smtClean="0"/>
              <a:t>Considered as a primary basis for altering the policy</a:t>
            </a:r>
          </a:p>
          <a:p>
            <a:r>
              <a:rPr lang="en-US" dirty="0" smtClean="0"/>
              <a:t>In general, reward signals may be stochastic functions of the state of the environment and the actions taken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200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value function defines what is good in the long run</a:t>
            </a:r>
          </a:p>
          <a:p>
            <a:r>
              <a:rPr lang="en-US" dirty="0" smtClean="0"/>
              <a:t>Value of state = total amount of reward an agent can except to accumulate over the future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8957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of Environment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Mimics the behavior of environment</a:t>
            </a:r>
          </a:p>
          <a:p>
            <a:r>
              <a:rPr lang="en-US" dirty="0" smtClean="0"/>
              <a:t>Model are used for </a:t>
            </a:r>
            <a:r>
              <a:rPr lang="en-US" i="1" dirty="0" smtClean="0"/>
              <a:t>Planning</a:t>
            </a:r>
            <a:r>
              <a:rPr lang="en-US" dirty="0" smtClean="0"/>
              <a:t> </a:t>
            </a:r>
          </a:p>
          <a:p>
            <a:r>
              <a:rPr lang="en-US" dirty="0" smtClean="0"/>
              <a:t>Methods for solving RL problems that use models and planning are called Model-based methods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4259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 and 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of the RL methods are structured around estimating the Value Functions</a:t>
            </a:r>
          </a:p>
          <a:p>
            <a:r>
              <a:rPr lang="en-US" dirty="0" smtClean="0"/>
              <a:t>Evolutionary methods – </a:t>
            </a:r>
          </a:p>
          <a:p>
            <a:pPr lvl="1"/>
            <a:r>
              <a:rPr lang="en-US" dirty="0" smtClean="0"/>
              <a:t>will be effective for sufficiently small space of policies, good policies are common and easy to find, or if a lot of time is available for searching.</a:t>
            </a:r>
          </a:p>
          <a:p>
            <a:pPr lvl="1"/>
            <a:r>
              <a:rPr lang="en-US" dirty="0" smtClean="0"/>
              <a:t>Do not use the fact that policy they are searching for is a function from states to actions.</a:t>
            </a:r>
          </a:p>
          <a:p>
            <a:r>
              <a:rPr lang="en-US" dirty="0" smtClean="0"/>
              <a:t>Policy gradient methods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772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 Extended Example: Tic-Tac-Toe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dirty="0" smtClean="0"/>
              <a:t>Solutions:</a:t>
            </a:r>
          </a:p>
          <a:p>
            <a:pPr lvl="1"/>
            <a:r>
              <a:rPr lang="en-US" dirty="0" smtClean="0"/>
              <a:t>Classical Techniques</a:t>
            </a:r>
          </a:p>
          <a:p>
            <a:pPr lvl="2"/>
            <a:r>
              <a:rPr lang="en-US" dirty="0" err="1" smtClean="0"/>
              <a:t>Minimax</a:t>
            </a:r>
            <a:endParaRPr lang="en-US" dirty="0" smtClean="0"/>
          </a:p>
          <a:p>
            <a:pPr lvl="2"/>
            <a:r>
              <a:rPr lang="en-US" dirty="0" smtClean="0"/>
              <a:t>Dynamic programming</a:t>
            </a:r>
          </a:p>
          <a:p>
            <a:pPr lvl="1"/>
            <a:r>
              <a:rPr lang="en-US" dirty="0" smtClean="0"/>
              <a:t>Evolutionary Methods</a:t>
            </a:r>
          </a:p>
          <a:p>
            <a:pPr lvl="1"/>
            <a:r>
              <a:rPr lang="en-US" dirty="0" smtClean="0"/>
              <a:t>RL Method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790" y="2239328"/>
            <a:ext cx="2274642" cy="162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26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 Extended Example: Tic-Tac-Toe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1448" y="2014592"/>
            <a:ext cx="5268655" cy="471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59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 Extended Example: Tic-Tac-Toe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3934" y="1974289"/>
            <a:ext cx="10394496" cy="341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46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Temporal Difference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Simple rule to explain complex </a:t>
            </a:r>
            <a:r>
              <a:rPr lang="en-US" dirty="0" err="1" smtClean="0"/>
              <a:t>behaviours</a:t>
            </a:r>
            <a:endParaRPr lang="en-US" dirty="0" smtClean="0"/>
          </a:p>
          <a:p>
            <a:r>
              <a:rPr lang="en-US" dirty="0" smtClean="0"/>
              <a:t>Intuition: Prediction of outcome at time </a:t>
            </a:r>
            <a:r>
              <a:rPr lang="en-US" i="1" dirty="0" smtClean="0"/>
              <a:t>t+1</a:t>
            </a:r>
            <a:r>
              <a:rPr lang="en-US" dirty="0" smtClean="0"/>
              <a:t> is better than the prediction at time </a:t>
            </a:r>
            <a:r>
              <a:rPr lang="en-US" i="1" dirty="0" smtClean="0"/>
              <a:t>t</a:t>
            </a:r>
            <a:r>
              <a:rPr lang="en-US" dirty="0" smtClean="0"/>
              <a:t>. Hence use the later prediction to adjust the earlier prediction.</a:t>
            </a:r>
          </a:p>
          <a:p>
            <a:r>
              <a:rPr lang="en-US" dirty="0" smtClean="0"/>
              <a:t>Has had profound impact in behavioral psychology and neuroscience!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775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Explore-Exploit Dilemma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key Question- the dilemma between exploration and exploitation</a:t>
            </a:r>
          </a:p>
          <a:p>
            <a:r>
              <a:rPr lang="en-US" dirty="0" smtClean="0"/>
              <a:t>Explore to find profitable actions</a:t>
            </a:r>
          </a:p>
          <a:p>
            <a:r>
              <a:rPr lang="en-US" dirty="0" smtClean="0"/>
              <a:t>Exploit to act according to the best observations already made</a:t>
            </a:r>
          </a:p>
          <a:p>
            <a:r>
              <a:rPr lang="en-US" dirty="0" smtClean="0"/>
              <a:t>Bandit problems encapsulate ‘Explore </a:t>
            </a:r>
            <a:r>
              <a:rPr lang="en-US" dirty="0" err="1" smtClean="0"/>
              <a:t>vs</a:t>
            </a:r>
            <a:r>
              <a:rPr lang="en-US" dirty="0" smtClean="0"/>
              <a:t> Exploit’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1074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</TotalTime>
  <Words>514</Words>
  <Application>Microsoft Office PowerPoint</Application>
  <PresentationFormat>Widescreen</PresentationFormat>
  <Paragraphs>116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Introduction to Reinforcement Learning</vt:lpstr>
      <vt:lpstr>Syllabus</vt:lpstr>
      <vt:lpstr>Suggested Readings</vt:lpstr>
      <vt:lpstr>Learn to Control</vt:lpstr>
      <vt:lpstr>Reinforcement Learning</vt:lpstr>
      <vt:lpstr>Reinforcement Learning</vt:lpstr>
      <vt:lpstr>RL Applications</vt:lpstr>
      <vt:lpstr>RL Framework</vt:lpstr>
      <vt:lpstr>RL Framework</vt:lpstr>
      <vt:lpstr>Not Supervised Learning!</vt:lpstr>
      <vt:lpstr>Not Unsupervised Learning!</vt:lpstr>
      <vt:lpstr>RL Elements</vt:lpstr>
      <vt:lpstr>Policy</vt:lpstr>
      <vt:lpstr>Reward Signals</vt:lpstr>
      <vt:lpstr>Value function</vt:lpstr>
      <vt:lpstr>Model of Environment</vt:lpstr>
      <vt:lpstr>Limitations and Scope</vt:lpstr>
      <vt:lpstr>An Extended Example: Tic-Tac-Toe</vt:lpstr>
      <vt:lpstr>An Extended Example: Tic-Tac-Toe</vt:lpstr>
      <vt:lpstr>An Extended Example: Tic-Tac-Toe</vt:lpstr>
      <vt:lpstr>Temporal Difference</vt:lpstr>
      <vt:lpstr>Explore-Exploit Dilemma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16</cp:revision>
  <dcterms:created xsi:type="dcterms:W3CDTF">2025-07-28T06:57:50Z</dcterms:created>
  <dcterms:modified xsi:type="dcterms:W3CDTF">2025-08-04T07:44:38Z</dcterms:modified>
</cp:coreProperties>
</file>