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77" r:id="rId8"/>
    <p:sldId id="278" r:id="rId9"/>
    <p:sldId id="279" r:id="rId10"/>
    <p:sldId id="261" r:id="rId11"/>
    <p:sldId id="280" r:id="rId12"/>
    <p:sldId id="281" r:id="rId13"/>
    <p:sldId id="282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4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28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54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60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56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86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10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3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26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43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6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58C0C-E7BA-4148-B7AF-1CABD047B1F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26EDC-F46C-4301-81D0-6A59179F0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78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MDPs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5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Finite Markov Decision Processes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952287" cy="385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8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21" y="864062"/>
            <a:ext cx="4359018" cy="327688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0865" y="1684688"/>
            <a:ext cx="10304657" cy="434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0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1208"/>
            <a:ext cx="3772227" cy="312447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3556" y="2219638"/>
            <a:ext cx="7049893" cy="259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71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Agent-Environment Interface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specifies a probability distribution for each choice of </a:t>
            </a:r>
            <a:r>
              <a:rPr lang="en-US" dirty="0" smtClean="0"/>
              <a:t>s and </a:t>
            </a:r>
            <a:r>
              <a:rPr lang="en-US" dirty="0"/>
              <a:t>a, that is, </a:t>
            </a:r>
            <a:r>
              <a:rPr lang="en-US" dirty="0" smtClean="0"/>
              <a:t>that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The state must include information about all </a:t>
            </a:r>
            <a:r>
              <a:rPr lang="en-US" dirty="0" smtClean="0"/>
              <a:t>aspects of </a:t>
            </a:r>
            <a:r>
              <a:rPr lang="en-US" dirty="0"/>
              <a:t>the past agent–environment interaction that make a </a:t>
            </a:r>
            <a:r>
              <a:rPr lang="en-US" dirty="0" smtClean="0"/>
              <a:t>difference </a:t>
            </a:r>
            <a:r>
              <a:rPr lang="en-US" dirty="0"/>
              <a:t>for the future. If </a:t>
            </a:r>
            <a:r>
              <a:rPr lang="en-US" dirty="0" smtClean="0"/>
              <a:t>it does</a:t>
            </a:r>
            <a:r>
              <a:rPr lang="en-US" dirty="0"/>
              <a:t>, then the state is said to have the Markov property.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93" y="2854431"/>
            <a:ext cx="6495439" cy="88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049" y="2770549"/>
            <a:ext cx="7808437" cy="3264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09" y="812277"/>
            <a:ext cx="3856054" cy="3505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49" y="1658051"/>
            <a:ext cx="9749303" cy="104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1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Agent-Environment Interface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MDP framework is abstract and flexible and can be applied to many </a:t>
            </a:r>
            <a:r>
              <a:rPr lang="en-US" dirty="0" smtClean="0"/>
              <a:t>different</a:t>
            </a:r>
            <a:r>
              <a:rPr lang="en-US" dirty="0"/>
              <a:t> </a:t>
            </a:r>
            <a:r>
              <a:rPr lang="en-US" dirty="0" smtClean="0"/>
              <a:t>problems </a:t>
            </a:r>
            <a:r>
              <a:rPr lang="en-US" dirty="0"/>
              <a:t>in many </a:t>
            </a:r>
            <a:r>
              <a:rPr lang="en-US" dirty="0" smtClean="0"/>
              <a:t>different </a:t>
            </a:r>
            <a:r>
              <a:rPr lang="en-US" dirty="0"/>
              <a:t>ways. For example, the time steps need not refer to </a:t>
            </a:r>
            <a:r>
              <a:rPr lang="en-US" dirty="0" smtClean="0"/>
              <a:t>fixed intervals </a:t>
            </a:r>
            <a:r>
              <a:rPr lang="en-US" dirty="0"/>
              <a:t>of real time; they can refer to arbitrary successive stages of decision </a:t>
            </a:r>
            <a:r>
              <a:rPr lang="en-US" dirty="0" smtClean="0"/>
              <a:t>making </a:t>
            </a:r>
            <a:r>
              <a:rPr lang="en-IN" dirty="0" smtClean="0"/>
              <a:t>and </a:t>
            </a:r>
            <a:r>
              <a:rPr lang="en-IN" dirty="0"/>
              <a:t>acting</a:t>
            </a:r>
            <a:r>
              <a:rPr lang="en-IN" dirty="0" smtClean="0"/>
              <a:t>.</a:t>
            </a:r>
          </a:p>
          <a:p>
            <a:r>
              <a:rPr lang="en-US" dirty="0"/>
              <a:t>Some of what makes up a state could be based on memory of past sensations </a:t>
            </a:r>
            <a:r>
              <a:rPr lang="en-US" dirty="0" smtClean="0"/>
              <a:t>or </a:t>
            </a:r>
            <a:r>
              <a:rPr lang="en-US" dirty="0"/>
              <a:t>even be entirely mental or subjective</a:t>
            </a:r>
            <a:r>
              <a:rPr lang="en-US" dirty="0" smtClean="0"/>
              <a:t>.</a:t>
            </a:r>
          </a:p>
          <a:p>
            <a:r>
              <a:rPr lang="en-US" dirty="0"/>
              <a:t>some actions might be totally mental or computational. For </a:t>
            </a:r>
            <a:r>
              <a:rPr lang="en-US" dirty="0" smtClean="0"/>
              <a:t>example, some </a:t>
            </a:r>
            <a:r>
              <a:rPr lang="en-US" dirty="0"/>
              <a:t>actions might control what an agent chooses to think about, or where it focuses </a:t>
            </a:r>
            <a:r>
              <a:rPr lang="en-US" dirty="0" smtClean="0"/>
              <a:t>its </a:t>
            </a:r>
            <a:r>
              <a:rPr lang="en-IN" dirty="0" smtClean="0"/>
              <a:t>attention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870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Agent-Environment Interface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boundary between agent and environment is typically not the </a:t>
            </a:r>
            <a:r>
              <a:rPr lang="en-US" dirty="0" smtClean="0"/>
              <a:t>same as </a:t>
            </a:r>
            <a:r>
              <a:rPr lang="en-US" dirty="0"/>
              <a:t>the physical boundary of a robot’s or animal’s body</a:t>
            </a:r>
            <a:r>
              <a:rPr lang="en-US" dirty="0" smtClean="0"/>
              <a:t>.</a:t>
            </a:r>
          </a:p>
          <a:p>
            <a:r>
              <a:rPr lang="en-US" dirty="0"/>
              <a:t>The general rule we follow is that anything that cannot be changed arbitrarily </a:t>
            </a:r>
            <a:r>
              <a:rPr lang="en-US" dirty="0" smtClean="0"/>
              <a:t>by the </a:t>
            </a:r>
            <a:r>
              <a:rPr lang="en-US" dirty="0"/>
              <a:t>agent is considered to be outside of it and thus part of its environment</a:t>
            </a:r>
            <a:r>
              <a:rPr lang="en-US" dirty="0" smtClean="0"/>
              <a:t>.</a:t>
            </a:r>
          </a:p>
          <a:p>
            <a:r>
              <a:rPr lang="en-IN" dirty="0"/>
              <a:t>We </a:t>
            </a:r>
            <a:r>
              <a:rPr lang="en-IN" dirty="0" smtClean="0"/>
              <a:t>do </a:t>
            </a:r>
            <a:r>
              <a:rPr lang="en-US" dirty="0" smtClean="0"/>
              <a:t>not </a:t>
            </a:r>
            <a:r>
              <a:rPr lang="en-US" dirty="0"/>
              <a:t>assume that everything in the environment is unknown to the agent</a:t>
            </a:r>
            <a:r>
              <a:rPr lang="en-US" dirty="0" smtClean="0"/>
              <a:t>.</a:t>
            </a:r>
          </a:p>
          <a:p>
            <a:r>
              <a:rPr lang="en-US" dirty="0"/>
              <a:t>In fact, in some cases the agent </a:t>
            </a:r>
            <a:r>
              <a:rPr lang="en-US" dirty="0" smtClean="0"/>
              <a:t>may know </a:t>
            </a:r>
            <a:r>
              <a:rPr lang="en-US" dirty="0"/>
              <a:t>everything about how its environment works and still face a difficult </a:t>
            </a:r>
            <a:r>
              <a:rPr lang="en-US" dirty="0" smtClean="0"/>
              <a:t>reinforcement </a:t>
            </a:r>
            <a:r>
              <a:rPr lang="en-IN" dirty="0" smtClean="0"/>
              <a:t>learning </a:t>
            </a:r>
            <a:r>
              <a:rPr lang="en-IN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22426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MDP as Goal </a:t>
            </a:r>
            <a:r>
              <a:rPr lang="en-US" dirty="0"/>
              <a:t>D</a:t>
            </a:r>
            <a:r>
              <a:rPr lang="en-US" dirty="0" smtClean="0"/>
              <a:t>irected </a:t>
            </a:r>
            <a:r>
              <a:rPr lang="en-US" dirty="0"/>
              <a:t>L</a:t>
            </a:r>
            <a:r>
              <a:rPr lang="en-US" dirty="0" smtClean="0"/>
              <a:t>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agent–environment boundary can be located at </a:t>
            </a:r>
            <a:r>
              <a:rPr lang="en-US" dirty="0" err="1"/>
              <a:t>di↵erent</a:t>
            </a:r>
            <a:r>
              <a:rPr lang="en-US" dirty="0"/>
              <a:t> places for </a:t>
            </a:r>
            <a:r>
              <a:rPr lang="en-US" dirty="0" smtClean="0"/>
              <a:t>different</a:t>
            </a:r>
            <a:r>
              <a:rPr lang="en-US" dirty="0"/>
              <a:t> </a:t>
            </a:r>
            <a:r>
              <a:rPr lang="en-IN" dirty="0" smtClean="0"/>
              <a:t>purposes</a:t>
            </a:r>
          </a:p>
          <a:p>
            <a:r>
              <a:rPr lang="en-US" dirty="0"/>
              <a:t>The MDP framework is a considerable abstraction of the problem of </a:t>
            </a:r>
            <a:r>
              <a:rPr lang="en-US" dirty="0" smtClean="0"/>
              <a:t>goal-directed </a:t>
            </a:r>
            <a:r>
              <a:rPr lang="en-IN" dirty="0" smtClean="0"/>
              <a:t>learning </a:t>
            </a:r>
            <a:r>
              <a:rPr lang="en-IN" dirty="0"/>
              <a:t>from interaction</a:t>
            </a:r>
            <a:r>
              <a:rPr lang="en-IN" dirty="0" smtClean="0"/>
              <a:t>.</a:t>
            </a:r>
          </a:p>
          <a:p>
            <a:r>
              <a:rPr lang="en-US" dirty="0"/>
              <a:t>G</a:t>
            </a:r>
            <a:r>
              <a:rPr lang="en-US" dirty="0" smtClean="0"/>
              <a:t>oal-directed </a:t>
            </a:r>
            <a:r>
              <a:rPr lang="en-US" dirty="0"/>
              <a:t>behavior can be reduced to three signals passing back and </a:t>
            </a:r>
            <a:r>
              <a:rPr lang="en-US" dirty="0" smtClean="0"/>
              <a:t>forth between </a:t>
            </a:r>
            <a:r>
              <a:rPr lang="en-US" dirty="0"/>
              <a:t>an agent and its environment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75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612" y="1548276"/>
            <a:ext cx="9564131" cy="49639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93405"/>
            <a:ext cx="3856054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3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Bioreactor: (Actions) </a:t>
            </a:r>
            <a:r>
              <a:rPr lang="en-US" dirty="0"/>
              <a:t>target temperatures and target stirring </a:t>
            </a:r>
            <a:r>
              <a:rPr lang="en-US" dirty="0" smtClean="0"/>
              <a:t>rates</a:t>
            </a:r>
          </a:p>
          <a:p>
            <a:r>
              <a:rPr lang="en-US" dirty="0" smtClean="0"/>
              <a:t>(States) </a:t>
            </a:r>
            <a:r>
              <a:rPr lang="en-US" dirty="0"/>
              <a:t>thermocouple and other sensory </a:t>
            </a:r>
            <a:r>
              <a:rPr lang="en-US" dirty="0" smtClean="0"/>
              <a:t>readings, perhaps </a:t>
            </a:r>
            <a:r>
              <a:rPr lang="en-US" dirty="0"/>
              <a:t>filtered and delayed, plus symbolic inputs representing the ingredients in </a:t>
            </a:r>
            <a:r>
              <a:rPr lang="en-US" dirty="0" smtClean="0"/>
              <a:t>the vat </a:t>
            </a:r>
            <a:r>
              <a:rPr lang="en-US" dirty="0"/>
              <a:t>and the target </a:t>
            </a:r>
            <a:r>
              <a:rPr lang="en-US" dirty="0" smtClean="0"/>
              <a:t>chemical</a:t>
            </a:r>
          </a:p>
          <a:p>
            <a:r>
              <a:rPr lang="en-US" dirty="0" smtClean="0"/>
              <a:t>(Reward) </a:t>
            </a:r>
            <a:r>
              <a:rPr lang="en-IN" dirty="0"/>
              <a:t>moment-by-moment measures of </a:t>
            </a:r>
            <a:r>
              <a:rPr lang="en-IN" dirty="0" smtClean="0"/>
              <a:t>the </a:t>
            </a:r>
            <a:r>
              <a:rPr lang="en-US" dirty="0" smtClean="0"/>
              <a:t>rate </a:t>
            </a:r>
            <a:r>
              <a:rPr lang="en-US" dirty="0"/>
              <a:t>at which the useful chemical is produced by the bioreactor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53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Pick and Place Robots: (Action)</a:t>
            </a:r>
            <a:r>
              <a:rPr lang="en-US" dirty="0"/>
              <a:t> voltages applied to each </a:t>
            </a:r>
            <a:r>
              <a:rPr lang="en-US" dirty="0" smtClean="0"/>
              <a:t>motor </a:t>
            </a:r>
            <a:r>
              <a:rPr lang="en-IN" dirty="0" smtClean="0"/>
              <a:t>at </a:t>
            </a:r>
            <a:r>
              <a:rPr lang="en-IN" dirty="0"/>
              <a:t>each </a:t>
            </a:r>
            <a:r>
              <a:rPr lang="en-IN" dirty="0" smtClean="0"/>
              <a:t>joint</a:t>
            </a:r>
            <a:endParaRPr lang="en-IN" dirty="0"/>
          </a:p>
          <a:p>
            <a:r>
              <a:rPr lang="en-US" dirty="0" smtClean="0"/>
              <a:t>(States) </a:t>
            </a:r>
            <a:r>
              <a:rPr lang="en-US" dirty="0"/>
              <a:t>latest readings of joint angles and </a:t>
            </a:r>
            <a:r>
              <a:rPr lang="en-US" dirty="0" smtClean="0"/>
              <a:t>velocities</a:t>
            </a:r>
          </a:p>
          <a:p>
            <a:r>
              <a:rPr lang="en-US" dirty="0" smtClean="0"/>
              <a:t>(Rewards) </a:t>
            </a:r>
            <a:r>
              <a:rPr lang="en-US" dirty="0"/>
              <a:t>+1 for each object successfully picked up and placed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756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Recycling Robot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High-level decisions about how to search for cans are made by </a:t>
            </a:r>
            <a:r>
              <a:rPr lang="en-US" dirty="0" smtClean="0"/>
              <a:t>a reinforcement </a:t>
            </a:r>
            <a:r>
              <a:rPr lang="en-US" dirty="0"/>
              <a:t>learning agent based on the current charge level of the battery</a:t>
            </a:r>
            <a:r>
              <a:rPr lang="en-US" dirty="0" smtClean="0"/>
              <a:t>.</a:t>
            </a:r>
          </a:p>
          <a:p>
            <a:r>
              <a:rPr lang="en-US" dirty="0"/>
              <a:t>a small state set S = {high, low</a:t>
            </a:r>
            <a:r>
              <a:rPr lang="en-US" dirty="0" smtClean="0"/>
              <a:t>}</a:t>
            </a:r>
          </a:p>
          <a:p>
            <a:r>
              <a:rPr lang="en-US" dirty="0"/>
              <a:t>A</a:t>
            </a:r>
            <a:r>
              <a:rPr lang="en-US" dirty="0" smtClean="0"/>
              <a:t>gent </a:t>
            </a:r>
            <a:r>
              <a:rPr lang="en-US" dirty="0"/>
              <a:t>can decide whether to (</a:t>
            </a:r>
            <a:r>
              <a:rPr lang="en-US" dirty="0" smtClean="0"/>
              <a:t>1) actively </a:t>
            </a:r>
            <a:r>
              <a:rPr lang="en-US" dirty="0"/>
              <a:t>search for a can for a certain period of time, (2) remain stationary and </a:t>
            </a:r>
            <a:r>
              <a:rPr lang="en-US" dirty="0" smtClean="0"/>
              <a:t>wait for </a:t>
            </a:r>
            <a:r>
              <a:rPr lang="en-US" dirty="0"/>
              <a:t>someone to bring it a can, or (3) head back to its home base to recharge its </a:t>
            </a:r>
            <a:r>
              <a:rPr lang="en-US" dirty="0" smtClean="0"/>
              <a:t>battery. When </a:t>
            </a:r>
            <a:r>
              <a:rPr lang="en-US" dirty="0"/>
              <a:t>the energy level is high, recharging would always be foolish, so we do not include </a:t>
            </a:r>
            <a:r>
              <a:rPr lang="en-US" dirty="0" smtClean="0"/>
              <a:t>it in </a:t>
            </a:r>
            <a:r>
              <a:rPr lang="en-US" dirty="0"/>
              <a:t>the action set for this state. The action sets are then A(high) = {search, wait} </a:t>
            </a:r>
            <a:r>
              <a:rPr lang="en-US" dirty="0" smtClean="0"/>
              <a:t>and </a:t>
            </a:r>
            <a:r>
              <a:rPr lang="en-IN" dirty="0" smtClean="0"/>
              <a:t>A(low</a:t>
            </a:r>
            <a:r>
              <a:rPr lang="en-IN" dirty="0"/>
              <a:t>) = {search, wait, recharge}.</a:t>
            </a:r>
          </a:p>
        </p:txBody>
      </p:sp>
    </p:spTree>
    <p:extLst>
      <p:ext uri="{BB962C8B-B14F-4D97-AF65-F5344CB8AC3E}">
        <p14:creationId xmlns:p14="http://schemas.microsoft.com/office/powerpoint/2010/main" val="58873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555" y="2253927"/>
            <a:ext cx="8679882" cy="32050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12" y="982202"/>
            <a:ext cx="2720576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90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29" y="357229"/>
            <a:ext cx="6951175" cy="59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29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77240"/>
            <a:ext cx="2491956" cy="441998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47494" y="2497024"/>
            <a:ext cx="6984312" cy="248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26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923544"/>
            <a:ext cx="4122777" cy="45724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05822" y="2259973"/>
            <a:ext cx="6180356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9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66928"/>
            <a:ext cx="3970364" cy="731583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3232" y="1854621"/>
            <a:ext cx="9747504" cy="43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50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85216"/>
            <a:ext cx="3894157" cy="510584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32924"/>
            <a:ext cx="8799576" cy="447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85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209" y="1390517"/>
            <a:ext cx="8222911" cy="49636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09" y="668252"/>
            <a:ext cx="3894157" cy="5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2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628" y="665873"/>
            <a:ext cx="9820148" cy="564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67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4483" y="1717414"/>
            <a:ext cx="4670485" cy="41414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708" y="5831421"/>
            <a:ext cx="4350132" cy="8557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09" y="655293"/>
            <a:ext cx="4701947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30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923212"/>
            <a:ext cx="9146209" cy="39198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06" y="629384"/>
            <a:ext cx="6367545" cy="87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76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1813456"/>
            <a:ext cx="8836153" cy="47164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5376"/>
            <a:ext cx="5765379" cy="78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6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086" y="2126650"/>
            <a:ext cx="8185674" cy="3722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93" y="617190"/>
            <a:ext cx="6274978" cy="90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2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205" y="2192950"/>
            <a:ext cx="7399673" cy="32294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27" y="811418"/>
            <a:ext cx="5434082" cy="68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61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972" y="1982677"/>
            <a:ext cx="9119606" cy="28179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6" y="675876"/>
            <a:ext cx="4046571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81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2045</TotalTime>
  <Words>548</Words>
  <Application>Microsoft Office PowerPoint</Application>
  <PresentationFormat>Widescreen</PresentationFormat>
  <Paragraphs>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MDPs</vt:lpstr>
      <vt:lpstr>Finite Markov Decision Processes</vt:lpstr>
      <vt:lpstr>PowerPoint Presentation</vt:lpstr>
      <vt:lpstr>PowerPoint Presentation</vt:lpstr>
      <vt:lpstr>Agent-Environment Interface</vt:lpstr>
      <vt:lpstr>PowerPoint Presentation</vt:lpstr>
      <vt:lpstr>Agent-Environment Interface</vt:lpstr>
      <vt:lpstr>Agent-Environment Interface</vt:lpstr>
      <vt:lpstr>MDP as Goal Directed Learning</vt:lpstr>
      <vt:lpstr>PowerPoint Presentation</vt:lpstr>
      <vt:lpstr>Example1</vt:lpstr>
      <vt:lpstr>Example 2</vt:lpstr>
      <vt:lpstr>Recycling Robot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9</cp:revision>
  <dcterms:created xsi:type="dcterms:W3CDTF">2025-08-15T15:49:53Z</dcterms:created>
  <dcterms:modified xsi:type="dcterms:W3CDTF">2025-09-02T15:52:02Z</dcterms:modified>
</cp:coreProperties>
</file>