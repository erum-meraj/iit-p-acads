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473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47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75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7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08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3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60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2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71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5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38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087C2-8B58-4788-A9AD-B5A02AFAFFBD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68A4F-BED2-4ACF-BB8D-612DFE6A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64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Dynamic Programming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99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Programming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 </a:t>
            </a:r>
            <a:r>
              <a:rPr lang="en-US" dirty="0"/>
              <a:t>programming (DP) refers to a collection of algorithms that can </a:t>
            </a:r>
            <a:r>
              <a:rPr lang="en-US" dirty="0" smtClean="0"/>
              <a:t>be used </a:t>
            </a:r>
            <a:r>
              <a:rPr lang="en-US" dirty="0"/>
              <a:t>to compute optimal policies given a perfect model of the environment as a </a:t>
            </a:r>
            <a:r>
              <a:rPr lang="en-US" dirty="0" smtClean="0"/>
              <a:t>Markov </a:t>
            </a:r>
            <a:r>
              <a:rPr lang="en-IN" dirty="0" smtClean="0"/>
              <a:t>decision </a:t>
            </a:r>
            <a:r>
              <a:rPr lang="en-IN" dirty="0"/>
              <a:t>process (MDP</a:t>
            </a:r>
            <a:r>
              <a:rPr lang="en-IN" dirty="0" smtClean="0"/>
              <a:t>).</a:t>
            </a:r>
          </a:p>
          <a:p>
            <a:r>
              <a:rPr lang="en-US" dirty="0"/>
              <a:t>Classical DP algorithms are of limited utility in </a:t>
            </a:r>
            <a:r>
              <a:rPr lang="en-US" dirty="0" smtClean="0"/>
              <a:t>reinforcement learning </a:t>
            </a:r>
            <a:r>
              <a:rPr lang="en-US" dirty="0"/>
              <a:t>both because of their assumption of a perfect model and because of their </a:t>
            </a:r>
            <a:r>
              <a:rPr lang="en-US" dirty="0" smtClean="0"/>
              <a:t>great computational </a:t>
            </a:r>
            <a:r>
              <a:rPr lang="en-US" dirty="0"/>
              <a:t>expense, but they are still important </a:t>
            </a:r>
            <a:r>
              <a:rPr lang="en-US" dirty="0" smtClean="0"/>
              <a:t>theoretically.</a:t>
            </a:r>
          </a:p>
          <a:p>
            <a:r>
              <a:rPr lang="en-US" dirty="0"/>
              <a:t>We usually assume that the environment is a finite MDP.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65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Functions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604" y="1940720"/>
            <a:ext cx="10310940" cy="406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Evaluation (Predictions)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Recall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44" y="2862008"/>
            <a:ext cx="8829982" cy="182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7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Evaluations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sequence of approximate value functions v0, v1, v2, . . ., </a:t>
            </a:r>
            <a:r>
              <a:rPr lang="en-US" dirty="0" smtClean="0"/>
              <a:t>each mapping </a:t>
            </a:r>
            <a:r>
              <a:rPr lang="en-US" dirty="0"/>
              <a:t>S+ to R (the real numbers). The initial approximation, v0, is chosen </a:t>
            </a:r>
            <a:r>
              <a:rPr lang="en-US" dirty="0" smtClean="0"/>
              <a:t>arbitrarily (except </a:t>
            </a:r>
            <a:r>
              <a:rPr lang="en-US" dirty="0"/>
              <a:t>that the terminal state, if any, must be given value 0), and each </a:t>
            </a:r>
            <a:r>
              <a:rPr lang="en-US" dirty="0" smtClean="0"/>
              <a:t>successive approximation </a:t>
            </a:r>
            <a:r>
              <a:rPr lang="en-US" dirty="0"/>
              <a:t>is obtained by using the Bellman equation for </a:t>
            </a:r>
            <a:r>
              <a:rPr lang="en-US" dirty="0" smtClean="0"/>
              <a:t>v</a:t>
            </a:r>
            <a:r>
              <a:rPr lang="el-GR" dirty="0" smtClean="0"/>
              <a:t>π</a:t>
            </a:r>
            <a:r>
              <a:rPr lang="en-US" dirty="0" smtClean="0"/>
              <a:t> as </a:t>
            </a:r>
            <a:r>
              <a:rPr lang="en-US" dirty="0"/>
              <a:t>an update rule</a:t>
            </a:r>
            <a:r>
              <a:rPr lang="en-US" dirty="0" smtClean="0"/>
              <a:t>: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392" y="4095712"/>
            <a:ext cx="8335657" cy="108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8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Iterative Policy Evaluation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555" y="2038246"/>
            <a:ext cx="9259230" cy="39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42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1118" y="1816480"/>
            <a:ext cx="7170314" cy="49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4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088" y="1987916"/>
            <a:ext cx="5204911" cy="40084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330" y="1987916"/>
            <a:ext cx="6250888" cy="409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Improvement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value of this way of behaving </a:t>
            </a:r>
            <a:r>
              <a:rPr lang="en-US" dirty="0" smtClean="0"/>
              <a:t>is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11" y="2471890"/>
            <a:ext cx="8748488" cy="11034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3678128"/>
            <a:ext cx="8689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u="none" strike="noStrike" baseline="0" dirty="0" smtClean="0">
                <a:latin typeface="CMR10"/>
              </a:rPr>
              <a:t>Let </a:t>
            </a:r>
            <a:r>
              <a:rPr lang="el-GR" dirty="0" smtClean="0"/>
              <a:t>π</a:t>
            </a:r>
            <a:r>
              <a:rPr lang="en-US" b="0" i="0" u="none" strike="noStrike" baseline="0" dirty="0" smtClean="0">
                <a:latin typeface="CMMI10"/>
              </a:rPr>
              <a:t> </a:t>
            </a:r>
            <a:r>
              <a:rPr lang="en-US" b="0" i="0" u="none" strike="noStrike" baseline="0" dirty="0" smtClean="0">
                <a:latin typeface="CMR10"/>
              </a:rPr>
              <a:t>and</a:t>
            </a:r>
            <a:r>
              <a:rPr lang="en-US" b="0" i="0" u="none" strike="noStrike" dirty="0" smtClean="0">
                <a:latin typeface="CMR10"/>
              </a:rPr>
              <a:t> </a:t>
            </a:r>
            <a:r>
              <a:rPr lang="el-GR" b="0" i="0" u="none" strike="noStrike" dirty="0" smtClean="0">
                <a:latin typeface="CMR10"/>
              </a:rPr>
              <a:t>π</a:t>
            </a:r>
            <a:r>
              <a:rPr lang="en-US" dirty="0" smtClean="0">
                <a:latin typeface="CMR10"/>
              </a:rPr>
              <a:t>’</a:t>
            </a:r>
            <a:r>
              <a:rPr lang="en-US" sz="800" b="0" i="0" u="none" strike="noStrike" baseline="0" dirty="0" smtClean="0">
                <a:latin typeface="CMSY7"/>
              </a:rPr>
              <a:t> </a:t>
            </a:r>
            <a:r>
              <a:rPr lang="en-US" b="0" i="0" u="none" strike="noStrike" baseline="0" dirty="0" smtClean="0">
                <a:latin typeface="CMR10"/>
              </a:rPr>
              <a:t>be any pair of deterministic policies such that, for all </a:t>
            </a:r>
            <a:r>
              <a:rPr lang="en-US" b="0" i="0" u="none" strike="noStrike" baseline="0" dirty="0" smtClean="0">
                <a:latin typeface="CMMI10"/>
              </a:rPr>
              <a:t>s </a:t>
            </a:r>
            <a:r>
              <a:rPr lang="en-US" dirty="0" smtClean="0">
                <a:latin typeface="CMSY10"/>
              </a:rPr>
              <a:t>(belongs to)</a:t>
            </a:r>
            <a:r>
              <a:rPr lang="en-US" b="0" i="0" u="none" strike="noStrike" baseline="0" dirty="0" smtClean="0">
                <a:latin typeface="CMSY10"/>
              </a:rPr>
              <a:t> </a:t>
            </a:r>
            <a:r>
              <a:rPr lang="en-US" b="0" i="0" u="none" strike="noStrike" baseline="0" dirty="0" smtClean="0">
                <a:latin typeface="EUSM10"/>
              </a:rPr>
              <a:t>S</a:t>
            </a:r>
            <a:r>
              <a:rPr lang="en-US" b="0" i="0" u="none" strike="noStrike" baseline="0" dirty="0" smtClean="0">
                <a:latin typeface="CMR10"/>
              </a:rPr>
              <a:t>,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634" y="4354987"/>
            <a:ext cx="9750869" cy="1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4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Improvement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488" y="1608392"/>
            <a:ext cx="9213648" cy="48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0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Improvement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consider the new </a:t>
            </a:r>
            <a:r>
              <a:rPr lang="en-US" dirty="0" smtClean="0"/>
              <a:t>greedy</a:t>
            </a:r>
            <a:r>
              <a:rPr lang="en-IN" dirty="0" smtClean="0"/>
              <a:t>policy, given by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996" y="2750761"/>
            <a:ext cx="6790008" cy="13564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35084"/>
            <a:ext cx="9869424" cy="192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44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Policy Iteration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43" y="2596896"/>
            <a:ext cx="4900889" cy="4420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400" y="963898"/>
            <a:ext cx="7087214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89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2937"/>
            <a:ext cx="9229344" cy="490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8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708" y="1395856"/>
            <a:ext cx="7343020" cy="4925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81220" y="1740152"/>
            <a:ext cx="374599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0" i="0" u="none" strike="noStrike" baseline="0" dirty="0" smtClean="0">
                <a:latin typeface="CMBX9"/>
              </a:rPr>
              <a:t>Figure 4.2: </a:t>
            </a:r>
            <a:r>
              <a:rPr lang="en-US" sz="1600" b="0" i="0" u="none" strike="noStrike" baseline="0" dirty="0" smtClean="0">
                <a:latin typeface="CMR9"/>
              </a:rPr>
              <a:t>The sequence of policies found by policy iteration on Jack’s car rental</a:t>
            </a:r>
            <a:r>
              <a:rPr lang="en-US" sz="1600" b="0" i="0" u="none" strike="noStrike" dirty="0" smtClean="0">
                <a:latin typeface="CMR9"/>
              </a:rPr>
              <a:t> </a:t>
            </a:r>
            <a:r>
              <a:rPr lang="en-US" sz="1600" b="0" i="0" u="none" strike="noStrike" baseline="0" dirty="0" smtClean="0">
                <a:latin typeface="CMR9"/>
              </a:rPr>
              <a:t>problem,</a:t>
            </a:r>
            <a:r>
              <a:rPr lang="en-US" sz="1600" b="0" i="0" u="none" strike="noStrike" dirty="0" smtClean="0">
                <a:latin typeface="CMR9"/>
              </a:rPr>
              <a:t> </a:t>
            </a:r>
            <a:r>
              <a:rPr lang="en-US" sz="1600" b="0" i="0" u="none" strike="noStrike" baseline="0" dirty="0" smtClean="0">
                <a:latin typeface="CMR9"/>
              </a:rPr>
              <a:t>and the final state-value function. The first five diagrams show, for each number of cars at</a:t>
            </a:r>
            <a:r>
              <a:rPr lang="en-US" sz="1600" b="0" i="0" u="none" strike="noStrike" dirty="0" smtClean="0">
                <a:latin typeface="CMR9"/>
              </a:rPr>
              <a:t> </a:t>
            </a:r>
            <a:r>
              <a:rPr lang="en-US" sz="1600" b="0" i="0" u="none" strike="noStrike" baseline="0" dirty="0" smtClean="0">
                <a:latin typeface="CMR9"/>
              </a:rPr>
              <a:t>each location at the end of the day, the number of cars to be moved from the first location to</a:t>
            </a:r>
            <a:r>
              <a:rPr lang="en-US" sz="1600" b="0" i="0" u="none" strike="noStrike" dirty="0" smtClean="0">
                <a:latin typeface="CMR9"/>
              </a:rPr>
              <a:t> </a:t>
            </a:r>
            <a:r>
              <a:rPr lang="en-US" sz="1600" b="0" i="0" u="none" strike="noStrike" baseline="0" dirty="0" smtClean="0">
                <a:latin typeface="CMR9"/>
              </a:rPr>
              <a:t>the second (negative numbers indicate transfers from the second location to the first). Each</a:t>
            </a:r>
            <a:r>
              <a:rPr lang="en-US" sz="1600" b="0" i="0" u="none" strike="noStrike" dirty="0" smtClean="0">
                <a:latin typeface="CMR9"/>
              </a:rPr>
              <a:t> </a:t>
            </a:r>
            <a:r>
              <a:rPr lang="en-US" sz="1600" b="0" i="0" u="none" strike="noStrike" baseline="0" dirty="0" smtClean="0">
                <a:latin typeface="CMR9"/>
              </a:rPr>
              <a:t>successive policy is a strict improvement over the previous policy, and the last policy is optimal.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59237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Iteration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945" y="1796790"/>
            <a:ext cx="6721422" cy="861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44" y="2657924"/>
            <a:ext cx="8283231" cy="397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94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Asynchronous Dynamic Programming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787" y="1690688"/>
            <a:ext cx="9940096" cy="416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35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Use Asynchronous DP?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860"/>
            <a:ext cx="9031074" cy="41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2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Strategies for State Selection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182" y="1613048"/>
            <a:ext cx="10048825" cy="43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Asynchronous Value Iteration – Visualization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288" y="1550547"/>
            <a:ext cx="7882383" cy="47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9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3614"/>
            <a:ext cx="5303980" cy="40541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180" y="1588666"/>
            <a:ext cx="4465707" cy="24005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6768" y="4425012"/>
            <a:ext cx="3380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Instead of all values changing at once, you see value </a:t>
            </a:r>
            <a:r>
              <a:rPr lang="en-US" b="1" dirty="0" smtClean="0"/>
              <a:t>gradually spreading</a:t>
            </a:r>
            <a:r>
              <a:rPr lang="en-US" dirty="0" smtClean="0"/>
              <a:t> from the goal through </a:t>
            </a:r>
            <a:r>
              <a:rPr lang="en-US" b="1" dirty="0" smtClean="0"/>
              <a:t>local updates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81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349</Words>
  <Application>Microsoft Office PowerPoint</Application>
  <PresentationFormat>Widescreen</PresentationFormat>
  <Paragraphs>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Calibri</vt:lpstr>
      <vt:lpstr>Calibri Light</vt:lpstr>
      <vt:lpstr>CMBX9</vt:lpstr>
      <vt:lpstr>CMMI10</vt:lpstr>
      <vt:lpstr>CMR10</vt:lpstr>
      <vt:lpstr>CMR9</vt:lpstr>
      <vt:lpstr>CMSY10</vt:lpstr>
      <vt:lpstr>CMSY7</vt:lpstr>
      <vt:lpstr>EUSM10</vt:lpstr>
      <vt:lpstr>Office Theme</vt:lpstr>
      <vt:lpstr>Dynamic Programming</vt:lpstr>
      <vt:lpstr>Dynamic Programming</vt:lpstr>
      <vt:lpstr>Value Functions</vt:lpstr>
      <vt:lpstr>Policy Evaluation (Predictions)</vt:lpstr>
      <vt:lpstr>Policy Evaluations</vt:lpstr>
      <vt:lpstr>Iterative Policy Evaluation</vt:lpstr>
      <vt:lpstr>Example</vt:lpstr>
      <vt:lpstr>Example</vt:lpstr>
      <vt:lpstr>Policy Improvement</vt:lpstr>
      <vt:lpstr>Policy Improvement</vt:lpstr>
      <vt:lpstr>Policy Improvement</vt:lpstr>
      <vt:lpstr>Policy Iteration</vt:lpstr>
      <vt:lpstr>Example</vt:lpstr>
      <vt:lpstr>Example</vt:lpstr>
      <vt:lpstr>Value Iteration</vt:lpstr>
      <vt:lpstr>Asynchronous Dynamic Programming</vt:lpstr>
      <vt:lpstr>Why Use Asynchronous DP?</vt:lpstr>
      <vt:lpstr>Strategies for State Selection</vt:lpstr>
      <vt:lpstr>Asynchronous Value Iteration – Visualization</vt:lpstr>
      <vt:lpstr>Example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Microsoft account</dc:creator>
  <cp:lastModifiedBy>Microsoft account</cp:lastModifiedBy>
  <cp:revision>7</cp:revision>
  <dcterms:created xsi:type="dcterms:W3CDTF">2025-09-03T09:38:33Z</dcterms:created>
  <dcterms:modified xsi:type="dcterms:W3CDTF">2025-09-04T08:29:22Z</dcterms:modified>
</cp:coreProperties>
</file>