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59" r:id="rId63"/>
    <p:sldId id="323" r:id="rId64"/>
    <p:sldId id="360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77" r:id="rId106"/>
    <p:sldId id="378" r:id="rId107"/>
    <p:sldId id="379" r:id="rId108"/>
    <p:sldId id="380" r:id="rId109"/>
    <p:sldId id="371" r:id="rId110"/>
    <p:sldId id="372" r:id="rId111"/>
    <p:sldId id="373" r:id="rId112"/>
    <p:sldId id="374" r:id="rId113"/>
    <p:sldId id="375" r:id="rId114"/>
    <p:sldId id="376" r:id="rId115"/>
    <p:sldId id="381" r:id="rId11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9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8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24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18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35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17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81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01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14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56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90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041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03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35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941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25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673" y="2049335"/>
            <a:ext cx="4454652" cy="192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0310" y="1531014"/>
            <a:ext cx="8231378" cy="380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74675"/>
            <a:ext cx="55778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239" y="1279347"/>
            <a:ext cx="10383520" cy="450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8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5334" y="461899"/>
            <a:ext cx="456133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194" y="1156461"/>
            <a:ext cx="8071611" cy="200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56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02105"/>
            <a:ext cx="10139680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68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12" Type="http://schemas.openxmlformats.org/officeDocument/2006/relationships/image" Target="../media/image51.png"/><Relationship Id="rId17" Type="http://schemas.openxmlformats.org/officeDocument/2006/relationships/image" Target="../media/image55.png"/><Relationship Id="rId2" Type="http://schemas.openxmlformats.org/officeDocument/2006/relationships/image" Target="../media/image37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5" Type="http://schemas.openxmlformats.org/officeDocument/2006/relationships/image" Target="../media/image53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15.png"/><Relationship Id="rId1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4.png"/><Relationship Id="rId7" Type="http://schemas.openxmlformats.org/officeDocument/2006/relationships/image" Target="../media/image7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8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0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0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60"/>
              </a:spcBef>
            </a:pPr>
            <a:r>
              <a:rPr spc="-265" dirty="0"/>
              <a:t>Network</a:t>
            </a:r>
            <a:r>
              <a:rPr spc="-530" dirty="0"/>
              <a:t> </a:t>
            </a:r>
            <a:r>
              <a:rPr spc="-395" dirty="0"/>
              <a:t>Layer</a:t>
            </a: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2400" dirty="0">
                <a:latin typeface="Carlito"/>
                <a:cs typeface="Carlito"/>
              </a:rPr>
              <a:t>Module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lang="en-US" sz="2400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785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5" dirty="0"/>
              <a:t>Network</a:t>
            </a:r>
            <a:r>
              <a:rPr sz="4400" spc="-409" dirty="0"/>
              <a:t> </a:t>
            </a:r>
            <a:r>
              <a:rPr sz="4400" spc="-280" dirty="0"/>
              <a:t>Layer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397279"/>
            <a:ext cx="10154285" cy="490262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host-to-host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communication</a:t>
            </a:r>
            <a:r>
              <a:rPr sz="2800" spc="175" dirty="0">
                <a:solidFill>
                  <a:srgbClr val="4471C4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service.</a:t>
            </a:r>
            <a:endParaRPr sz="2800" dirty="0">
              <a:latin typeface="Carlito"/>
              <a:cs typeface="Carlito"/>
            </a:endParaRPr>
          </a:p>
          <a:p>
            <a:pPr marL="241300" marR="49720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Unlike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transport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application </a:t>
            </a:r>
            <a:r>
              <a:rPr sz="2800" spc="-25" dirty="0">
                <a:latin typeface="Carlito"/>
                <a:cs typeface="Carlito"/>
              </a:rPr>
              <a:t>layers, </a:t>
            </a:r>
            <a:r>
              <a:rPr sz="2800" spc="-15" dirty="0">
                <a:latin typeface="Carlito"/>
                <a:cs typeface="Carlito"/>
              </a:rPr>
              <a:t>there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0" dirty="0">
                <a:latin typeface="Carlito"/>
                <a:cs typeface="Carlito"/>
              </a:rPr>
              <a:t>piece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in each and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every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and </a:t>
            </a:r>
            <a:r>
              <a:rPr sz="2800" spc="-20" dirty="0">
                <a:solidFill>
                  <a:srgbClr val="4471C4"/>
                </a:solidFill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rlito"/>
                <a:cs typeface="Carlito"/>
              </a:rPr>
              <a:t>Two </a:t>
            </a:r>
            <a:r>
              <a:rPr sz="2800" spc="-10" dirty="0">
                <a:latin typeface="Carlito"/>
                <a:cs typeface="Carlito"/>
              </a:rPr>
              <a:t>important </a:t>
            </a:r>
            <a:r>
              <a:rPr sz="2800" spc="-5" dirty="0">
                <a:latin typeface="Carlito"/>
                <a:cs typeface="Carlito"/>
              </a:rPr>
              <a:t>functions 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f</a:t>
            </a:r>
            <a:r>
              <a:rPr sz="2800" b="1" spc="-10" dirty="0">
                <a:latin typeface="Carlito"/>
                <a:cs typeface="Carlito"/>
              </a:rPr>
              <a:t>orwarding</a:t>
            </a:r>
            <a:r>
              <a:rPr sz="2800" b="1" spc="1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routing.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Forwarding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20" dirty="0">
                <a:latin typeface="Carlito"/>
                <a:cs typeface="Carlito"/>
              </a:rPr>
              <a:t>packet from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incoming link </a:t>
            </a:r>
            <a:r>
              <a:rPr sz="2800" spc="-20" dirty="0">
                <a:latin typeface="Carlito"/>
                <a:cs typeface="Carlito"/>
              </a:rPr>
              <a:t>to 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outgoing link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i="1" spc="-10" dirty="0">
                <a:latin typeface="Carlito"/>
                <a:cs typeface="Carlito"/>
              </a:rPr>
              <a:t>single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26797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30" dirty="0">
                <a:latin typeface="Carlito"/>
                <a:cs typeface="Carlito"/>
              </a:rPr>
              <a:t>network’s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collective  </a:t>
            </a:r>
            <a:r>
              <a:rPr sz="2800" spc="-15" dirty="0">
                <a:latin typeface="Carlito"/>
                <a:cs typeface="Carlito"/>
              </a:rPr>
              <a:t>interactions </a:t>
            </a:r>
            <a:r>
              <a:rPr sz="2800" spc="-5" dirty="0">
                <a:latin typeface="Carlito"/>
                <a:cs typeface="Carlito"/>
              </a:rPr>
              <a:t>via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determine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paths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20" dirty="0">
                <a:latin typeface="Carlito"/>
                <a:cs typeface="Carlito"/>
              </a:rPr>
              <a:t>packets 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5" dirty="0">
                <a:latin typeface="Carlito"/>
                <a:cs typeface="Carlito"/>
              </a:rPr>
              <a:t>on their </a:t>
            </a:r>
            <a:r>
              <a:rPr sz="2800" spc="-10" dirty="0">
                <a:latin typeface="Carlito"/>
                <a:cs typeface="Carlito"/>
              </a:rPr>
              <a:t>trips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node.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9598" y="193487"/>
            <a:ext cx="9701990" cy="6321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52400"/>
            <a:ext cx="10264140" cy="56953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9436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 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to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8795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H1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H1,  encapsulates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into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a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packet),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router,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R1.</a:t>
            </a:r>
          </a:p>
          <a:p>
            <a:pPr marL="241300" marR="299720" indent="-228600" algn="just">
              <a:lnSpc>
                <a:spcPts val="281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from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R2,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up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576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truncated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(except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purposes)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3234"/>
            <a:ext cx="52844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Forwarding </a:t>
            </a:r>
            <a:r>
              <a:rPr sz="4400" spc="-200" dirty="0"/>
              <a:t>and</a:t>
            </a:r>
            <a:r>
              <a:rPr sz="4400" spc="-685" dirty="0"/>
              <a:t> </a:t>
            </a:r>
            <a:r>
              <a:rPr sz="4400" spc="-225" dirty="0"/>
              <a:t>Routing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514983"/>
            <a:ext cx="10187305" cy="47155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6413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945" indent="-30988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network-layer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link,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move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link.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 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26364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determine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62255" indent="-228600" algn="just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 algorithms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would determine,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42898"/>
            <a:ext cx="10200005" cy="249760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07251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87325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Munnar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embarking on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has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 and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 with each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connected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52652"/>
            <a:ext cx="10341610" cy="4376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router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21334" indent="-228600" algn="just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examining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 arriving </a:t>
            </a:r>
            <a:r>
              <a:rPr sz="2800" spc="-2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800"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this header value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forwarding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3195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algn="just">
              <a:lnSpc>
                <a:spcPts val="3020"/>
              </a:lnSpc>
              <a:spcBef>
                <a:spcPts val="219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link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9939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value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8423" y="48924"/>
            <a:ext cx="7781871" cy="6809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6085"/>
            <a:ext cx="10323195" cy="53981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 value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0111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5781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736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routers’ forwarding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3434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site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routers)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either case,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routing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messages, 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spc="9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8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0" dirty="0"/>
              <a:t>Connection</a:t>
            </a:r>
            <a:r>
              <a:rPr sz="4400" spc="-409" dirty="0"/>
              <a:t> </a:t>
            </a:r>
            <a:r>
              <a:rPr sz="4400" spc="-180" dirty="0"/>
              <a:t>setup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6875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3</a:t>
            </a:r>
            <a:r>
              <a:rPr sz="2775" spc="-15" baseline="25525" dirty="0"/>
              <a:t>rd </a:t>
            </a:r>
            <a:r>
              <a:rPr sz="2800" spc="-15" dirty="0"/>
              <a:t>important </a:t>
            </a:r>
            <a:r>
              <a:rPr sz="2800" spc="-5" dirty="0"/>
              <a:t>function </a:t>
            </a:r>
            <a:r>
              <a:rPr sz="2800" spc="-10" dirty="0"/>
              <a:t>in </a:t>
            </a:r>
            <a:r>
              <a:rPr sz="2800" i="1" spc="-5" dirty="0">
                <a:latin typeface="Carlito"/>
                <a:cs typeface="Carlito"/>
              </a:rPr>
              <a:t>some </a:t>
            </a:r>
            <a:r>
              <a:rPr sz="2800" spc="-15" dirty="0"/>
              <a:t>network</a:t>
            </a:r>
            <a:r>
              <a:rPr sz="2800" spc="-25" dirty="0"/>
              <a:t> </a:t>
            </a:r>
            <a:r>
              <a:rPr sz="2800" spc="-15" dirty="0"/>
              <a:t>architectures:</a:t>
            </a:r>
            <a:endParaRPr sz="28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50" dirty="0">
                <a:latin typeface="Carlito"/>
                <a:cs typeface="Carlito"/>
              </a:rPr>
              <a:t>ATM, </a:t>
            </a:r>
            <a:r>
              <a:rPr sz="2400" spc="-15" dirty="0">
                <a:latin typeface="Carlito"/>
                <a:cs typeface="Carlito"/>
              </a:rPr>
              <a:t>frame </a:t>
            </a:r>
            <a:r>
              <a:rPr sz="2400" spc="-40" dirty="0">
                <a:latin typeface="Carlito"/>
                <a:cs typeface="Carlito"/>
              </a:rPr>
              <a:t>relay,</a:t>
            </a:r>
            <a:r>
              <a:rPr sz="2400" spc="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X.25</a:t>
            </a:r>
            <a:endParaRPr sz="2400">
              <a:latin typeface="Carlito"/>
              <a:cs typeface="Carlito"/>
            </a:endParaRPr>
          </a:p>
          <a:p>
            <a:pPr marL="396875" marR="19050" indent="-228600">
              <a:lnSpc>
                <a:spcPts val="3020"/>
              </a:lnSpc>
              <a:spcBef>
                <a:spcPts val="1020"/>
              </a:spcBef>
              <a:buFont typeface="Arial"/>
              <a:buChar char="•"/>
              <a:tabLst>
                <a:tab pos="397510" algn="l"/>
              </a:tabLst>
            </a:pPr>
            <a:r>
              <a:rPr spc="-25" dirty="0"/>
              <a:t>Before </a:t>
            </a:r>
            <a:r>
              <a:rPr spc="-20" dirty="0"/>
              <a:t>datagrams </a:t>
            </a:r>
            <a:r>
              <a:rPr spc="-55" dirty="0"/>
              <a:t>flow, </a:t>
            </a:r>
            <a:r>
              <a:rPr spc="-10" dirty="0"/>
              <a:t>two </a:t>
            </a:r>
            <a:r>
              <a:rPr spc="-5" dirty="0"/>
              <a:t>end </a:t>
            </a:r>
            <a:r>
              <a:rPr spc="-10" dirty="0"/>
              <a:t>hosts </a:t>
            </a:r>
            <a:r>
              <a:rPr i="1" spc="-5" dirty="0">
                <a:latin typeface="Carlito"/>
                <a:cs typeface="Carlito"/>
              </a:rPr>
              <a:t>and </a:t>
            </a:r>
            <a:r>
              <a:rPr spc="-10" dirty="0"/>
              <a:t>intervening  </a:t>
            </a:r>
            <a:r>
              <a:rPr spc="-25" dirty="0"/>
              <a:t>routers </a:t>
            </a:r>
            <a:r>
              <a:rPr spc="-15" dirty="0"/>
              <a:t>establish </a:t>
            </a:r>
            <a:r>
              <a:rPr spc="-5" dirty="0"/>
              <a:t>virtual</a:t>
            </a:r>
            <a:r>
              <a:rPr spc="95" dirty="0"/>
              <a:t> </a:t>
            </a:r>
            <a:r>
              <a:rPr spc="-10" dirty="0"/>
              <a:t>connection</a:t>
            </a:r>
          </a:p>
          <a:p>
            <a:pPr marL="854075" lvl="1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15" dirty="0">
                <a:latin typeface="Carlito"/>
                <a:cs typeface="Carlito"/>
              </a:rPr>
              <a:t>routers get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involved</a:t>
            </a:r>
            <a:endParaRPr sz="2400">
              <a:latin typeface="Carlito"/>
              <a:cs typeface="Carlito"/>
            </a:endParaRPr>
          </a:p>
          <a:p>
            <a:pPr marL="396875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network vs transport </a:t>
            </a:r>
            <a:r>
              <a:rPr spc="-25" dirty="0"/>
              <a:t>layer </a:t>
            </a:r>
            <a:r>
              <a:rPr spc="-10" dirty="0"/>
              <a:t>connection</a:t>
            </a:r>
            <a:r>
              <a:rPr spc="130" dirty="0"/>
              <a:t> </a:t>
            </a:r>
            <a:r>
              <a:rPr spc="-5" dirty="0"/>
              <a:t>service:</a:t>
            </a:r>
          </a:p>
          <a:p>
            <a:pPr marL="854075" marR="17780" lvl="1" indent="-228600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network: </a:t>
            </a:r>
            <a:r>
              <a:rPr sz="2400" spc="-10" dirty="0">
                <a:latin typeface="Carlito"/>
                <a:cs typeface="Carlito"/>
              </a:rPr>
              <a:t>between two hosts </a:t>
            </a:r>
            <a:r>
              <a:rPr sz="2400" spc="-20" dirty="0">
                <a:latin typeface="Carlito"/>
                <a:cs typeface="Carlito"/>
              </a:rPr>
              <a:t>(may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20" dirty="0">
                <a:latin typeface="Carlito"/>
                <a:cs typeface="Carlito"/>
              </a:rPr>
              <a:t>involve </a:t>
            </a:r>
            <a:r>
              <a:rPr sz="2400" spc="-5" dirty="0">
                <a:latin typeface="Carlito"/>
                <a:cs typeface="Carlito"/>
              </a:rPr>
              <a:t>intervening 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case of</a:t>
            </a:r>
            <a:r>
              <a:rPr sz="2400" spc="-15" dirty="0">
                <a:latin typeface="Carlito"/>
                <a:cs typeface="Carlito"/>
              </a:rPr>
              <a:t> VCs)</a:t>
            </a:r>
            <a:endParaRPr sz="24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transport: </a:t>
            </a:r>
            <a:r>
              <a:rPr sz="2400" spc="-10" dirty="0">
                <a:latin typeface="Carlito"/>
                <a:cs typeface="Carlito"/>
              </a:rPr>
              <a:t>between two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90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5" dirty="0"/>
              <a:t>Network </a:t>
            </a:r>
            <a:r>
              <a:rPr sz="4400" spc="-250" dirty="0"/>
              <a:t>Service</a:t>
            </a:r>
            <a:r>
              <a:rPr sz="4400" spc="-675" dirty="0"/>
              <a:t> </a:t>
            </a:r>
            <a:r>
              <a:rPr sz="4400" spc="-80" dirty="0"/>
              <a:t>Models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03510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3716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0" dirty="0">
                <a:latin typeface="Carlito"/>
                <a:cs typeface="Carlito"/>
              </a:rPr>
              <a:t>network </a:t>
            </a:r>
            <a:r>
              <a:rPr sz="2800" b="1" spc="-5" dirty="0">
                <a:latin typeface="Carlito"/>
                <a:cs typeface="Carlito"/>
              </a:rPr>
              <a:t>service </a:t>
            </a:r>
            <a:r>
              <a:rPr sz="2800" b="1" spc="-10" dirty="0">
                <a:latin typeface="Carlito"/>
                <a:cs typeface="Carlito"/>
              </a:rPr>
              <a:t>model </a:t>
            </a:r>
            <a:r>
              <a:rPr sz="2800" spc="-15" dirty="0">
                <a:latin typeface="Carlito"/>
                <a:cs typeface="Carlito"/>
              </a:rPr>
              <a:t>defines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characteristics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end-to-end  transport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between sending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receiving </a:t>
            </a:r>
            <a:r>
              <a:rPr sz="2800" spc="-5" dirty="0">
                <a:latin typeface="Carlito"/>
                <a:cs typeface="Carlito"/>
              </a:rPr>
              <a:t>end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  <a:p>
            <a:pPr marL="241300" marR="76200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will  </a:t>
            </a:r>
            <a:r>
              <a:rPr sz="2800" spc="-10" dirty="0">
                <a:latin typeface="Carlito"/>
                <a:cs typeface="Carlito"/>
              </a:rPr>
              <a:t>eventually arrive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241300" marR="757555" indent="-228600">
              <a:lnSpc>
                <a:spcPct val="90000"/>
              </a:lnSpc>
              <a:spcBef>
                <a:spcPts val="960"/>
              </a:spcBef>
              <a:buClr>
                <a:srgbClr val="4471C4"/>
              </a:buClr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delivery with bounded </a:t>
            </a:r>
            <a:r>
              <a:rPr sz="2800" i="1" spc="-15" dirty="0">
                <a:solidFill>
                  <a:srgbClr val="4471C4"/>
                </a:solidFill>
                <a:latin typeface="Carlito"/>
                <a:cs typeface="Carlito"/>
              </a:rPr>
              <a:t>delay</a:t>
            </a:r>
            <a:r>
              <a:rPr sz="2800" spc="-15" dirty="0">
                <a:latin typeface="Carlito"/>
                <a:cs typeface="Carlito"/>
              </a:rPr>
              <a:t>. </a:t>
            </a:r>
            <a:r>
              <a:rPr sz="2800" spc="-5" dirty="0">
                <a:latin typeface="Carlito"/>
                <a:cs typeface="Carlito"/>
              </a:rPr>
              <a:t>This service </a:t>
            </a:r>
            <a:r>
              <a:rPr sz="2800" spc="-10" dirty="0">
                <a:latin typeface="Carlito"/>
                <a:cs typeface="Carlito"/>
              </a:rPr>
              <a:t>not only 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delivery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20" dirty="0">
                <a:latin typeface="Carlito"/>
                <a:cs typeface="Carlito"/>
              </a:rPr>
              <a:t>packet, </a:t>
            </a:r>
            <a:r>
              <a:rPr sz="2800" spc="-10" dirty="0">
                <a:latin typeface="Carlito"/>
                <a:cs typeface="Carlito"/>
              </a:rPr>
              <a:t>but delivery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spc="-10" dirty="0">
                <a:latin typeface="Carlito"/>
                <a:cs typeface="Carlito"/>
              </a:rPr>
              <a:t>specified  </a:t>
            </a:r>
            <a:r>
              <a:rPr sz="2800" spc="-15" dirty="0">
                <a:latin typeface="Carlito"/>
                <a:cs typeface="Carlito"/>
              </a:rPr>
              <a:t>host-to-host </a:t>
            </a:r>
            <a:r>
              <a:rPr sz="2800" spc="-20" dirty="0">
                <a:latin typeface="Carlito"/>
                <a:cs typeface="Carlito"/>
              </a:rPr>
              <a:t>delay </a:t>
            </a:r>
            <a:r>
              <a:rPr sz="2800" spc="-10" dirty="0">
                <a:latin typeface="Carlito"/>
                <a:cs typeface="Carlito"/>
              </a:rPr>
              <a:t>bound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within 100</a:t>
            </a:r>
            <a:r>
              <a:rPr sz="2800" spc="2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msec).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In-order </a:t>
            </a:r>
            <a:r>
              <a:rPr sz="2800" i="1" spc="-25" dirty="0">
                <a:solidFill>
                  <a:srgbClr val="4471C4"/>
                </a:solidFill>
                <a:latin typeface="Carlito"/>
                <a:cs typeface="Carlito"/>
              </a:rPr>
              <a:t>packet 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20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arrive </a:t>
            </a:r>
            <a:r>
              <a:rPr sz="2800" spc="-15" dirty="0">
                <a:latin typeface="Carlito"/>
                <a:cs typeface="Carlito"/>
              </a:rPr>
              <a:t>at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order </a:t>
            </a:r>
            <a:r>
              <a:rPr sz="2800" spc="-10" dirty="0">
                <a:latin typeface="Carlito"/>
                <a:cs typeface="Carlito"/>
              </a:rPr>
              <a:t>that they </a:t>
            </a:r>
            <a:r>
              <a:rPr sz="2800" spc="-20" dirty="0">
                <a:latin typeface="Carlito"/>
                <a:cs typeface="Carlito"/>
              </a:rPr>
              <a:t>were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sent.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32308"/>
            <a:ext cx="10280015" cy="54432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minimal 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bandwidth </a:t>
            </a:r>
            <a:r>
              <a:rPr sz="2800" spc="-5" dirty="0">
                <a:latin typeface="Carlito"/>
                <a:cs typeface="Carlito"/>
              </a:rPr>
              <a:t>As long as the </a:t>
            </a:r>
            <a:r>
              <a:rPr sz="2800" spc="-10" dirty="0">
                <a:latin typeface="Carlito"/>
                <a:cs typeface="Carlito"/>
              </a:rPr>
              <a:t>sending </a:t>
            </a:r>
            <a:r>
              <a:rPr sz="2800" spc="-15" dirty="0">
                <a:latin typeface="Carlito"/>
                <a:cs typeface="Carlito"/>
              </a:rPr>
              <a:t>host transmits  </a:t>
            </a:r>
            <a:r>
              <a:rPr sz="2800" spc="-10" dirty="0">
                <a:latin typeface="Carlito"/>
                <a:cs typeface="Carlito"/>
              </a:rPr>
              <a:t>bits </a:t>
            </a:r>
            <a:r>
              <a:rPr sz="2800" dirty="0">
                <a:latin typeface="Carlito"/>
                <a:cs typeface="Carlito"/>
              </a:rPr>
              <a:t>(as </a:t>
            </a:r>
            <a:r>
              <a:rPr sz="2800" spc="-5" dirty="0">
                <a:latin typeface="Carlito"/>
                <a:cs typeface="Carlito"/>
              </a:rPr>
              <a:t>part of </a:t>
            </a:r>
            <a:r>
              <a:rPr sz="2800" spc="-15" dirty="0">
                <a:latin typeface="Carlito"/>
                <a:cs typeface="Carlito"/>
              </a:rPr>
              <a:t>packets) </a:t>
            </a:r>
            <a:r>
              <a:rPr sz="2800" spc="-10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35" dirty="0">
                <a:latin typeface="Carlito"/>
                <a:cs typeface="Carlito"/>
              </a:rPr>
              <a:t>rate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specified bit </a:t>
            </a:r>
            <a:r>
              <a:rPr sz="2800" spc="-25" dirty="0">
                <a:latin typeface="Carlito"/>
                <a:cs typeface="Carlito"/>
              </a:rPr>
              <a:t>rate, </a:t>
            </a:r>
            <a:r>
              <a:rPr sz="2800" spc="-5" dirty="0">
                <a:latin typeface="Carlito"/>
                <a:cs typeface="Carlito"/>
              </a:rPr>
              <a:t>then </a:t>
            </a:r>
            <a:r>
              <a:rPr sz="2800" spc="-10" dirty="0">
                <a:latin typeface="Carlito"/>
                <a:cs typeface="Carlito"/>
              </a:rPr>
              <a:t>no 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lost </a:t>
            </a:r>
            <a:r>
              <a:rPr sz="2800" spc="-5" dirty="0">
                <a:latin typeface="Carlito"/>
                <a:cs typeface="Carlito"/>
              </a:rPr>
              <a:t>and each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arrives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spc="-10" dirty="0">
                <a:latin typeface="Carlito"/>
                <a:cs typeface="Carlito"/>
              </a:rPr>
              <a:t>prespecified </a:t>
            </a:r>
            <a:r>
              <a:rPr sz="2800" spc="-15" dirty="0">
                <a:latin typeface="Carlito"/>
                <a:cs typeface="Carlito"/>
              </a:rPr>
              <a:t>host-to-  host delay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within 40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msec).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471C4"/>
              </a:buClr>
              <a:buFont typeface="Arial"/>
              <a:buChar char="•"/>
            </a:pPr>
            <a:endParaRPr sz="4100">
              <a:latin typeface="Carlito"/>
              <a:cs typeface="Carlito"/>
            </a:endParaRPr>
          </a:p>
          <a:p>
            <a:pPr marL="241300" marR="51435" indent="-2286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maximum </a:t>
            </a:r>
            <a:r>
              <a:rPr sz="2800" i="1" spc="-20" dirty="0">
                <a:solidFill>
                  <a:srgbClr val="4471C4"/>
                </a:solidFill>
                <a:latin typeface="Carlito"/>
                <a:cs typeface="Carlito"/>
              </a:rPr>
              <a:t>jitter</a:t>
            </a:r>
            <a:r>
              <a:rPr sz="2800" spc="-20" dirty="0"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amount  </a:t>
            </a:r>
            <a:r>
              <a:rPr sz="2800" spc="-5" dirty="0">
                <a:latin typeface="Carlito"/>
                <a:cs typeface="Carlito"/>
              </a:rPr>
              <a:t>of time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transmission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two successive </a:t>
            </a:r>
            <a:r>
              <a:rPr sz="2800" spc="-20" dirty="0">
                <a:latin typeface="Carlito"/>
                <a:cs typeface="Carlito"/>
              </a:rPr>
              <a:t>packets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sender is equal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amount </a:t>
            </a:r>
            <a:r>
              <a:rPr sz="2800" spc="-5" dirty="0">
                <a:latin typeface="Carlito"/>
                <a:cs typeface="Carlito"/>
              </a:rPr>
              <a:t>of time </a:t>
            </a:r>
            <a:r>
              <a:rPr sz="2800" spc="-10" dirty="0">
                <a:latin typeface="Carlito"/>
                <a:cs typeface="Carlito"/>
              </a:rPr>
              <a:t>between their </a:t>
            </a:r>
            <a:r>
              <a:rPr sz="2800" spc="-15" dirty="0">
                <a:latin typeface="Carlito"/>
                <a:cs typeface="Carlito"/>
              </a:rPr>
              <a:t>receipt 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241300" marR="32893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Security services</a:t>
            </a:r>
            <a:r>
              <a:rPr sz="2800" spc="-5" dirty="0">
                <a:latin typeface="Carlito"/>
                <a:cs typeface="Carlito"/>
              </a:rPr>
              <a:t>. Using a </a:t>
            </a:r>
            <a:r>
              <a:rPr sz="2800" spc="-15" dirty="0">
                <a:latin typeface="Carlito"/>
                <a:cs typeface="Carlito"/>
              </a:rPr>
              <a:t>secret </a:t>
            </a:r>
            <a:r>
              <a:rPr sz="2800" spc="-10" dirty="0">
                <a:latin typeface="Carlito"/>
                <a:cs typeface="Carlito"/>
              </a:rPr>
              <a:t>session </a:t>
            </a:r>
            <a:r>
              <a:rPr sz="2800" spc="-35" dirty="0">
                <a:latin typeface="Carlito"/>
                <a:cs typeface="Carlito"/>
              </a:rPr>
              <a:t>key </a:t>
            </a:r>
            <a:r>
              <a:rPr sz="2800" spc="-10" dirty="0">
                <a:latin typeface="Carlito"/>
                <a:cs typeface="Carlito"/>
              </a:rPr>
              <a:t>known only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source 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15" dirty="0">
                <a:latin typeface="Carlito"/>
                <a:cs typeface="Carlito"/>
              </a:rPr>
              <a:t>host,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could  </a:t>
            </a:r>
            <a:r>
              <a:rPr sz="2800" spc="-5" dirty="0">
                <a:latin typeface="Carlito"/>
                <a:cs typeface="Carlito"/>
              </a:rPr>
              <a:t>encrypt the </a:t>
            </a:r>
            <a:r>
              <a:rPr sz="2800" spc="-15" dirty="0">
                <a:latin typeface="Carlito"/>
                <a:cs typeface="Carlito"/>
              </a:rPr>
              <a:t>payloads </a:t>
            </a:r>
            <a:r>
              <a:rPr sz="2800" spc="-5" dirty="0">
                <a:latin typeface="Carlito"/>
                <a:cs typeface="Carlito"/>
              </a:rPr>
              <a:t>of all </a:t>
            </a:r>
            <a:r>
              <a:rPr sz="2800" spc="-20" dirty="0">
                <a:latin typeface="Carlito"/>
                <a:cs typeface="Carlito"/>
              </a:rPr>
              <a:t>datagrams </a:t>
            </a:r>
            <a:r>
              <a:rPr sz="2800" spc="-10" dirty="0">
                <a:latin typeface="Carlito"/>
                <a:cs typeface="Carlito"/>
              </a:rPr>
              <a:t>being </a:t>
            </a:r>
            <a:r>
              <a:rPr sz="2800" spc="-15" dirty="0">
                <a:latin typeface="Carlito"/>
                <a:cs typeface="Carlito"/>
              </a:rPr>
              <a:t>sent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destination  host.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3" y="1357889"/>
            <a:ext cx="11579878" cy="3931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71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60" dirty="0"/>
              <a:t>Virtual </a:t>
            </a:r>
            <a:r>
              <a:rPr sz="4400" spc="-290" dirty="0"/>
              <a:t>Circuit </a:t>
            </a:r>
            <a:r>
              <a:rPr sz="4400" spc="-195" dirty="0"/>
              <a:t>and </a:t>
            </a:r>
            <a:r>
              <a:rPr sz="4400" spc="-250" dirty="0"/>
              <a:t>Datagram</a:t>
            </a:r>
            <a:r>
              <a:rPr sz="4400" spc="-969" dirty="0"/>
              <a:t> </a:t>
            </a:r>
            <a:r>
              <a:rPr sz="4400" spc="-215" dirty="0"/>
              <a:t>Networks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253345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48309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Network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10" dirty="0">
                <a:latin typeface="Carlito"/>
                <a:cs typeface="Carlito"/>
              </a:rPr>
              <a:t>can provide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or connection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two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hosts.</a:t>
            </a:r>
            <a:endParaRPr sz="2600">
              <a:latin typeface="Carlito"/>
              <a:cs typeface="Carlito"/>
            </a:endParaRPr>
          </a:p>
          <a:p>
            <a:pPr marL="241300" marR="4254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network-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handshaking 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hosts; </a:t>
            </a:r>
            <a:r>
              <a:rPr sz="2600" dirty="0">
                <a:latin typeface="Carlito"/>
                <a:cs typeface="Carlito"/>
              </a:rPr>
              <a:t>and a </a:t>
            </a:r>
            <a:r>
              <a:rPr sz="2600" spc="-10" dirty="0">
                <a:latin typeface="Carlito"/>
                <a:cs typeface="Carlito"/>
              </a:rPr>
              <a:t>network-layer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does not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handshaking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preliminaries.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There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dirty="0">
                <a:latin typeface="Carlito"/>
                <a:cs typeface="Carlito"/>
              </a:rPr>
              <a:t>crucial </a:t>
            </a:r>
            <a:r>
              <a:rPr sz="2600" spc="-15" dirty="0">
                <a:latin typeface="Carlito"/>
                <a:cs typeface="Carlito"/>
              </a:rPr>
              <a:t>differences </a:t>
            </a:r>
            <a:r>
              <a:rPr sz="2600" spc="-10" dirty="0">
                <a:latin typeface="Carlito"/>
                <a:cs typeface="Carlito"/>
              </a:rPr>
              <a:t>from transport-layer </a:t>
            </a:r>
            <a:r>
              <a:rPr sz="2600" spc="-5" dirty="0">
                <a:latin typeface="Carlito"/>
                <a:cs typeface="Carlito"/>
              </a:rPr>
              <a:t>connection-oriented </a:t>
            </a:r>
            <a:r>
              <a:rPr sz="2600" dirty="0">
                <a:latin typeface="Carlito"/>
                <a:cs typeface="Carlito"/>
              </a:rPr>
              <a:t>and  </a:t>
            </a:r>
            <a:r>
              <a:rPr sz="2600" spc="-5" dirty="0">
                <a:latin typeface="Carlito"/>
                <a:cs typeface="Carlito"/>
              </a:rPr>
              <a:t>connectionless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services:</a:t>
            </a:r>
            <a:endParaRPr sz="2600">
              <a:latin typeface="Carlito"/>
              <a:cs typeface="Carlito"/>
            </a:endParaRPr>
          </a:p>
          <a:p>
            <a:pPr marL="241300" marR="49403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5" dirty="0">
                <a:latin typeface="Carlito"/>
                <a:cs typeface="Carlito"/>
              </a:rPr>
              <a:t>layer,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host-to-host </a:t>
            </a:r>
            <a:r>
              <a:rPr sz="2600" dirty="0">
                <a:latin typeface="Carlito"/>
                <a:cs typeface="Carlito"/>
              </a:rPr>
              <a:t>services. </a:t>
            </a:r>
            <a:r>
              <a:rPr sz="2600" spc="-5" dirty="0">
                <a:latin typeface="Carlito"/>
                <a:cs typeface="Carlito"/>
              </a:rPr>
              <a:t>transport 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process to- process</a:t>
            </a:r>
            <a:r>
              <a:rPr sz="2600" spc="-1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services.</a:t>
            </a:r>
            <a:endParaRPr sz="2600">
              <a:latin typeface="Carlito"/>
              <a:cs typeface="Carlito"/>
            </a:endParaRPr>
          </a:p>
          <a:p>
            <a:pPr marL="241300" marR="512445" indent="-228600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Computer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" dirty="0">
                <a:latin typeface="Carlito"/>
                <a:cs typeface="Carlito"/>
              </a:rPr>
              <a:t>architectures does not </a:t>
            </a:r>
            <a:r>
              <a:rPr sz="2600" spc="-10" dirty="0">
                <a:latin typeface="Carlito"/>
                <a:cs typeface="Carlito"/>
              </a:rPr>
              <a:t>provide </a:t>
            </a:r>
            <a:r>
              <a:rPr sz="2600" spc="-5" dirty="0">
                <a:latin typeface="Carlito"/>
                <a:cs typeface="Carlito"/>
              </a:rPr>
              <a:t>both connectionless  </a:t>
            </a:r>
            <a:r>
              <a:rPr sz="2600" dirty="0">
                <a:latin typeface="Carlito"/>
                <a:cs typeface="Carlito"/>
              </a:rPr>
              <a:t>service or a </a:t>
            </a:r>
            <a:r>
              <a:rPr sz="2600" spc="-10" dirty="0">
                <a:latin typeface="Carlito"/>
                <a:cs typeface="Carlito"/>
              </a:rPr>
              <a:t>host-to-host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1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same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64540"/>
            <a:ext cx="1021715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86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Computer </a:t>
            </a:r>
            <a:r>
              <a:rPr sz="2800" spc="-15" dirty="0">
                <a:latin typeface="Carlito"/>
                <a:cs typeface="Carlito"/>
              </a:rPr>
              <a:t>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10" dirty="0">
                <a:latin typeface="Carlito"/>
                <a:cs typeface="Carlito"/>
              </a:rPr>
              <a:t>virtual-circuit </a:t>
            </a:r>
            <a:r>
              <a:rPr sz="2800" spc="-20" dirty="0">
                <a:latin typeface="Carlito"/>
                <a:cs typeface="Carlito"/>
              </a:rPr>
              <a:t>(</a:t>
            </a:r>
            <a:r>
              <a:rPr sz="2800" b="1" spc="-20" dirty="0">
                <a:latin typeface="Carlito"/>
                <a:cs typeface="Carlito"/>
              </a:rPr>
              <a:t>VC</a:t>
            </a:r>
            <a:r>
              <a:rPr sz="2800" spc="-20" dirty="0">
                <a:latin typeface="Carlito"/>
                <a:cs typeface="Carlito"/>
              </a:rPr>
              <a:t>)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;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computer 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connectionless 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20" dirty="0">
                <a:latin typeface="Carlito"/>
                <a:cs typeface="Carlito"/>
              </a:rPr>
              <a:t>datagram</a:t>
            </a:r>
            <a:r>
              <a:rPr sz="2800" b="1" spc="6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100">
              <a:latin typeface="Carlito"/>
              <a:cs typeface="Carlito"/>
            </a:endParaRPr>
          </a:p>
          <a:p>
            <a:pPr marL="241300" marR="202565" indent="-228600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is </a:t>
            </a:r>
            <a:r>
              <a:rPr sz="2800" spc="-10" dirty="0">
                <a:latin typeface="Carlito"/>
                <a:cs typeface="Carlito"/>
              </a:rPr>
              <a:t>implemented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routers 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core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as in the end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142" y="318338"/>
            <a:ext cx="3235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</a:t>
            </a:r>
            <a:r>
              <a:rPr sz="4400" spc="-400" dirty="0"/>
              <a:t> </a:t>
            </a:r>
            <a:r>
              <a:rPr sz="4400" spc="-245" dirty="0"/>
              <a:t>circuits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0694" y="1720037"/>
            <a:ext cx="8035925" cy="39065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698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  <a:tab pos="926465" algn="l"/>
                <a:tab pos="1987550" algn="l"/>
                <a:tab pos="3547110" algn="l"/>
                <a:tab pos="4123054" algn="l"/>
                <a:tab pos="4972050" algn="l"/>
                <a:tab pos="5616575" algn="l"/>
                <a:tab pos="6712584" algn="l"/>
                <a:tab pos="7515859" algn="l"/>
              </a:tabLst>
            </a:pPr>
            <a:r>
              <a:rPr sz="2800" spc="-10" dirty="0">
                <a:latin typeface="Carlito"/>
                <a:cs typeface="Carlito"/>
              </a:rPr>
              <a:t>Cal</a:t>
            </a:r>
            <a:r>
              <a:rPr sz="2800" spc="-5" dirty="0">
                <a:latin typeface="Carlito"/>
                <a:cs typeface="Carlito"/>
              </a:rPr>
              <a:t>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s</a:t>
            </a:r>
            <a:r>
              <a:rPr sz="2800" spc="-2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tu</a:t>
            </a:r>
            <a:r>
              <a:rPr sz="2800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,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35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ea</a:t>
            </a:r>
            <a:r>
              <a:rPr sz="2800" spc="-45" dirty="0">
                <a:latin typeface="Carlito"/>
                <a:cs typeface="Carlito"/>
              </a:rPr>
              <a:t>r</a:t>
            </a:r>
            <a:r>
              <a:rPr sz="2800" spc="-10" dirty="0">
                <a:latin typeface="Carlito"/>
                <a:cs typeface="Carlito"/>
              </a:rPr>
              <a:t>d</a:t>
            </a:r>
            <a:r>
              <a:rPr sz="2800" spc="-25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wn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70" dirty="0">
                <a:latin typeface="Carlito"/>
                <a:cs typeface="Carlito"/>
              </a:rPr>
              <a:t>f</a:t>
            </a:r>
            <a:r>
              <a:rPr sz="2800" spc="-10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5" dirty="0">
                <a:latin typeface="Carlito"/>
                <a:cs typeface="Carlito"/>
              </a:rPr>
              <a:t>each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all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i="1" spc="-10" dirty="0">
                <a:latin typeface="Carlito"/>
                <a:cs typeface="Carlito"/>
              </a:rPr>
              <a:t>be</a:t>
            </a:r>
            <a:r>
              <a:rPr sz="2800" i="1" spc="-40" dirty="0">
                <a:latin typeface="Carlito"/>
                <a:cs typeface="Carlito"/>
              </a:rPr>
              <a:t>f</a:t>
            </a:r>
            <a:r>
              <a:rPr sz="2800" i="1" spc="-10" dirty="0">
                <a:latin typeface="Carlito"/>
                <a:cs typeface="Carlito"/>
              </a:rPr>
              <a:t>or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i="1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d</a:t>
            </a:r>
            <a:r>
              <a:rPr sz="2800" spc="-35" dirty="0">
                <a:latin typeface="Carlito"/>
                <a:cs typeface="Carlito"/>
              </a:rPr>
              <a:t>a</a:t>
            </a:r>
            <a:r>
              <a:rPr sz="2800" spc="-45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an  </a:t>
            </a:r>
            <a:r>
              <a:rPr sz="2800" spc="-10" dirty="0">
                <a:latin typeface="Carlito"/>
                <a:cs typeface="Carlito"/>
              </a:rPr>
              <a:t>flow</a:t>
            </a:r>
            <a:endParaRPr sz="2800" dirty="0">
              <a:latin typeface="Carlito"/>
              <a:cs typeface="Carlito"/>
            </a:endParaRPr>
          </a:p>
          <a:p>
            <a:pPr marL="241300" marR="889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identifier (not destination </a:t>
            </a:r>
            <a:r>
              <a:rPr sz="2800" spc="-15" dirty="0">
                <a:latin typeface="Carlito"/>
                <a:cs typeface="Carlito"/>
              </a:rPr>
              <a:t>host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22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  <a:tab pos="1207135" algn="l"/>
                <a:tab pos="2306320" algn="l"/>
                <a:tab pos="2870200" algn="l"/>
                <a:tab pos="5756910" algn="l"/>
                <a:tab pos="6605905" algn="l"/>
              </a:tabLst>
            </a:pPr>
            <a:r>
              <a:rPr sz="2800" i="1" spc="-15" dirty="0">
                <a:latin typeface="Carlito"/>
                <a:cs typeface="Carlito"/>
              </a:rPr>
              <a:t>Every	</a:t>
            </a:r>
            <a:r>
              <a:rPr sz="2800" spc="-20" dirty="0">
                <a:latin typeface="Carlito"/>
                <a:cs typeface="Carlito"/>
              </a:rPr>
              <a:t>router	</a:t>
            </a:r>
            <a:r>
              <a:rPr sz="2800" spc="-5" dirty="0">
                <a:latin typeface="Carlito"/>
                <a:cs typeface="Carlito"/>
              </a:rPr>
              <a:t>on	</a:t>
            </a:r>
            <a:r>
              <a:rPr sz="2800" spc="-10" dirty="0">
                <a:latin typeface="Carlito"/>
                <a:cs typeface="Carlito"/>
              </a:rPr>
              <a:t>source-destination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path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maintains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425" dirty="0">
                <a:latin typeface="AoyagiKouzanFontT"/>
                <a:cs typeface="AoyagiKouzanFontT"/>
              </a:rPr>
              <a:t>“</a:t>
            </a:r>
            <a:r>
              <a:rPr sz="2800" spc="-425" dirty="0">
                <a:latin typeface="Carlito"/>
                <a:cs typeface="Carlito"/>
              </a:rPr>
              <a:t>state</a:t>
            </a:r>
            <a:r>
              <a:rPr sz="2800" spc="-425" dirty="0">
                <a:latin typeface="AoyagiKouzanFontT"/>
                <a:cs typeface="AoyagiKouzanFontT"/>
              </a:rPr>
              <a:t>”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passing</a:t>
            </a:r>
            <a:r>
              <a:rPr sz="2800" spc="-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link,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15" dirty="0">
                <a:latin typeface="Carlito"/>
                <a:cs typeface="Carlito"/>
              </a:rPr>
              <a:t>resources </a:t>
            </a:r>
            <a:r>
              <a:rPr sz="2800" spc="-5" dirty="0">
                <a:latin typeface="Carlito"/>
                <a:cs typeface="Carlito"/>
              </a:rPr>
              <a:t>(bandwidth, </a:t>
            </a:r>
            <a:r>
              <a:rPr sz="2800" spc="-25" dirty="0">
                <a:latin typeface="Carlito"/>
                <a:cs typeface="Carlito"/>
              </a:rPr>
              <a:t>buffers) </a:t>
            </a:r>
            <a:r>
              <a:rPr sz="2800" spc="-20" dirty="0">
                <a:latin typeface="Carlito"/>
                <a:cs typeface="Carlito"/>
              </a:rPr>
              <a:t>may </a:t>
            </a:r>
            <a:r>
              <a:rPr sz="2800" dirty="0">
                <a:latin typeface="Carlito"/>
                <a:cs typeface="Carlito"/>
              </a:rPr>
              <a:t>be  </a:t>
            </a:r>
            <a:r>
              <a:rPr sz="2800" i="1" spc="-10" dirty="0">
                <a:latin typeface="Carlito"/>
                <a:cs typeface="Carlito"/>
              </a:rPr>
              <a:t>allocated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5" dirty="0">
                <a:latin typeface="Carlito"/>
                <a:cs typeface="Carlito"/>
              </a:rPr>
              <a:t>(dedicated resources </a:t>
            </a:r>
            <a:r>
              <a:rPr sz="2800" spc="-5" dirty="0">
                <a:latin typeface="Carlito"/>
                <a:cs typeface="Carlito"/>
              </a:rPr>
              <a:t>= </a:t>
            </a:r>
            <a:r>
              <a:rPr sz="2800" spc="-10" dirty="0">
                <a:latin typeface="Carlito"/>
                <a:cs typeface="Carlito"/>
              </a:rPr>
              <a:t>predictable  </a:t>
            </a:r>
            <a:r>
              <a:rPr sz="2800" spc="-5" dirty="0">
                <a:latin typeface="Carlito"/>
                <a:cs typeface="Carlito"/>
              </a:rPr>
              <a:t>service)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990600"/>
            <a:ext cx="3656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40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/>
              <a:t>VC</a:t>
            </a:r>
            <a:r>
              <a:rPr sz="4400" spc="-360" dirty="0"/>
              <a:t> </a:t>
            </a:r>
            <a:r>
              <a:rPr sz="4400" spc="-229" dirty="0"/>
              <a:t>implementation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57274"/>
            <a:ext cx="9125585" cy="34702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i="1" spc="-5" dirty="0">
                <a:solidFill>
                  <a:srgbClr val="CC0000"/>
                </a:solidFill>
                <a:latin typeface="Carlito"/>
                <a:cs typeface="Carlito"/>
              </a:rPr>
              <a:t>A </a:t>
            </a:r>
            <a:r>
              <a:rPr sz="28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consists</a:t>
            </a:r>
            <a:r>
              <a:rPr sz="2800" i="1" spc="30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of:</a:t>
            </a:r>
            <a:endParaRPr sz="28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path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source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destination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numbers</a:t>
            </a:r>
            <a:r>
              <a:rPr sz="2400" dirty="0">
                <a:latin typeface="Carlito"/>
                <a:cs typeface="Carlito"/>
              </a:rPr>
              <a:t>, </a:t>
            </a:r>
            <a:r>
              <a:rPr sz="2400" spc="-5" dirty="0">
                <a:latin typeface="Carlito"/>
                <a:cs typeface="Carlito"/>
              </a:rPr>
              <a:t>one 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link along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entries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in </a:t>
            </a: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forwarding </a:t>
            </a:r>
            <a:r>
              <a:rPr sz="2400" i="1" spc="-10" dirty="0">
                <a:solidFill>
                  <a:srgbClr val="CC0000"/>
                </a:solidFill>
                <a:latin typeface="Carlito"/>
                <a:cs typeface="Carlito"/>
              </a:rPr>
              <a:t>tables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along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546100" marR="5080" indent="-534035">
              <a:lnSpc>
                <a:spcPts val="3020"/>
              </a:lnSpc>
              <a:spcBef>
                <a:spcPts val="103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belonging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15" dirty="0">
                <a:latin typeface="Carlito"/>
                <a:cs typeface="Carlito"/>
              </a:rPr>
              <a:t>(rather </a:t>
            </a:r>
            <a:r>
              <a:rPr sz="2800" spc="-5" dirty="0">
                <a:latin typeface="Carlito"/>
                <a:cs typeface="Carlito"/>
              </a:rPr>
              <a:t>than </a:t>
            </a:r>
            <a:r>
              <a:rPr sz="2800" spc="-15" dirty="0">
                <a:latin typeface="Carlito"/>
                <a:cs typeface="Carlito"/>
              </a:rPr>
              <a:t>dest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>
              <a:latin typeface="Carlito"/>
              <a:cs typeface="Carlito"/>
            </a:endParaRPr>
          </a:p>
          <a:p>
            <a:pPr marL="546100" indent="-53403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can </a:t>
            </a:r>
            <a:r>
              <a:rPr sz="2800" spc="-5" dirty="0">
                <a:latin typeface="Carlito"/>
                <a:cs typeface="Carlito"/>
              </a:rPr>
              <a:t>be changed on each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927100" lvl="1" indent="-457834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spc="-20" dirty="0">
                <a:latin typeface="Carlito"/>
                <a:cs typeface="Carlito"/>
              </a:rPr>
              <a:t>VC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spc="-10" dirty="0">
                <a:latin typeface="Carlito"/>
                <a:cs typeface="Carlito"/>
              </a:rPr>
              <a:t>comes </a:t>
            </a:r>
            <a:r>
              <a:rPr sz="2400" spc="-15" dirty="0">
                <a:latin typeface="Carlito"/>
                <a:cs typeface="Carlito"/>
              </a:rPr>
              <a:t>from forwarding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817" y="296926"/>
            <a:ext cx="4455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VC </a:t>
            </a:r>
            <a:r>
              <a:rPr sz="4400" spc="-215" dirty="0"/>
              <a:t>forwarding</a:t>
            </a:r>
            <a:r>
              <a:rPr sz="4400" spc="-505" dirty="0"/>
              <a:t> </a:t>
            </a:r>
            <a:r>
              <a:rPr sz="4400" spc="-265" dirty="0"/>
              <a:t>table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4-18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3237" y="1266542"/>
            <a:ext cx="3126105" cy="1438910"/>
            <a:chOff x="6853237" y="1266542"/>
            <a:chExt cx="3126105" cy="1438910"/>
          </a:xfrm>
        </p:grpSpPr>
        <p:sp>
          <p:nvSpPr>
            <p:cNvPr id="6" name="object 6"/>
            <p:cNvSpPr/>
            <p:nvPr/>
          </p:nvSpPr>
          <p:spPr>
            <a:xfrm>
              <a:off x="7024416" y="1266542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6"/>
                  </a:lnTo>
                  <a:lnTo>
                    <a:pt x="19076" y="895347"/>
                  </a:lnTo>
                  <a:lnTo>
                    <a:pt x="32606" y="948286"/>
                  </a:lnTo>
                  <a:lnTo>
                    <a:pt x="49289" y="999591"/>
                  </a:lnTo>
                  <a:lnTo>
                    <a:pt x="68707" y="1048921"/>
                  </a:lnTo>
                  <a:lnTo>
                    <a:pt x="90440" y="1095934"/>
                  </a:lnTo>
                  <a:lnTo>
                    <a:pt x="114069" y="1140286"/>
                  </a:lnTo>
                  <a:lnTo>
                    <a:pt x="139174" y="1181636"/>
                  </a:lnTo>
                  <a:lnTo>
                    <a:pt x="165337" y="1219642"/>
                  </a:lnTo>
                  <a:lnTo>
                    <a:pt x="192136" y="1253962"/>
                  </a:lnTo>
                  <a:lnTo>
                    <a:pt x="219155" y="1284252"/>
                  </a:lnTo>
                  <a:lnTo>
                    <a:pt x="256275" y="1317421"/>
                  </a:lnTo>
                  <a:lnTo>
                    <a:pt x="295757" y="1342642"/>
                  </a:lnTo>
                  <a:lnTo>
                    <a:pt x="337735" y="1361261"/>
                  </a:lnTo>
                  <a:lnTo>
                    <a:pt x="382340" y="1374625"/>
                  </a:lnTo>
                  <a:lnTo>
                    <a:pt x="429706" y="1384079"/>
                  </a:lnTo>
                  <a:lnTo>
                    <a:pt x="479966" y="1390970"/>
                  </a:lnTo>
                  <a:lnTo>
                    <a:pt x="589695" y="1402448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1"/>
                  </a:lnTo>
                  <a:lnTo>
                    <a:pt x="1635686" y="1436648"/>
                  </a:lnTo>
                  <a:lnTo>
                    <a:pt x="1747417" y="1434745"/>
                  </a:lnTo>
                  <a:lnTo>
                    <a:pt x="1802947" y="1433410"/>
                  </a:lnTo>
                  <a:lnTo>
                    <a:pt x="1857687" y="1431781"/>
                  </a:lnTo>
                  <a:lnTo>
                    <a:pt x="1911212" y="1429830"/>
                  </a:lnTo>
                  <a:lnTo>
                    <a:pt x="1963099" y="1427527"/>
                  </a:lnTo>
                  <a:lnTo>
                    <a:pt x="2012922" y="1424844"/>
                  </a:lnTo>
                  <a:lnTo>
                    <a:pt x="2060256" y="1421751"/>
                  </a:lnTo>
                  <a:lnTo>
                    <a:pt x="2104678" y="1418220"/>
                  </a:lnTo>
                  <a:lnTo>
                    <a:pt x="2145761" y="1414222"/>
                  </a:lnTo>
                  <a:lnTo>
                    <a:pt x="2183083" y="1409728"/>
                  </a:lnTo>
                  <a:lnTo>
                    <a:pt x="2244634" y="1403571"/>
                  </a:lnTo>
                  <a:lnTo>
                    <a:pt x="2296849" y="1401380"/>
                  </a:lnTo>
                  <a:lnTo>
                    <a:pt x="2341216" y="1400528"/>
                  </a:lnTo>
                  <a:lnTo>
                    <a:pt x="2379228" y="1398387"/>
                  </a:lnTo>
                  <a:lnTo>
                    <a:pt x="2442144" y="1379728"/>
                  </a:lnTo>
                  <a:lnTo>
                    <a:pt x="2497521" y="1324380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1700783"/>
              <a:ext cx="3116580" cy="645160"/>
            </a:xfrm>
            <a:custGeom>
              <a:avLst/>
              <a:gdLst/>
              <a:ahLst/>
              <a:cxnLst/>
              <a:rect l="l" t="t" r="r" b="b"/>
              <a:pathLst>
                <a:path w="3116579" h="645160">
                  <a:moveTo>
                    <a:pt x="798576" y="128015"/>
                  </a:moveTo>
                  <a:lnTo>
                    <a:pt x="798576" y="490727"/>
                  </a:lnTo>
                </a:path>
                <a:path w="3116579" h="645160">
                  <a:moveTo>
                    <a:pt x="1094231" y="0"/>
                  </a:moveTo>
                  <a:lnTo>
                    <a:pt x="1892807" y="0"/>
                  </a:lnTo>
                </a:path>
                <a:path w="3116579" h="645160">
                  <a:moveTo>
                    <a:pt x="1030224" y="630936"/>
                  </a:moveTo>
                  <a:lnTo>
                    <a:pt x="1854707" y="630936"/>
                  </a:lnTo>
                </a:path>
                <a:path w="3116579" h="645160">
                  <a:moveTo>
                    <a:pt x="2110740" y="115824"/>
                  </a:moveTo>
                  <a:lnTo>
                    <a:pt x="2110740" y="490727"/>
                  </a:lnTo>
                </a:path>
                <a:path w="3116579" h="645160">
                  <a:moveTo>
                    <a:pt x="0" y="12191"/>
                  </a:moveTo>
                  <a:lnTo>
                    <a:pt x="554735" y="12191"/>
                  </a:lnTo>
                </a:path>
                <a:path w="3116579" h="645160">
                  <a:moveTo>
                    <a:pt x="2369820" y="12191"/>
                  </a:moveTo>
                  <a:lnTo>
                    <a:pt x="3116579" y="12191"/>
                  </a:lnTo>
                </a:path>
                <a:path w="3116579" h="645160">
                  <a:moveTo>
                    <a:pt x="2318004" y="630936"/>
                  </a:moveTo>
                  <a:lnTo>
                    <a:pt x="2692907" y="644651"/>
                  </a:lnTo>
                </a:path>
                <a:path w="3116579" h="645160">
                  <a:moveTo>
                    <a:pt x="347472" y="644651"/>
                  </a:moveTo>
                  <a:lnTo>
                    <a:pt x="566927" y="64465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54773" y="1623821"/>
              <a:ext cx="2967355" cy="12700"/>
            </a:xfrm>
            <a:custGeom>
              <a:avLst/>
              <a:gdLst/>
              <a:ahLst/>
              <a:cxnLst/>
              <a:rect l="l" t="t" r="r" b="b"/>
              <a:pathLst>
                <a:path w="2967354" h="12700">
                  <a:moveTo>
                    <a:pt x="0" y="10667"/>
                  </a:moveTo>
                  <a:lnTo>
                    <a:pt x="409955" y="10667"/>
                  </a:lnTo>
                </a:path>
                <a:path w="2967354" h="12700">
                  <a:moveTo>
                    <a:pt x="2385059" y="12191"/>
                  </a:moveTo>
                  <a:lnTo>
                    <a:pt x="2967228" y="12191"/>
                  </a:lnTo>
                </a:path>
                <a:path w="2967354" h="12700">
                  <a:moveTo>
                    <a:pt x="1060703" y="0"/>
                  </a:moveTo>
                  <a:lnTo>
                    <a:pt x="1741931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13778" y="13754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12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4177" y="1299209"/>
            <a:ext cx="206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22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3306" y="13373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32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82053" y="16850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1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9530" y="17993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9156" y="1645157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3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92468" y="1522475"/>
            <a:ext cx="367665" cy="672465"/>
          </a:xfrm>
          <a:custGeom>
            <a:avLst/>
            <a:gdLst/>
            <a:ahLst/>
            <a:cxnLst/>
            <a:rect l="l" t="t" r="r" b="b"/>
            <a:pathLst>
              <a:path w="367665" h="672464">
                <a:moveTo>
                  <a:pt x="0" y="672084"/>
                </a:moveTo>
                <a:lnTo>
                  <a:pt x="367283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4952" y="1937258"/>
            <a:ext cx="1337945" cy="89725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VC</a:t>
            </a:r>
            <a:r>
              <a:rPr sz="1800" spc="-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  <a:spcBef>
                <a:spcPts val="350"/>
              </a:spcBef>
            </a:pPr>
            <a:r>
              <a:rPr sz="1800" spc="-5" dirty="0">
                <a:latin typeface="Carlito"/>
                <a:cs typeface="Carlito"/>
              </a:rPr>
              <a:t>i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er</a:t>
            </a:r>
            <a:r>
              <a:rPr sz="1800" spc="-35" dirty="0">
                <a:latin typeface="Carlito"/>
                <a:cs typeface="Carlito"/>
              </a:rPr>
              <a:t>f</a:t>
            </a:r>
            <a:r>
              <a:rPr sz="1800" dirty="0">
                <a:latin typeface="Carlito"/>
                <a:cs typeface="Carlito"/>
              </a:rPr>
              <a:t>ace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</a:pPr>
            <a:r>
              <a:rPr sz="1800" spc="-5" dirty="0"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0508" y="1403603"/>
            <a:ext cx="4084320" cy="1104900"/>
            <a:chOff x="6350508" y="1403603"/>
            <a:chExt cx="4084320" cy="1104900"/>
          </a:xfrm>
        </p:grpSpPr>
        <p:sp>
          <p:nvSpPr>
            <p:cNvPr id="18" name="object 18"/>
            <p:cNvSpPr/>
            <p:nvPr/>
          </p:nvSpPr>
          <p:spPr>
            <a:xfrm>
              <a:off x="7004304" y="1872995"/>
              <a:ext cx="325120" cy="615950"/>
            </a:xfrm>
            <a:custGeom>
              <a:avLst/>
              <a:gdLst/>
              <a:ahLst/>
              <a:cxnLst/>
              <a:rect l="l" t="t" r="r" b="b"/>
              <a:pathLst>
                <a:path w="325120" h="615950">
                  <a:moveTo>
                    <a:pt x="0" y="615695"/>
                  </a:moveTo>
                  <a:lnTo>
                    <a:pt x="324612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0508" y="1403603"/>
              <a:ext cx="542544" cy="5379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80632" y="1455419"/>
              <a:ext cx="265175" cy="2453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92284" y="1434083"/>
              <a:ext cx="542544" cy="537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9528" y="1485899"/>
              <a:ext cx="263651" cy="2453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2162" y="1680209"/>
              <a:ext cx="594360" cy="1600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2162" y="1680209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9114" y="1553717"/>
              <a:ext cx="599693" cy="20802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89114" y="155371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18871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22464" y="160172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92162" y="1640585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4">
                  <a:moveTo>
                    <a:pt x="0" y="0"/>
                  </a:moveTo>
                  <a:lnTo>
                    <a:pt x="0" y="126491"/>
                  </a:lnTo>
                </a:path>
                <a:path w="593090" h="131444">
                  <a:moveTo>
                    <a:pt x="592836" y="6096"/>
                  </a:moveTo>
                  <a:lnTo>
                    <a:pt x="592836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07402" y="2338577"/>
              <a:ext cx="594359" cy="1600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07402" y="23385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04354" y="2210561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04354" y="22105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6"/>
                  </a:moveTo>
                  <a:lnTo>
                    <a:pt x="224663" y="135636"/>
                  </a:lnTo>
                  <a:lnTo>
                    <a:pt x="329056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9228" y="22585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7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08926" y="2297429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2" y="7620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14994" y="1693925"/>
              <a:ext cx="595883" cy="1600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14994" y="1693925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13470" y="1565909"/>
              <a:ext cx="598169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13470" y="1565909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4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46820" y="1613915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16518" y="1652777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14994" y="2306573"/>
              <a:ext cx="595883" cy="1600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714994" y="23065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13470" y="2178557"/>
              <a:ext cx="598169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13470" y="2178557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46820" y="22265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16518" y="2265425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5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62602" y="3315715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Incoming </a:t>
            </a:r>
            <a:r>
              <a:rPr sz="1800" spc="-10" dirty="0">
                <a:latin typeface="Carlito"/>
                <a:cs typeface="Carlito"/>
              </a:rPr>
              <a:t>VC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48527" y="3315715"/>
            <a:ext cx="175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88259" y="3315715"/>
            <a:ext cx="1350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 VC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129849" y="3341941"/>
            <a:ext cx="3943350" cy="2198370"/>
            <a:chOff x="4129849" y="3341941"/>
            <a:chExt cx="3943350" cy="2198370"/>
          </a:xfrm>
        </p:grpSpPr>
        <p:sp>
          <p:nvSpPr>
            <p:cNvPr id="51" name="object 51"/>
            <p:cNvSpPr/>
            <p:nvPr/>
          </p:nvSpPr>
          <p:spPr>
            <a:xfrm>
              <a:off x="4134611" y="3346703"/>
              <a:ext cx="0" cy="2125980"/>
            </a:xfrm>
            <a:custGeom>
              <a:avLst/>
              <a:gdLst/>
              <a:ahLst/>
              <a:cxnLst/>
              <a:rect l="l" t="t" r="r" b="b"/>
              <a:pathLst>
                <a:path h="2125979">
                  <a:moveTo>
                    <a:pt x="0" y="0"/>
                  </a:moveTo>
                  <a:lnTo>
                    <a:pt x="0" y="2125980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39027" y="3384803"/>
              <a:ext cx="0" cy="2112645"/>
            </a:xfrm>
            <a:custGeom>
              <a:avLst/>
              <a:gdLst/>
              <a:ahLst/>
              <a:cxnLst/>
              <a:rect l="l" t="t" r="r" b="b"/>
              <a:pathLst>
                <a:path h="2112645">
                  <a:moveTo>
                    <a:pt x="0" y="0"/>
                  </a:moveTo>
                  <a:lnTo>
                    <a:pt x="0" y="2112264"/>
                  </a:lnTo>
                </a:path>
              </a:pathLst>
            </a:custGeom>
            <a:ln w="914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68055" y="3346703"/>
              <a:ext cx="0" cy="2188845"/>
            </a:xfrm>
            <a:custGeom>
              <a:avLst/>
              <a:gdLst/>
              <a:ahLst/>
              <a:cxnLst/>
              <a:rect l="l" t="t" r="r" b="b"/>
              <a:pathLst>
                <a:path h="2188845">
                  <a:moveTo>
                    <a:pt x="0" y="0"/>
                  </a:moveTo>
                  <a:lnTo>
                    <a:pt x="0" y="2188464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2896742" y="3914394"/>
          <a:ext cx="5999478" cy="1620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63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0495" algn="ct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54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0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9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87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68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058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375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1858517" y="2403475"/>
            <a:ext cx="2151380" cy="12122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z="2400" i="1" spc="-250" dirty="0">
                <a:solidFill>
                  <a:srgbClr val="CC0000"/>
                </a:solidFill>
                <a:latin typeface="Trebuchet MS"/>
                <a:cs typeface="Trebuchet MS"/>
              </a:rPr>
              <a:t>forwarding table </a:t>
            </a:r>
            <a:r>
              <a:rPr sz="2400" i="1" spc="-235" dirty="0">
                <a:solidFill>
                  <a:srgbClr val="CC0000"/>
                </a:solidFill>
                <a:latin typeface="Trebuchet MS"/>
                <a:cs typeface="Trebuchet MS"/>
              </a:rPr>
              <a:t>in  </a:t>
            </a:r>
            <a:r>
              <a:rPr sz="2400" i="1" spc="-265" dirty="0">
                <a:solidFill>
                  <a:srgbClr val="CC0000"/>
                </a:solidFill>
                <a:latin typeface="Trebuchet MS"/>
                <a:cs typeface="Trebuchet MS"/>
              </a:rPr>
              <a:t>router:</a:t>
            </a:r>
            <a:endParaRPr sz="2400">
              <a:latin typeface="Trebuchet MS"/>
              <a:cs typeface="Trebuchet MS"/>
            </a:endParaRPr>
          </a:p>
          <a:p>
            <a:pPr marL="248920">
              <a:lnSpc>
                <a:spcPct val="100000"/>
              </a:lnSpc>
              <a:spcBef>
                <a:spcPts val="1839"/>
              </a:spcBef>
            </a:pPr>
            <a:r>
              <a:rPr sz="1800" spc="-5" dirty="0">
                <a:latin typeface="Carlito"/>
                <a:cs typeface="Carlito"/>
              </a:rPr>
              <a:t>Incoming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24761" y="5715761"/>
            <a:ext cx="9144000" cy="605155"/>
          </a:xfrm>
          <a:prstGeom prst="rect">
            <a:avLst/>
          </a:prstGeom>
          <a:ln w="25907">
            <a:solidFill>
              <a:srgbClr val="CC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3200" i="1" spc="-200" dirty="0">
                <a:solidFill>
                  <a:srgbClr val="CC0000"/>
                </a:solidFill>
                <a:latin typeface="Trebuchet MS"/>
                <a:cs typeface="Trebuchet MS"/>
              </a:rPr>
              <a:t>VC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routers </a:t>
            </a:r>
            <a:r>
              <a:rPr sz="3200" i="1" spc="-300" dirty="0">
                <a:solidFill>
                  <a:srgbClr val="CC0000"/>
                </a:solidFill>
                <a:latin typeface="Trebuchet MS"/>
                <a:cs typeface="Trebuchet MS"/>
              </a:rPr>
              <a:t>maintain </a:t>
            </a:r>
            <a:r>
              <a:rPr sz="3200" i="1" spc="-295" dirty="0">
                <a:solidFill>
                  <a:srgbClr val="CC0000"/>
                </a:solidFill>
                <a:latin typeface="Trebuchet MS"/>
                <a:cs typeface="Trebuchet MS"/>
              </a:rPr>
              <a:t>connection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state</a:t>
            </a:r>
            <a:r>
              <a:rPr sz="3200" i="1" spc="3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CC0000"/>
                </a:solidFill>
                <a:latin typeface="Trebuchet MS"/>
                <a:cs typeface="Trebuchet MS"/>
              </a:rPr>
              <a:t>information!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137410" y="3681221"/>
            <a:ext cx="7495540" cy="0"/>
          </a:xfrm>
          <a:custGeom>
            <a:avLst/>
            <a:gdLst/>
            <a:ahLst/>
            <a:cxnLst/>
            <a:rect l="l" t="t" r="r" b="b"/>
            <a:pathLst>
              <a:path w="7495540">
                <a:moveTo>
                  <a:pt x="0" y="0"/>
                </a:moveTo>
                <a:lnTo>
                  <a:pt x="7495032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399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85" dirty="0"/>
              <a:t>setup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618268" y="1981200"/>
            <a:ext cx="9049731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93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60" dirty="0"/>
              <a:t>Phases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796099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There are three </a:t>
            </a:r>
            <a:r>
              <a:rPr sz="2800" spc="-10" dirty="0">
                <a:latin typeface="Carlito"/>
                <a:cs typeface="Carlito"/>
              </a:rPr>
              <a:t>identifiable phases </a:t>
            </a:r>
            <a:r>
              <a:rPr sz="2800" spc="-5" dirty="0">
                <a:latin typeface="Carlito"/>
                <a:cs typeface="Carlito"/>
              </a:rPr>
              <a:t>in a virtual</a:t>
            </a:r>
            <a:r>
              <a:rPr sz="2800" spc="2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circuit: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setup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15" dirty="0">
                <a:latin typeface="Carlito"/>
                <a:cs typeface="Carlito"/>
              </a:rPr>
              <a:t>Data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35" dirty="0">
                <a:latin typeface="Carlito"/>
                <a:cs typeface="Carlito"/>
              </a:rPr>
              <a:t>transfer.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teardown.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570" y="324053"/>
            <a:ext cx="3745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81175" algn="l"/>
              </a:tabLst>
            </a:pPr>
            <a:r>
              <a:rPr sz="4400" i="0" spc="-5" dirty="0">
                <a:latin typeface="Carlito"/>
                <a:cs typeface="Carlito"/>
              </a:rPr>
              <a:t>Virtua</a:t>
            </a:r>
            <a:r>
              <a:rPr sz="4400" i="0" dirty="0">
                <a:latin typeface="Carlito"/>
                <a:cs typeface="Carlito"/>
              </a:rPr>
              <a:t>l	</a:t>
            </a:r>
            <a:r>
              <a:rPr sz="4400" i="0" spc="10" dirty="0">
                <a:latin typeface="Carlito"/>
                <a:cs typeface="Carlito"/>
              </a:rPr>
              <a:t>s</a:t>
            </a:r>
            <a:r>
              <a:rPr sz="4400" i="0" spc="-25" dirty="0">
                <a:latin typeface="Carlito"/>
                <a:cs typeface="Carlito"/>
              </a:rPr>
              <a:t>e</a:t>
            </a:r>
            <a:r>
              <a:rPr sz="4400" i="0" dirty="0">
                <a:latin typeface="Carlito"/>
                <a:cs typeface="Carlito"/>
              </a:rPr>
              <a:t>tup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385061"/>
            <a:ext cx="80740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i="1" spc="-15" dirty="0">
                <a:latin typeface="Carlito"/>
                <a:cs typeface="Carlito"/>
              </a:rPr>
              <a:t>VC </a:t>
            </a:r>
            <a:r>
              <a:rPr sz="2400" i="1" spc="-5" dirty="0">
                <a:latin typeface="Carlito"/>
                <a:cs typeface="Carlito"/>
              </a:rPr>
              <a:t>setup. During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setup phase,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sending transport </a:t>
            </a:r>
            <a:r>
              <a:rPr sz="2400" i="1" dirty="0">
                <a:latin typeface="Carlito"/>
                <a:cs typeface="Carlito"/>
              </a:rPr>
              <a:t>layer  </a:t>
            </a:r>
            <a:r>
              <a:rPr sz="2400" i="1" spc="-15" dirty="0">
                <a:latin typeface="Carlito"/>
                <a:cs typeface="Carlito"/>
              </a:rPr>
              <a:t>contacts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network </a:t>
            </a:r>
            <a:r>
              <a:rPr sz="2400" spc="-50" dirty="0">
                <a:latin typeface="Carlito"/>
                <a:cs typeface="Carlito"/>
              </a:rPr>
              <a:t>layer,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specifies 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receiver’s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address</a:t>
            </a:r>
            <a:r>
              <a:rPr sz="2400" spc="-5" dirty="0">
                <a:latin typeface="Carlito"/>
                <a:cs typeface="Carlito"/>
              </a:rPr>
              <a:t>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waits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set up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VC.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path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between sender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and  </a:t>
            </a:r>
            <a:r>
              <a:rPr sz="2400" spc="-30" dirty="0">
                <a:solidFill>
                  <a:srgbClr val="1F487C"/>
                </a:solidFill>
                <a:latin typeface="Carlito"/>
                <a:cs typeface="Carlito"/>
              </a:rPr>
              <a:t>receiver</a:t>
            </a:r>
            <a:r>
              <a:rPr sz="2400" spc="-30" dirty="0">
                <a:latin typeface="Carlito"/>
                <a:cs typeface="Carlito"/>
              </a:rPr>
              <a:t>,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is, </a:t>
            </a:r>
            <a:r>
              <a:rPr sz="2400" spc="-5" dirty="0">
                <a:latin typeface="Carlito"/>
                <a:cs typeface="Carlito"/>
              </a:rPr>
              <a:t>the series of </a:t>
            </a:r>
            <a:r>
              <a:rPr sz="2400" spc="-10" dirty="0">
                <a:latin typeface="Carlito"/>
                <a:cs typeface="Carlito"/>
              </a:rPr>
              <a:t>links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which  all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VC </a:t>
            </a:r>
            <a:r>
              <a:rPr sz="2400" dirty="0">
                <a:latin typeface="Carlito"/>
                <a:cs typeface="Carlito"/>
              </a:rPr>
              <a:t>will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travel.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determines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VC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 link along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path.</a:t>
            </a:r>
            <a:endParaRPr sz="2400">
              <a:latin typeface="Carlito"/>
              <a:cs typeface="Carlito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rlito"/>
                <a:cs typeface="Carlito"/>
              </a:rPr>
              <a:t>Finally,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adds an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entry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in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forwarding 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table </a:t>
            </a:r>
            <a:r>
              <a:rPr sz="2400" dirty="0">
                <a:latin typeface="Carlito"/>
                <a:cs typeface="Carlito"/>
              </a:rPr>
              <a:t>in each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router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857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1673" y="466166"/>
            <a:ext cx="8729727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Setup </a:t>
            </a:r>
            <a:r>
              <a:rPr sz="4300" b="1" i="0" spc="-20" dirty="0">
                <a:solidFill>
                  <a:srgbClr val="000080"/>
                </a:solidFill>
                <a:latin typeface="Carlito"/>
                <a:cs typeface="Carlito"/>
              </a:rPr>
              <a:t>request </a:t>
            </a:r>
            <a:r>
              <a:rPr sz="4300" b="1" i="0" spc="-5" dirty="0">
                <a:solidFill>
                  <a:srgbClr val="000080"/>
                </a:solidFill>
                <a:latin typeface="Carlito"/>
                <a:cs typeface="Carlito"/>
              </a:rPr>
              <a:t>in a virtual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circuit</a:t>
            </a:r>
            <a:endParaRPr sz="43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9783" y="1318164"/>
            <a:ext cx="9169282" cy="4625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202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5594" y="465200"/>
            <a:ext cx="546354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Acknowledgment</a:t>
            </a:r>
            <a:r>
              <a:rPr sz="4300" b="1" i="0" spc="-3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Phase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9048" y="1728216"/>
            <a:ext cx="8670036" cy="441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7721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709" y="461899"/>
            <a:ext cx="4911091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20" dirty="0">
                <a:latin typeface="Carlito"/>
                <a:cs typeface="Carlito"/>
              </a:rPr>
              <a:t>VC </a:t>
            </a:r>
            <a:r>
              <a:rPr sz="4400" spc="-15" dirty="0"/>
              <a:t>Data</a:t>
            </a:r>
            <a:r>
              <a:rPr sz="4400" spc="-45" dirty="0"/>
              <a:t> </a:t>
            </a:r>
            <a:r>
              <a:rPr sz="4400" spc="-50" dirty="0"/>
              <a:t>transfer.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405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  <a:tab pos="1304925" algn="l"/>
                <a:tab pos="2828925" algn="l"/>
                <a:tab pos="3757295" algn="l"/>
                <a:tab pos="4446270" algn="l"/>
                <a:tab pos="5036185" algn="l"/>
                <a:tab pos="5761355" algn="l"/>
                <a:tab pos="6720205" algn="l"/>
                <a:tab pos="8827135" algn="l"/>
                <a:tab pos="10222865" algn="l"/>
              </a:tabLst>
            </a:pPr>
            <a:r>
              <a:rPr sz="3200" i="1" spc="-5" dirty="0">
                <a:latin typeface="Carlito"/>
                <a:cs typeface="Carlito"/>
              </a:rPr>
              <a:t>Da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a	trans</a:t>
            </a:r>
            <a:r>
              <a:rPr sz="3200" i="1" spc="-55" dirty="0">
                <a:latin typeface="Carlito"/>
                <a:cs typeface="Carlito"/>
              </a:rPr>
              <a:t>f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260" dirty="0">
                <a:latin typeface="Carlito"/>
                <a:cs typeface="Carlito"/>
              </a:rPr>
              <a:t>r</a:t>
            </a:r>
            <a:r>
              <a:rPr sz="3200" i="1" dirty="0">
                <a:latin typeface="Carlito"/>
                <a:cs typeface="Carlito"/>
              </a:rPr>
              <a:t>.	</a:t>
            </a:r>
            <a:r>
              <a:rPr sz="3200" i="1" spc="-5" dirty="0">
                <a:latin typeface="Carlito"/>
                <a:cs typeface="Carlito"/>
              </a:rPr>
              <a:t>on</a:t>
            </a:r>
            <a:r>
              <a:rPr sz="3200" i="1" spc="-35" dirty="0">
                <a:latin typeface="Carlito"/>
                <a:cs typeface="Carlito"/>
              </a:rPr>
              <a:t>c</a:t>
            </a:r>
            <a:r>
              <a:rPr sz="3200" i="1" dirty="0">
                <a:latin typeface="Carlito"/>
                <a:cs typeface="Carlito"/>
              </a:rPr>
              <a:t>e	t</a:t>
            </a:r>
            <a:r>
              <a:rPr sz="3200" i="1" spc="-10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	</a:t>
            </a:r>
            <a:r>
              <a:rPr sz="3200" i="1" spc="-35" dirty="0">
                <a:latin typeface="Carlito"/>
                <a:cs typeface="Carlito"/>
              </a:rPr>
              <a:t>V</a:t>
            </a:r>
            <a:r>
              <a:rPr sz="3200" i="1" dirty="0">
                <a:latin typeface="Carlito"/>
                <a:cs typeface="Carlito"/>
              </a:rPr>
              <a:t>C	</a:t>
            </a:r>
            <a:r>
              <a:rPr sz="3200" i="1" spc="-5" dirty="0">
                <a:latin typeface="Carlito"/>
                <a:cs typeface="Carlito"/>
              </a:rPr>
              <a:t>ha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i="1" spc="-5" dirty="0">
                <a:latin typeface="Carlito"/>
                <a:cs typeface="Carlito"/>
              </a:rPr>
              <a:t>b</a:t>
            </a:r>
            <a:r>
              <a:rPr sz="3200" i="1" spc="5" dirty="0">
                <a:latin typeface="Carlito"/>
                <a:cs typeface="Carlito"/>
              </a:rPr>
              <a:t>e</a:t>
            </a:r>
            <a:r>
              <a:rPr sz="3200" i="1" dirty="0">
                <a:latin typeface="Carlito"/>
                <a:cs typeface="Carlito"/>
              </a:rPr>
              <a:t>en	e</a:t>
            </a:r>
            <a:r>
              <a:rPr sz="3200" i="1" spc="-35" dirty="0">
                <a:latin typeface="Carlito"/>
                <a:cs typeface="Carlito"/>
              </a:rPr>
              <a:t>s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spc="-5" dirty="0">
                <a:latin typeface="Carlito"/>
                <a:cs typeface="Carlito"/>
              </a:rPr>
              <a:t>ablis</a:t>
            </a:r>
            <a:r>
              <a:rPr sz="3200" i="1" spc="-15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ed,	</a:t>
            </a:r>
            <a:r>
              <a:rPr sz="3200" i="1" spc="-5" dirty="0">
                <a:latin typeface="Carlito"/>
                <a:cs typeface="Carlito"/>
              </a:rPr>
              <a:t>pac</a:t>
            </a:r>
            <a:r>
              <a:rPr sz="3200" i="1" spc="-114" dirty="0">
                <a:latin typeface="Carlito"/>
                <a:cs typeface="Carlito"/>
              </a:rPr>
              <a:t>k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1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flow </a:t>
            </a:r>
            <a:r>
              <a:rPr sz="3200" dirty="0">
                <a:latin typeface="Carlito"/>
                <a:cs typeface="Carlito"/>
              </a:rPr>
              <a:t>along the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VC.</a:t>
            </a:r>
            <a:endParaRPr sz="32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93337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461899"/>
            <a:ext cx="499948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7569" algn="l"/>
              </a:tabLst>
            </a:pPr>
            <a:r>
              <a:rPr sz="4400" i="0" spc="-20" dirty="0">
                <a:latin typeface="Carlito"/>
                <a:cs typeface="Carlito"/>
              </a:rPr>
              <a:t>VC	</a:t>
            </a:r>
            <a:r>
              <a:rPr sz="4400" i="0" spc="-25" dirty="0">
                <a:latin typeface="Carlito"/>
                <a:cs typeface="Carlito"/>
              </a:rPr>
              <a:t>Data</a:t>
            </a:r>
            <a:r>
              <a:rPr sz="4400" i="0" spc="-50" dirty="0">
                <a:latin typeface="Carlito"/>
                <a:cs typeface="Carlito"/>
              </a:rPr>
              <a:t> </a:t>
            </a:r>
            <a:r>
              <a:rPr sz="4400" i="0" spc="-65" dirty="0">
                <a:latin typeface="Carlito"/>
                <a:cs typeface="Carlito"/>
              </a:rPr>
              <a:t>Transfer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2877" y="1417319"/>
            <a:ext cx="8116884" cy="5207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499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3539" y="192150"/>
            <a:ext cx="4983861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VC</a:t>
            </a:r>
            <a:r>
              <a:rPr spc="-90" dirty="0"/>
              <a:t> </a:t>
            </a:r>
            <a:r>
              <a:rPr spc="-10" dirty="0"/>
              <a:t>teardown.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0192" y="1428115"/>
            <a:ext cx="8496300" cy="403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i="1" spc="-20" dirty="0">
                <a:latin typeface="Carlito"/>
                <a:cs typeface="Carlito"/>
              </a:rPr>
              <a:t>VC </a:t>
            </a:r>
            <a:r>
              <a:rPr sz="2800" i="1" spc="-10" dirty="0">
                <a:latin typeface="Carlito"/>
                <a:cs typeface="Carlito"/>
              </a:rPr>
              <a:t>teardown. </a:t>
            </a:r>
            <a:r>
              <a:rPr sz="2800" i="1" spc="-5" dirty="0">
                <a:latin typeface="Carlito"/>
                <a:cs typeface="Carlito"/>
              </a:rPr>
              <a:t>This </a:t>
            </a:r>
            <a:r>
              <a:rPr sz="2800" i="1" spc="-10" dirty="0">
                <a:latin typeface="Carlito"/>
                <a:cs typeface="Carlito"/>
              </a:rPr>
              <a:t>is initiated </a:t>
            </a:r>
            <a:r>
              <a:rPr sz="2800" i="1" spc="-5" dirty="0">
                <a:latin typeface="Carlito"/>
                <a:cs typeface="Carlito"/>
              </a:rPr>
              <a:t>when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sender (or 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receiver)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informs </a:t>
            </a:r>
            <a:r>
              <a:rPr sz="2800" i="1" spc="-5" dirty="0">
                <a:latin typeface="Carlito"/>
                <a:cs typeface="Carlito"/>
              </a:rPr>
              <a:t>the 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desire </a:t>
            </a:r>
            <a:r>
              <a:rPr sz="2800" spc="-30" dirty="0">
                <a:latin typeface="Carlito"/>
                <a:cs typeface="Carlito"/>
              </a:rPr>
              <a:t>to  </a:t>
            </a:r>
            <a:r>
              <a:rPr sz="2800" spc="-15" dirty="0">
                <a:latin typeface="Carlito"/>
                <a:cs typeface="Carlito"/>
              </a:rPr>
              <a:t>terminate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VC.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85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will then </a:t>
            </a:r>
            <a:r>
              <a:rPr sz="2800" spc="-10" dirty="0">
                <a:latin typeface="Carlito"/>
                <a:cs typeface="Carlito"/>
              </a:rPr>
              <a:t>typically </a:t>
            </a:r>
            <a:r>
              <a:rPr sz="2800" spc="-20" dirty="0">
                <a:solidFill>
                  <a:srgbClr val="1F487C"/>
                </a:solidFill>
                <a:latin typeface="Carlito"/>
                <a:cs typeface="Carlito"/>
              </a:rPr>
              <a:t>inform </a:t>
            </a:r>
            <a:r>
              <a:rPr sz="2800" spc="-5" dirty="0">
                <a:solidFill>
                  <a:srgbClr val="1F487C"/>
                </a:solidFill>
                <a:latin typeface="Carlito"/>
                <a:cs typeface="Carlito"/>
              </a:rPr>
              <a:t>the end  </a:t>
            </a:r>
            <a:r>
              <a:rPr sz="2800" spc="-30" dirty="0">
                <a:solidFill>
                  <a:srgbClr val="1F487C"/>
                </a:solidFill>
                <a:latin typeface="Carlito"/>
                <a:cs typeface="Carlito"/>
              </a:rPr>
              <a:t>system </a:t>
            </a:r>
            <a:r>
              <a:rPr sz="2800" spc="-5" dirty="0">
                <a:latin typeface="Carlito"/>
                <a:cs typeface="Carlito"/>
              </a:rPr>
              <a:t>on the other </a:t>
            </a:r>
            <a:r>
              <a:rPr sz="2800" spc="-10" dirty="0">
                <a:latin typeface="Carlito"/>
                <a:cs typeface="Carlito"/>
              </a:rPr>
              <a:t>side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call  termination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forwarding </a:t>
            </a:r>
            <a:r>
              <a:rPr sz="2800" spc="-10" dirty="0">
                <a:latin typeface="Carlito"/>
                <a:cs typeface="Carlito"/>
              </a:rPr>
              <a:t>tables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each of  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dirty="0">
                <a:latin typeface="Carlito"/>
                <a:cs typeface="Carlito"/>
              </a:rPr>
              <a:t>on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indicate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5" dirty="0">
                <a:latin typeface="Carlito"/>
                <a:cs typeface="Carlito"/>
              </a:rPr>
              <a:t>VC 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longer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exists.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3552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470" y="233298"/>
            <a:ext cx="7001129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Carlito"/>
                <a:cs typeface="Carlito"/>
              </a:rPr>
              <a:t>Datagram</a:t>
            </a:r>
            <a:r>
              <a:rPr i="0" spc="-55" dirty="0">
                <a:latin typeface="Carlito"/>
                <a:cs typeface="Carlito"/>
              </a:rPr>
              <a:t> </a:t>
            </a:r>
            <a:r>
              <a:rPr sz="4000" i="0" spc="-20" dirty="0">
                <a:latin typeface="Carlito"/>
                <a:cs typeface="Carlito"/>
              </a:rPr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716" y="1029738"/>
            <a:ext cx="9038083" cy="20008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5" dirty="0">
                <a:latin typeface="Carlito"/>
                <a:cs typeface="Carlito"/>
              </a:rPr>
              <a:t>setup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10" dirty="0">
                <a:latin typeface="Carlito"/>
                <a:cs typeface="Carlito"/>
              </a:rPr>
              <a:t>network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layer</a:t>
            </a:r>
            <a:endParaRPr sz="28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routers: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30" dirty="0">
                <a:latin typeface="Carlito"/>
                <a:cs typeface="Carlito"/>
              </a:rPr>
              <a:t>state </a:t>
            </a:r>
            <a:r>
              <a:rPr sz="2800" spc="-5" dirty="0">
                <a:latin typeface="Carlito"/>
                <a:cs typeface="Carlito"/>
              </a:rPr>
              <a:t>about </a:t>
            </a:r>
            <a:r>
              <a:rPr sz="2800" spc="-10" dirty="0">
                <a:latin typeface="Carlito"/>
                <a:cs typeface="Carlito"/>
              </a:rPr>
              <a:t>end-to-end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connections</a:t>
            </a:r>
            <a:endParaRPr sz="2800" dirty="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no </a:t>
            </a:r>
            <a:r>
              <a:rPr sz="2400" spc="-10" dirty="0">
                <a:latin typeface="Carlito"/>
                <a:cs typeface="Carlito"/>
              </a:rPr>
              <a:t>network-level concept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260" dirty="0">
                <a:latin typeface="Carlito"/>
                <a:cs typeface="Carlito"/>
              </a:rPr>
              <a:t> </a:t>
            </a:r>
            <a:r>
              <a:rPr sz="2400" spc="-210" dirty="0">
                <a:latin typeface="AoyagiKouzanFontT"/>
                <a:cs typeface="AoyagiKouzanFontT"/>
              </a:rPr>
              <a:t>“</a:t>
            </a:r>
            <a:r>
              <a:rPr sz="2400" spc="-210" dirty="0">
                <a:latin typeface="Carlito"/>
                <a:cs typeface="Carlito"/>
              </a:rPr>
              <a:t>connection</a:t>
            </a:r>
            <a:r>
              <a:rPr sz="2400" spc="-210" dirty="0">
                <a:latin typeface="AoyagiKouzanFontT"/>
                <a:cs typeface="AoyagiKouzanFontT"/>
              </a:rPr>
              <a:t>”</a:t>
            </a:r>
            <a:endParaRPr sz="2400" dirty="0">
              <a:latin typeface="AoyagiKouzanFontT"/>
              <a:cs typeface="AoyagiKouzanFontT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packets forwarded </a:t>
            </a:r>
            <a:r>
              <a:rPr sz="2800" spc="-10" dirty="0">
                <a:latin typeface="Carlito"/>
                <a:cs typeface="Carlito"/>
              </a:rPr>
              <a:t>using destination </a:t>
            </a:r>
            <a:r>
              <a:rPr sz="2800" spc="-20" dirty="0">
                <a:latin typeface="Carlito"/>
                <a:cs typeface="Carlito"/>
              </a:rPr>
              <a:t>host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address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8759" y="933703"/>
            <a:ext cx="4499943" cy="125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00450" y="4314570"/>
            <a:ext cx="1726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1. send</a:t>
            </a:r>
            <a:r>
              <a:rPr sz="1800" spc="-6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9619" y="3735323"/>
            <a:ext cx="1927860" cy="2415540"/>
            <a:chOff x="8389619" y="3735323"/>
            <a:chExt cx="1927860" cy="2415540"/>
          </a:xfrm>
        </p:grpSpPr>
        <p:sp>
          <p:nvSpPr>
            <p:cNvPr id="9" name="object 9"/>
            <p:cNvSpPr/>
            <p:nvPr/>
          </p:nvSpPr>
          <p:spPr>
            <a:xfrm>
              <a:off x="8724899" y="3742943"/>
              <a:ext cx="1571244" cy="17846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9619" y="5401055"/>
              <a:ext cx="720851" cy="7498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97467" y="5472683"/>
              <a:ext cx="350520" cy="3444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15984" y="3735323"/>
              <a:ext cx="1301750" cy="1501140"/>
            </a:xfrm>
            <a:custGeom>
              <a:avLst/>
              <a:gdLst/>
              <a:ahLst/>
              <a:cxnLst/>
              <a:rect l="l" t="t" r="r" b="b"/>
              <a:pathLst>
                <a:path w="1301750" h="1501139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1140"/>
                  </a:lnTo>
                  <a:lnTo>
                    <a:pt x="1301496" y="1501140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51976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51975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3"/>
                  </a:moveTo>
                  <a:lnTo>
                    <a:pt x="1328927" y="1548383"/>
                  </a:lnTo>
                  <a:lnTo>
                    <a:pt x="1328927" y="0"/>
                  </a:lnTo>
                  <a:lnTo>
                    <a:pt x="0" y="0"/>
                  </a:lnTo>
                  <a:lnTo>
                    <a:pt x="0" y="15483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58071" y="4419599"/>
              <a:ext cx="1320165" cy="304800"/>
            </a:xfrm>
            <a:custGeom>
              <a:avLst/>
              <a:gdLst/>
              <a:ahLst/>
              <a:cxnLst/>
              <a:rect l="l" t="t" r="r" b="b"/>
              <a:pathLst>
                <a:path w="1320165" h="304800">
                  <a:moveTo>
                    <a:pt x="131978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319783" y="304800"/>
                  </a:lnTo>
                  <a:lnTo>
                    <a:pt x="1319783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951976" y="3763517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51976" y="4068013"/>
            <a:ext cx="13290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51976" y="43733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1976" y="46781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51976" y="4982972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9279" y="3627120"/>
            <a:ext cx="8423910" cy="1804670"/>
            <a:chOff x="1859279" y="3627120"/>
            <a:chExt cx="8423910" cy="1804670"/>
          </a:xfrm>
        </p:grpSpPr>
        <p:sp>
          <p:nvSpPr>
            <p:cNvPr id="22" name="object 22"/>
            <p:cNvSpPr/>
            <p:nvPr/>
          </p:nvSpPr>
          <p:spPr>
            <a:xfrm>
              <a:off x="8947403" y="4108704"/>
              <a:ext cx="1330960" cy="908685"/>
            </a:xfrm>
            <a:custGeom>
              <a:avLst/>
              <a:gdLst/>
              <a:ahLst/>
              <a:cxnLst/>
              <a:rect l="l" t="t" r="r" b="b"/>
              <a:pathLst>
                <a:path w="1330959" h="908685">
                  <a:moveTo>
                    <a:pt x="3048" y="307848"/>
                  </a:moveTo>
                  <a:lnTo>
                    <a:pt x="1330452" y="307848"/>
                  </a:lnTo>
                </a:path>
                <a:path w="1330959" h="908685">
                  <a:moveTo>
                    <a:pt x="3048" y="615696"/>
                  </a:moveTo>
                  <a:lnTo>
                    <a:pt x="1330452" y="615696"/>
                  </a:lnTo>
                </a:path>
                <a:path w="1330959" h="908685">
                  <a:moveTo>
                    <a:pt x="0" y="908304"/>
                  </a:moveTo>
                  <a:lnTo>
                    <a:pt x="1327403" y="908304"/>
                  </a:lnTo>
                </a:path>
                <a:path w="1330959" h="908685">
                  <a:moveTo>
                    <a:pt x="3048" y="0"/>
                  </a:moveTo>
                  <a:lnTo>
                    <a:pt x="133045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9279" y="3646932"/>
              <a:ext cx="1571244" cy="17846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2368" y="3627119"/>
              <a:ext cx="1301750" cy="1503045"/>
            </a:xfrm>
            <a:custGeom>
              <a:avLst/>
              <a:gdLst/>
              <a:ahLst/>
              <a:cxnLst/>
              <a:rect l="l" t="t" r="r" b="b"/>
              <a:pathLst>
                <a:path w="1301750" h="1503045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2664"/>
                  </a:lnTo>
                  <a:lnTo>
                    <a:pt x="1301496" y="1502664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19884" y="3672839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19883" y="3672840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4"/>
                  </a:moveTo>
                  <a:lnTo>
                    <a:pt x="1328928" y="1548384"/>
                  </a:lnTo>
                  <a:lnTo>
                    <a:pt x="1328928" y="0"/>
                  </a:lnTo>
                  <a:lnTo>
                    <a:pt x="0" y="0"/>
                  </a:lnTo>
                  <a:lnTo>
                    <a:pt x="0" y="15483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5979" y="4311396"/>
              <a:ext cx="1318260" cy="304800"/>
            </a:xfrm>
            <a:custGeom>
              <a:avLst/>
              <a:gdLst/>
              <a:ahLst/>
              <a:cxnLst/>
              <a:rect l="l" t="t" r="r" b="b"/>
              <a:pathLst>
                <a:path w="1318260" h="304800">
                  <a:moveTo>
                    <a:pt x="1318259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1318259" y="304799"/>
                  </a:lnTo>
                  <a:lnTo>
                    <a:pt x="131825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25979" y="36555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25979" y="39603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25979" y="4264863"/>
            <a:ext cx="13169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25979" y="45702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25979" y="48750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24000" y="3995928"/>
            <a:ext cx="7426959" cy="2087880"/>
            <a:chOff x="1524000" y="3995928"/>
            <a:chExt cx="7426959" cy="2087880"/>
          </a:xfrm>
        </p:grpSpPr>
        <p:sp>
          <p:nvSpPr>
            <p:cNvPr id="34" name="object 34"/>
            <p:cNvSpPr/>
            <p:nvPr/>
          </p:nvSpPr>
          <p:spPr>
            <a:xfrm>
              <a:off x="2115312" y="4000500"/>
              <a:ext cx="1329055" cy="908685"/>
            </a:xfrm>
            <a:custGeom>
              <a:avLst/>
              <a:gdLst/>
              <a:ahLst/>
              <a:cxnLst/>
              <a:rect l="l" t="t" r="r" b="b"/>
              <a:pathLst>
                <a:path w="1329054" h="908685">
                  <a:moveTo>
                    <a:pt x="3048" y="307848"/>
                  </a:moveTo>
                  <a:lnTo>
                    <a:pt x="1328927" y="307848"/>
                  </a:lnTo>
                </a:path>
                <a:path w="1329054" h="908685">
                  <a:moveTo>
                    <a:pt x="3048" y="615695"/>
                  </a:moveTo>
                  <a:lnTo>
                    <a:pt x="1328927" y="615695"/>
                  </a:lnTo>
                </a:path>
                <a:path w="1329054" h="908685">
                  <a:moveTo>
                    <a:pt x="0" y="908304"/>
                  </a:moveTo>
                  <a:lnTo>
                    <a:pt x="1325879" y="908304"/>
                  </a:lnTo>
                </a:path>
                <a:path w="1329054" h="908685">
                  <a:moveTo>
                    <a:pt x="3048" y="0"/>
                  </a:moveTo>
                  <a:lnTo>
                    <a:pt x="132892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4000" y="5303520"/>
              <a:ext cx="720851" cy="7513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31847" y="5375148"/>
              <a:ext cx="348995" cy="344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57955" y="5132832"/>
              <a:ext cx="1242060" cy="0"/>
            </a:xfrm>
            <a:custGeom>
              <a:avLst/>
              <a:gdLst/>
              <a:ahLst/>
              <a:cxnLst/>
              <a:rect l="l" t="t" r="r" b="b"/>
              <a:pathLst>
                <a:path w="1242060">
                  <a:moveTo>
                    <a:pt x="0" y="0"/>
                  </a:moveTo>
                  <a:lnTo>
                    <a:pt x="124206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04532" y="4645250"/>
              <a:ext cx="2751455" cy="1438910"/>
            </a:xfrm>
            <a:custGeom>
              <a:avLst/>
              <a:gdLst/>
              <a:ahLst/>
              <a:cxnLst/>
              <a:rect l="l" t="t" r="r" b="b"/>
              <a:pathLst>
                <a:path w="2751454" h="1438910">
                  <a:moveTo>
                    <a:pt x="1627554" y="0"/>
                  </a:moveTo>
                  <a:lnTo>
                    <a:pt x="1575673" y="2124"/>
                  </a:lnTo>
                  <a:lnTo>
                    <a:pt x="1523730" y="6388"/>
                  </a:lnTo>
                  <a:lnTo>
                    <a:pt x="1471803" y="12498"/>
                  </a:lnTo>
                  <a:lnTo>
                    <a:pt x="1419974" y="20156"/>
                  </a:lnTo>
                  <a:lnTo>
                    <a:pt x="1368322" y="29068"/>
                  </a:lnTo>
                  <a:lnTo>
                    <a:pt x="1316927" y="38938"/>
                  </a:lnTo>
                  <a:lnTo>
                    <a:pt x="1265870" y="49470"/>
                  </a:lnTo>
                  <a:lnTo>
                    <a:pt x="1115525" y="82080"/>
                  </a:lnTo>
                  <a:lnTo>
                    <a:pt x="1066618" y="92303"/>
                  </a:lnTo>
                  <a:lnTo>
                    <a:pt x="1018450" y="101710"/>
                  </a:lnTo>
                  <a:lnTo>
                    <a:pt x="971100" y="110005"/>
                  </a:lnTo>
                  <a:lnTo>
                    <a:pt x="924648" y="116892"/>
                  </a:lnTo>
                  <a:lnTo>
                    <a:pt x="879174" y="122075"/>
                  </a:lnTo>
                  <a:lnTo>
                    <a:pt x="824876" y="125743"/>
                  </a:lnTo>
                  <a:lnTo>
                    <a:pt x="770099" y="126942"/>
                  </a:lnTo>
                  <a:lnTo>
                    <a:pt x="715171" y="126209"/>
                  </a:lnTo>
                  <a:lnTo>
                    <a:pt x="660419" y="124081"/>
                  </a:lnTo>
                  <a:lnTo>
                    <a:pt x="606171" y="121092"/>
                  </a:lnTo>
                  <a:lnTo>
                    <a:pt x="500494" y="114679"/>
                  </a:lnTo>
                  <a:lnTo>
                    <a:pt x="449721" y="112327"/>
                  </a:lnTo>
                  <a:lnTo>
                    <a:pt x="400760" y="111258"/>
                  </a:lnTo>
                  <a:lnTo>
                    <a:pt x="353940" y="112009"/>
                  </a:lnTo>
                  <a:lnTo>
                    <a:pt x="309587" y="115117"/>
                  </a:lnTo>
                  <a:lnTo>
                    <a:pt x="268030" y="121116"/>
                  </a:lnTo>
                  <a:lnTo>
                    <a:pt x="229595" y="130544"/>
                  </a:lnTo>
                  <a:lnTo>
                    <a:pt x="163402" y="161826"/>
                  </a:lnTo>
                  <a:lnTo>
                    <a:pt x="131828" y="188306"/>
                  </a:lnTo>
                  <a:lnTo>
                    <a:pt x="104299" y="220361"/>
                  </a:lnTo>
                  <a:lnTo>
                    <a:pt x="80582" y="257254"/>
                  </a:lnTo>
                  <a:lnTo>
                    <a:pt x="60442" y="298249"/>
                  </a:lnTo>
                  <a:lnTo>
                    <a:pt x="43646" y="342608"/>
                  </a:lnTo>
                  <a:lnTo>
                    <a:pt x="29960" y="389594"/>
                  </a:lnTo>
                  <a:lnTo>
                    <a:pt x="19150" y="438470"/>
                  </a:lnTo>
                  <a:lnTo>
                    <a:pt x="10983" y="488500"/>
                  </a:lnTo>
                  <a:lnTo>
                    <a:pt x="5225" y="538946"/>
                  </a:lnTo>
                  <a:lnTo>
                    <a:pt x="1642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4" y="785937"/>
                  </a:lnTo>
                  <a:lnTo>
                    <a:pt x="9111" y="841114"/>
                  </a:lnTo>
                  <a:lnTo>
                    <a:pt x="19057" y="895342"/>
                  </a:lnTo>
                  <a:lnTo>
                    <a:pt x="32573" y="948279"/>
                  </a:lnTo>
                  <a:lnTo>
                    <a:pt x="49242" y="999582"/>
                  </a:lnTo>
                  <a:lnTo>
                    <a:pt x="68644" y="1048912"/>
                  </a:lnTo>
                  <a:lnTo>
                    <a:pt x="90362" y="1095925"/>
                  </a:lnTo>
                  <a:lnTo>
                    <a:pt x="113976" y="1140280"/>
                  </a:lnTo>
                  <a:lnTo>
                    <a:pt x="139068" y="1181636"/>
                  </a:lnTo>
                  <a:lnTo>
                    <a:pt x="165219" y="1219651"/>
                  </a:lnTo>
                  <a:lnTo>
                    <a:pt x="192012" y="1253983"/>
                  </a:lnTo>
                  <a:lnTo>
                    <a:pt x="219028" y="1284290"/>
                  </a:lnTo>
                  <a:lnTo>
                    <a:pt x="256115" y="1317444"/>
                  </a:lnTo>
                  <a:lnTo>
                    <a:pt x="295577" y="1342654"/>
                  </a:lnTo>
                  <a:lnTo>
                    <a:pt x="337543" y="1361264"/>
                  </a:lnTo>
                  <a:lnTo>
                    <a:pt x="382139" y="1374622"/>
                  </a:lnTo>
                  <a:lnTo>
                    <a:pt x="429494" y="1384073"/>
                  </a:lnTo>
                  <a:lnTo>
                    <a:pt x="479736" y="1390963"/>
                  </a:lnTo>
                  <a:lnTo>
                    <a:pt x="589386" y="1402445"/>
                  </a:lnTo>
                  <a:lnTo>
                    <a:pt x="692433" y="1415204"/>
                  </a:lnTo>
                  <a:lnTo>
                    <a:pt x="737586" y="1419943"/>
                  </a:lnTo>
                  <a:lnTo>
                    <a:pt x="784420" y="1423996"/>
                  </a:lnTo>
                  <a:lnTo>
                    <a:pt x="832842" y="1427417"/>
                  </a:lnTo>
                  <a:lnTo>
                    <a:pt x="882761" y="1430257"/>
                  </a:lnTo>
                  <a:lnTo>
                    <a:pt x="934086" y="1432567"/>
                  </a:lnTo>
                  <a:lnTo>
                    <a:pt x="986726" y="1434401"/>
                  </a:lnTo>
                  <a:lnTo>
                    <a:pt x="1040590" y="1435810"/>
                  </a:lnTo>
                  <a:lnTo>
                    <a:pt x="1095586" y="1436847"/>
                  </a:lnTo>
                  <a:lnTo>
                    <a:pt x="1151624" y="1437562"/>
                  </a:lnTo>
                  <a:lnTo>
                    <a:pt x="1208611" y="1438008"/>
                  </a:lnTo>
                  <a:lnTo>
                    <a:pt x="1325071" y="1438303"/>
                  </a:lnTo>
                  <a:lnTo>
                    <a:pt x="1525098" y="1437729"/>
                  </a:lnTo>
                  <a:lnTo>
                    <a:pt x="1634825" y="1436663"/>
                  </a:lnTo>
                  <a:lnTo>
                    <a:pt x="1746495" y="1434767"/>
                  </a:lnTo>
                  <a:lnTo>
                    <a:pt x="1801997" y="1433435"/>
                  </a:lnTo>
                  <a:lnTo>
                    <a:pt x="1856710" y="1431809"/>
                  </a:lnTo>
                  <a:lnTo>
                    <a:pt x="1910210" y="1429858"/>
                  </a:lnTo>
                  <a:lnTo>
                    <a:pt x="1962072" y="1427555"/>
                  </a:lnTo>
                  <a:lnTo>
                    <a:pt x="2011871" y="1424870"/>
                  </a:lnTo>
                  <a:lnTo>
                    <a:pt x="2059182" y="1421774"/>
                  </a:lnTo>
                  <a:lnTo>
                    <a:pt x="2103580" y="1418237"/>
                  </a:lnTo>
                  <a:lnTo>
                    <a:pt x="2144641" y="1414232"/>
                  </a:lnTo>
                  <a:lnTo>
                    <a:pt x="2181940" y="1409728"/>
                  </a:lnTo>
                  <a:lnTo>
                    <a:pt x="2243416" y="1403584"/>
                  </a:lnTo>
                  <a:lnTo>
                    <a:pt x="2295572" y="1401400"/>
                  </a:lnTo>
                  <a:lnTo>
                    <a:pt x="2339895" y="1400550"/>
                  </a:lnTo>
                  <a:lnTo>
                    <a:pt x="2377875" y="1398406"/>
                  </a:lnTo>
                  <a:lnTo>
                    <a:pt x="2440757" y="1379732"/>
                  </a:lnTo>
                  <a:lnTo>
                    <a:pt x="2496125" y="1324364"/>
                  </a:lnTo>
                  <a:lnTo>
                    <a:pt x="2524713" y="1276353"/>
                  </a:lnTo>
                  <a:lnTo>
                    <a:pt x="2556754" y="1213002"/>
                  </a:lnTo>
                  <a:lnTo>
                    <a:pt x="2575114" y="1174477"/>
                  </a:lnTo>
                  <a:lnTo>
                    <a:pt x="2594466" y="1132103"/>
                  </a:lnTo>
                  <a:lnTo>
                    <a:pt x="2614387" y="1086416"/>
                  </a:lnTo>
                  <a:lnTo>
                    <a:pt x="2634450" y="1037954"/>
                  </a:lnTo>
                  <a:lnTo>
                    <a:pt x="2654233" y="987255"/>
                  </a:lnTo>
                  <a:lnTo>
                    <a:pt x="2673309" y="934856"/>
                  </a:lnTo>
                  <a:lnTo>
                    <a:pt x="2691255" y="881294"/>
                  </a:lnTo>
                  <a:lnTo>
                    <a:pt x="2707646" y="827106"/>
                  </a:lnTo>
                  <a:lnTo>
                    <a:pt x="2722056" y="772831"/>
                  </a:lnTo>
                  <a:lnTo>
                    <a:pt x="2734061" y="719005"/>
                  </a:lnTo>
                  <a:lnTo>
                    <a:pt x="2743237" y="666166"/>
                  </a:lnTo>
                  <a:lnTo>
                    <a:pt x="2749158" y="614852"/>
                  </a:lnTo>
                  <a:lnTo>
                    <a:pt x="2751401" y="565599"/>
                  </a:lnTo>
                  <a:lnTo>
                    <a:pt x="2749540" y="518945"/>
                  </a:lnTo>
                  <a:lnTo>
                    <a:pt x="2743150" y="475427"/>
                  </a:lnTo>
                  <a:lnTo>
                    <a:pt x="2731807" y="435584"/>
                  </a:lnTo>
                  <a:lnTo>
                    <a:pt x="2715086" y="399951"/>
                  </a:lnTo>
                  <a:lnTo>
                    <a:pt x="2669919" y="341735"/>
                  </a:lnTo>
                  <a:lnTo>
                    <a:pt x="2640527" y="314231"/>
                  </a:lnTo>
                  <a:lnTo>
                    <a:pt x="2607093" y="287804"/>
                  </a:lnTo>
                  <a:lnTo>
                    <a:pt x="2569991" y="262462"/>
                  </a:lnTo>
                  <a:lnTo>
                    <a:pt x="2529594" y="238210"/>
                  </a:lnTo>
                  <a:lnTo>
                    <a:pt x="2486274" y="215053"/>
                  </a:lnTo>
                  <a:lnTo>
                    <a:pt x="2440407" y="193000"/>
                  </a:lnTo>
                  <a:lnTo>
                    <a:pt x="2392364" y="172054"/>
                  </a:lnTo>
                  <a:lnTo>
                    <a:pt x="2342518" y="152224"/>
                  </a:lnTo>
                  <a:lnTo>
                    <a:pt x="2291244" y="133514"/>
                  </a:lnTo>
                  <a:lnTo>
                    <a:pt x="2238914" y="115932"/>
                  </a:lnTo>
                  <a:lnTo>
                    <a:pt x="2185901" y="99483"/>
                  </a:lnTo>
                  <a:lnTo>
                    <a:pt x="2132579" y="84173"/>
                  </a:lnTo>
                  <a:lnTo>
                    <a:pt x="2079321" y="70009"/>
                  </a:lnTo>
                  <a:lnTo>
                    <a:pt x="2026501" y="56996"/>
                  </a:lnTo>
                  <a:lnTo>
                    <a:pt x="1974490" y="45142"/>
                  </a:lnTo>
                  <a:lnTo>
                    <a:pt x="1923664" y="34451"/>
                  </a:lnTo>
                  <a:lnTo>
                    <a:pt x="1874394" y="24931"/>
                  </a:lnTo>
                  <a:lnTo>
                    <a:pt x="1827054" y="16587"/>
                  </a:lnTo>
                  <a:lnTo>
                    <a:pt x="1782017" y="9426"/>
                  </a:lnTo>
                  <a:lnTo>
                    <a:pt x="1730806" y="3355"/>
                  </a:lnTo>
                  <a:lnTo>
                    <a:pt x="1679292" y="311"/>
                  </a:lnTo>
                  <a:lnTo>
                    <a:pt x="1627554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20305" y="5144262"/>
              <a:ext cx="594360" cy="16001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20305" y="5144262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17258" y="5017770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17258" y="50177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52132" y="50657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1829" y="5104638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2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65697" y="5516118"/>
              <a:ext cx="594359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65697" y="5516118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64173" y="5388102"/>
              <a:ext cx="598170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64173" y="5388102"/>
              <a:ext cx="594360" cy="189230"/>
            </a:xfrm>
            <a:custGeom>
              <a:avLst/>
              <a:gdLst/>
              <a:ahLst/>
              <a:cxnLst/>
              <a:rect l="l" t="t" r="r" b="b"/>
              <a:pathLst>
                <a:path w="594359" h="189229">
                  <a:moveTo>
                    <a:pt x="0" y="94488"/>
                  </a:moveTo>
                  <a:lnTo>
                    <a:pt x="30213" y="52929"/>
                  </a:lnTo>
                  <a:lnTo>
                    <a:pt x="65300" y="35385"/>
                  </a:lnTo>
                  <a:lnTo>
                    <a:pt x="111327" y="20753"/>
                  </a:lnTo>
                  <a:lnTo>
                    <a:pt x="166506" y="9601"/>
                  </a:lnTo>
                  <a:lnTo>
                    <a:pt x="229053" y="2494"/>
                  </a:lnTo>
                  <a:lnTo>
                    <a:pt x="297179" y="0"/>
                  </a:lnTo>
                  <a:lnTo>
                    <a:pt x="365306" y="2494"/>
                  </a:lnTo>
                  <a:lnTo>
                    <a:pt x="427853" y="9601"/>
                  </a:lnTo>
                  <a:lnTo>
                    <a:pt x="483032" y="20753"/>
                  </a:lnTo>
                  <a:lnTo>
                    <a:pt x="529059" y="35385"/>
                  </a:lnTo>
                  <a:lnTo>
                    <a:pt x="564146" y="52929"/>
                  </a:lnTo>
                  <a:lnTo>
                    <a:pt x="594359" y="94488"/>
                  </a:lnTo>
                  <a:lnTo>
                    <a:pt x="586508" y="116157"/>
                  </a:lnTo>
                  <a:lnTo>
                    <a:pt x="529059" y="153590"/>
                  </a:lnTo>
                  <a:lnTo>
                    <a:pt x="483032" y="168222"/>
                  </a:lnTo>
                  <a:lnTo>
                    <a:pt x="427853" y="179374"/>
                  </a:lnTo>
                  <a:lnTo>
                    <a:pt x="365306" y="186481"/>
                  </a:lnTo>
                  <a:lnTo>
                    <a:pt x="297179" y="188976"/>
                  </a:lnTo>
                  <a:lnTo>
                    <a:pt x="229053" y="186481"/>
                  </a:lnTo>
                  <a:lnTo>
                    <a:pt x="166506" y="179374"/>
                  </a:lnTo>
                  <a:lnTo>
                    <a:pt x="111327" y="168222"/>
                  </a:lnTo>
                  <a:lnTo>
                    <a:pt x="65300" y="153590"/>
                  </a:lnTo>
                  <a:lnTo>
                    <a:pt x="30213" y="136046"/>
                  </a:lnTo>
                  <a:lnTo>
                    <a:pt x="0" y="94488"/>
                  </a:lnTo>
                  <a:close/>
                </a:path>
                <a:path w="594359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3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97523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67221" y="5474970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5"/>
                  </a:lnTo>
                </a:path>
                <a:path w="591820" h="131445">
                  <a:moveTo>
                    <a:pt x="591311" y="7619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13197" y="5147310"/>
              <a:ext cx="594360" cy="1600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13197" y="5147310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1673" y="5020818"/>
              <a:ext cx="598170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11673" y="5020818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60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60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60" h="187960">
                  <a:moveTo>
                    <a:pt x="118872" y="135635"/>
                  </a:moveTo>
                  <a:lnTo>
                    <a:pt x="223138" y="135635"/>
                  </a:lnTo>
                  <a:lnTo>
                    <a:pt x="327533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45023" y="506882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14721" y="510768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1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63084" y="5132832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>
                  <a:moveTo>
                    <a:pt x="0" y="0"/>
                  </a:moveTo>
                  <a:lnTo>
                    <a:pt x="184404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57955" y="5139690"/>
              <a:ext cx="1590040" cy="5080"/>
            </a:xfrm>
            <a:custGeom>
              <a:avLst/>
              <a:gdLst/>
              <a:ahLst/>
              <a:cxnLst/>
              <a:rect l="l" t="t" r="r" b="b"/>
              <a:pathLst>
                <a:path w="1590039" h="5079">
                  <a:moveTo>
                    <a:pt x="0" y="0"/>
                  </a:moveTo>
                  <a:lnTo>
                    <a:pt x="1589532" y="0"/>
                  </a:lnTo>
                </a:path>
                <a:path w="1590039" h="5079">
                  <a:moveTo>
                    <a:pt x="0" y="4572"/>
                  </a:moveTo>
                  <a:lnTo>
                    <a:pt x="1589532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53811" y="4892040"/>
              <a:ext cx="1976755" cy="1030605"/>
            </a:xfrm>
            <a:custGeom>
              <a:avLst/>
              <a:gdLst/>
              <a:ahLst/>
              <a:cxnLst/>
              <a:rect l="l" t="t" r="r" b="b"/>
              <a:pathLst>
                <a:path w="1976754" h="1030604">
                  <a:moveTo>
                    <a:pt x="256032" y="271272"/>
                  </a:moveTo>
                  <a:lnTo>
                    <a:pt x="723900" y="7620"/>
                  </a:lnTo>
                </a:path>
                <a:path w="1976754" h="1030604">
                  <a:moveTo>
                    <a:pt x="1222247" y="0"/>
                  </a:moveTo>
                  <a:lnTo>
                    <a:pt x="1653539" y="277368"/>
                  </a:lnTo>
                </a:path>
                <a:path w="1976754" h="1030604">
                  <a:moveTo>
                    <a:pt x="156972" y="393192"/>
                  </a:moveTo>
                  <a:lnTo>
                    <a:pt x="637032" y="630936"/>
                  </a:lnTo>
                </a:path>
                <a:path w="1976754" h="1030604">
                  <a:moveTo>
                    <a:pt x="1199388" y="617220"/>
                  </a:moveTo>
                  <a:lnTo>
                    <a:pt x="1758695" y="381000"/>
                  </a:lnTo>
                </a:path>
                <a:path w="1976754" h="1030604">
                  <a:moveTo>
                    <a:pt x="1770888" y="931164"/>
                  </a:moveTo>
                  <a:lnTo>
                    <a:pt x="1976628" y="423672"/>
                  </a:lnTo>
                </a:path>
                <a:path w="1976754" h="1030604">
                  <a:moveTo>
                    <a:pt x="1272539" y="1030224"/>
                  </a:moveTo>
                  <a:lnTo>
                    <a:pt x="536448" y="957072"/>
                  </a:lnTo>
                </a:path>
                <a:path w="1976754" h="1030604">
                  <a:moveTo>
                    <a:pt x="178180" y="838631"/>
                  </a:moveTo>
                  <a:lnTo>
                    <a:pt x="193548" y="842772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87996" y="5228844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09">
                  <a:moveTo>
                    <a:pt x="136245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06846" y="4850130"/>
              <a:ext cx="595883" cy="15849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06846" y="4850130"/>
              <a:ext cx="596265" cy="158750"/>
            </a:xfrm>
            <a:custGeom>
              <a:avLst/>
              <a:gdLst/>
              <a:ahLst/>
              <a:cxnLst/>
              <a:rect l="l" t="t" r="r" b="b"/>
              <a:pathLst>
                <a:path w="596265" h="158750">
                  <a:moveTo>
                    <a:pt x="0" y="79248"/>
                  </a:moveTo>
                  <a:lnTo>
                    <a:pt x="30275" y="44375"/>
                  </a:lnTo>
                  <a:lnTo>
                    <a:pt x="65440" y="29662"/>
                  </a:lnTo>
                  <a:lnTo>
                    <a:pt x="111576" y="17394"/>
                  </a:lnTo>
                  <a:lnTo>
                    <a:pt x="166895" y="8046"/>
                  </a:lnTo>
                  <a:lnTo>
                    <a:pt x="229613" y="2090"/>
                  </a:lnTo>
                  <a:lnTo>
                    <a:pt x="297941" y="0"/>
                  </a:lnTo>
                  <a:lnTo>
                    <a:pt x="366270" y="2090"/>
                  </a:lnTo>
                  <a:lnTo>
                    <a:pt x="428988" y="8046"/>
                  </a:lnTo>
                  <a:lnTo>
                    <a:pt x="484307" y="17394"/>
                  </a:lnTo>
                  <a:lnTo>
                    <a:pt x="530443" y="29662"/>
                  </a:lnTo>
                  <a:lnTo>
                    <a:pt x="565608" y="44375"/>
                  </a:lnTo>
                  <a:lnTo>
                    <a:pt x="595883" y="79248"/>
                  </a:lnTo>
                  <a:lnTo>
                    <a:pt x="588017" y="97433"/>
                  </a:lnTo>
                  <a:lnTo>
                    <a:pt x="530443" y="128833"/>
                  </a:lnTo>
                  <a:lnTo>
                    <a:pt x="484307" y="141101"/>
                  </a:lnTo>
                  <a:lnTo>
                    <a:pt x="428988" y="150449"/>
                  </a:lnTo>
                  <a:lnTo>
                    <a:pt x="366270" y="156405"/>
                  </a:lnTo>
                  <a:lnTo>
                    <a:pt x="297941" y="158496"/>
                  </a:lnTo>
                  <a:lnTo>
                    <a:pt x="229613" y="156405"/>
                  </a:lnTo>
                  <a:lnTo>
                    <a:pt x="166895" y="150449"/>
                  </a:lnTo>
                  <a:lnTo>
                    <a:pt x="111576" y="141101"/>
                  </a:lnTo>
                  <a:lnTo>
                    <a:pt x="65440" y="128833"/>
                  </a:lnTo>
                  <a:lnTo>
                    <a:pt x="30275" y="114120"/>
                  </a:lnTo>
                  <a:lnTo>
                    <a:pt x="0" y="7924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05321" y="4722114"/>
              <a:ext cx="598170" cy="2080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05321" y="4722114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8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2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8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38671" y="47701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08370" y="480898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0"/>
                  </a:moveTo>
                  <a:lnTo>
                    <a:pt x="0" y="12801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61582" y="5849874"/>
              <a:ext cx="594360" cy="16001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61582" y="5849874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5"/>
                  </a:lnTo>
                  <a:lnTo>
                    <a:pt x="65300" y="29969"/>
                  </a:lnTo>
                  <a:lnTo>
                    <a:pt x="111327" y="17578"/>
                  </a:lnTo>
                  <a:lnTo>
                    <a:pt x="166506" y="8133"/>
                  </a:lnTo>
                  <a:lnTo>
                    <a:pt x="229053" y="2113"/>
                  </a:lnTo>
                  <a:lnTo>
                    <a:pt x="297179" y="0"/>
                  </a:lnTo>
                  <a:lnTo>
                    <a:pt x="365306" y="2113"/>
                  </a:lnTo>
                  <a:lnTo>
                    <a:pt x="427853" y="8133"/>
                  </a:lnTo>
                  <a:lnTo>
                    <a:pt x="483032" y="17578"/>
                  </a:lnTo>
                  <a:lnTo>
                    <a:pt x="529059" y="29969"/>
                  </a:lnTo>
                  <a:lnTo>
                    <a:pt x="564146" y="44825"/>
                  </a:lnTo>
                  <a:lnTo>
                    <a:pt x="594360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58534" y="5721858"/>
              <a:ext cx="599694" cy="20802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58534" y="5721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2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4" y="93725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2" y="187451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93408" y="5769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561582" y="5808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342382" y="5802630"/>
              <a:ext cx="594359" cy="15849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42382" y="5802630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60" h="158750">
                  <a:moveTo>
                    <a:pt x="0" y="79248"/>
                  </a:moveTo>
                  <a:lnTo>
                    <a:pt x="30213" y="44398"/>
                  </a:lnTo>
                  <a:lnTo>
                    <a:pt x="111327" y="17410"/>
                  </a:lnTo>
                  <a:lnTo>
                    <a:pt x="166506" y="8055"/>
                  </a:lnTo>
                  <a:lnTo>
                    <a:pt x="229053" y="2093"/>
                  </a:lnTo>
                  <a:lnTo>
                    <a:pt x="297179" y="0"/>
                  </a:lnTo>
                  <a:lnTo>
                    <a:pt x="365306" y="2093"/>
                  </a:lnTo>
                  <a:lnTo>
                    <a:pt x="427853" y="8055"/>
                  </a:lnTo>
                  <a:lnTo>
                    <a:pt x="483032" y="17410"/>
                  </a:lnTo>
                  <a:lnTo>
                    <a:pt x="529059" y="29683"/>
                  </a:lnTo>
                  <a:lnTo>
                    <a:pt x="586508" y="61078"/>
                  </a:lnTo>
                  <a:lnTo>
                    <a:pt x="594359" y="79248"/>
                  </a:lnTo>
                  <a:lnTo>
                    <a:pt x="586508" y="97417"/>
                  </a:lnTo>
                  <a:lnTo>
                    <a:pt x="529059" y="128812"/>
                  </a:lnTo>
                  <a:lnTo>
                    <a:pt x="483032" y="141085"/>
                  </a:lnTo>
                  <a:lnTo>
                    <a:pt x="427853" y="150440"/>
                  </a:lnTo>
                  <a:lnTo>
                    <a:pt x="365306" y="156402"/>
                  </a:lnTo>
                  <a:lnTo>
                    <a:pt x="297179" y="158496"/>
                  </a:lnTo>
                  <a:lnTo>
                    <a:pt x="229053" y="156402"/>
                  </a:lnTo>
                  <a:lnTo>
                    <a:pt x="166506" y="150440"/>
                  </a:lnTo>
                  <a:lnTo>
                    <a:pt x="111327" y="141085"/>
                  </a:lnTo>
                  <a:lnTo>
                    <a:pt x="65300" y="128812"/>
                  </a:lnTo>
                  <a:lnTo>
                    <a:pt x="7851" y="97417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39334" y="5674614"/>
              <a:ext cx="599694" cy="20802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39334" y="56746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6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1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3" y="93726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1" y="187452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6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6" y="48768"/>
                  </a:lnTo>
                  <a:lnTo>
                    <a:pt x="457200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74208" y="57226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342382" y="57614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906011" y="4870704"/>
              <a:ext cx="365760" cy="2712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95444" y="4875276"/>
              <a:ext cx="367284" cy="2712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68440" y="4765548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44184" y="5704332"/>
              <a:ext cx="365760" cy="2712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25084" y="5227320"/>
              <a:ext cx="365760" cy="2712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978140" y="4951476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901942" y="4402912"/>
            <a:ext cx="194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2.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receive</a:t>
            </a:r>
            <a:r>
              <a:rPr sz="1800" spc="-4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18537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189941"/>
            <a:ext cx="925182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>
                <a:latin typeface="Carlito"/>
                <a:cs typeface="Carlito"/>
              </a:rPr>
              <a:t>f</a:t>
            </a:r>
            <a:r>
              <a:rPr sz="4000" i="0" spc="-10" dirty="0">
                <a:latin typeface="Carlito"/>
                <a:cs typeface="Carlito"/>
              </a:rPr>
              <a:t>o</a:t>
            </a:r>
            <a:r>
              <a:rPr sz="4000" i="0" spc="10" dirty="0">
                <a:latin typeface="Carlito"/>
                <a:cs typeface="Carlito"/>
              </a:rPr>
              <a:t>r</a:t>
            </a:r>
            <a:r>
              <a:rPr sz="4000" i="0" spc="-60" dirty="0">
                <a:latin typeface="Carlito"/>
                <a:cs typeface="Carlito"/>
              </a:rPr>
              <a:t>w</a:t>
            </a:r>
            <a:r>
              <a:rPr sz="4000" i="0" spc="-5" dirty="0">
                <a:latin typeface="Carlito"/>
                <a:cs typeface="Carlito"/>
              </a:rPr>
              <a:t>a</a:t>
            </a:r>
            <a:r>
              <a:rPr sz="4000" i="0" spc="-65" dirty="0">
                <a:latin typeface="Carlito"/>
                <a:cs typeface="Carlito"/>
              </a:rPr>
              <a:t>r</a:t>
            </a:r>
            <a:r>
              <a:rPr sz="4000" i="0" spc="-10" dirty="0">
                <a:latin typeface="Carlito"/>
                <a:cs typeface="Carlito"/>
              </a:rPr>
              <a:t>din</a:t>
            </a:r>
            <a:r>
              <a:rPr sz="4000" i="0" spc="-5" dirty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4-14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90873" y="1185417"/>
            <a:ext cx="4445635" cy="4564380"/>
            <a:chOff x="3690873" y="1185417"/>
            <a:chExt cx="4445635" cy="4564380"/>
          </a:xfrm>
        </p:grpSpPr>
        <p:sp>
          <p:nvSpPr>
            <p:cNvPr id="6" name="object 6"/>
            <p:cNvSpPr/>
            <p:nvPr/>
          </p:nvSpPr>
          <p:spPr>
            <a:xfrm>
              <a:off x="5383068" y="4311494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7"/>
                  </a:lnTo>
                  <a:lnTo>
                    <a:pt x="19076" y="895347"/>
                  </a:lnTo>
                  <a:lnTo>
                    <a:pt x="32606" y="948287"/>
                  </a:lnTo>
                  <a:lnTo>
                    <a:pt x="49289" y="999594"/>
                  </a:lnTo>
                  <a:lnTo>
                    <a:pt x="68707" y="1048926"/>
                  </a:lnTo>
                  <a:lnTo>
                    <a:pt x="90440" y="1095941"/>
                  </a:lnTo>
                  <a:lnTo>
                    <a:pt x="114069" y="1140297"/>
                  </a:lnTo>
                  <a:lnTo>
                    <a:pt x="139174" y="1181652"/>
                  </a:lnTo>
                  <a:lnTo>
                    <a:pt x="165337" y="1219664"/>
                  </a:lnTo>
                  <a:lnTo>
                    <a:pt x="192136" y="1253991"/>
                  </a:lnTo>
                  <a:lnTo>
                    <a:pt x="219155" y="1284290"/>
                  </a:lnTo>
                  <a:lnTo>
                    <a:pt x="256275" y="1317444"/>
                  </a:lnTo>
                  <a:lnTo>
                    <a:pt x="295757" y="1342654"/>
                  </a:lnTo>
                  <a:lnTo>
                    <a:pt x="337735" y="1361264"/>
                  </a:lnTo>
                  <a:lnTo>
                    <a:pt x="382340" y="1374622"/>
                  </a:lnTo>
                  <a:lnTo>
                    <a:pt x="429706" y="1384073"/>
                  </a:lnTo>
                  <a:lnTo>
                    <a:pt x="479966" y="1390963"/>
                  </a:lnTo>
                  <a:lnTo>
                    <a:pt x="589695" y="1402445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9"/>
                  </a:lnTo>
                  <a:lnTo>
                    <a:pt x="1635686" y="1436663"/>
                  </a:lnTo>
                  <a:lnTo>
                    <a:pt x="1747417" y="1434767"/>
                  </a:lnTo>
                  <a:lnTo>
                    <a:pt x="1802947" y="1433435"/>
                  </a:lnTo>
                  <a:lnTo>
                    <a:pt x="1857687" y="1431809"/>
                  </a:lnTo>
                  <a:lnTo>
                    <a:pt x="1911212" y="1429858"/>
                  </a:lnTo>
                  <a:lnTo>
                    <a:pt x="1963099" y="1427555"/>
                  </a:lnTo>
                  <a:lnTo>
                    <a:pt x="2012922" y="1424870"/>
                  </a:lnTo>
                  <a:lnTo>
                    <a:pt x="2060256" y="1421774"/>
                  </a:lnTo>
                  <a:lnTo>
                    <a:pt x="2104678" y="1418237"/>
                  </a:lnTo>
                  <a:lnTo>
                    <a:pt x="2145761" y="1414232"/>
                  </a:lnTo>
                  <a:lnTo>
                    <a:pt x="2183083" y="1409728"/>
                  </a:lnTo>
                  <a:lnTo>
                    <a:pt x="2244634" y="1403584"/>
                  </a:lnTo>
                  <a:lnTo>
                    <a:pt x="2296849" y="1401400"/>
                  </a:lnTo>
                  <a:lnTo>
                    <a:pt x="2341216" y="1400550"/>
                  </a:lnTo>
                  <a:lnTo>
                    <a:pt x="2379228" y="1398408"/>
                  </a:lnTo>
                  <a:lnTo>
                    <a:pt x="2442144" y="1379739"/>
                  </a:lnTo>
                  <a:lnTo>
                    <a:pt x="2497521" y="1324382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00365" y="4812029"/>
              <a:ext cx="594359" cy="1584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4812029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59" h="158750">
                  <a:moveTo>
                    <a:pt x="0" y="79248"/>
                  </a:moveTo>
                  <a:lnTo>
                    <a:pt x="30213" y="44375"/>
                  </a:lnTo>
                  <a:lnTo>
                    <a:pt x="111327" y="17394"/>
                  </a:lnTo>
                  <a:lnTo>
                    <a:pt x="166506" y="8046"/>
                  </a:lnTo>
                  <a:lnTo>
                    <a:pt x="229053" y="2090"/>
                  </a:lnTo>
                  <a:lnTo>
                    <a:pt x="297179" y="0"/>
                  </a:lnTo>
                  <a:lnTo>
                    <a:pt x="365306" y="2090"/>
                  </a:lnTo>
                  <a:lnTo>
                    <a:pt x="427853" y="8046"/>
                  </a:lnTo>
                  <a:lnTo>
                    <a:pt x="483032" y="17394"/>
                  </a:lnTo>
                  <a:lnTo>
                    <a:pt x="529059" y="29662"/>
                  </a:lnTo>
                  <a:lnTo>
                    <a:pt x="586508" y="61062"/>
                  </a:lnTo>
                  <a:lnTo>
                    <a:pt x="594359" y="79248"/>
                  </a:lnTo>
                  <a:lnTo>
                    <a:pt x="586508" y="97433"/>
                  </a:lnTo>
                  <a:lnTo>
                    <a:pt x="529059" y="128833"/>
                  </a:lnTo>
                  <a:lnTo>
                    <a:pt x="483032" y="141101"/>
                  </a:lnTo>
                  <a:lnTo>
                    <a:pt x="427853" y="150449"/>
                  </a:lnTo>
                  <a:lnTo>
                    <a:pt x="365306" y="156405"/>
                  </a:lnTo>
                  <a:lnTo>
                    <a:pt x="297179" y="158496"/>
                  </a:lnTo>
                  <a:lnTo>
                    <a:pt x="229053" y="156405"/>
                  </a:lnTo>
                  <a:lnTo>
                    <a:pt x="166506" y="150449"/>
                  </a:lnTo>
                  <a:lnTo>
                    <a:pt x="111327" y="141101"/>
                  </a:lnTo>
                  <a:lnTo>
                    <a:pt x="65300" y="128833"/>
                  </a:lnTo>
                  <a:lnTo>
                    <a:pt x="7851" y="97433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317" y="4684014"/>
              <a:ext cx="599693" cy="2080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97317" y="46840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30667" y="47320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0365" y="47708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6"/>
                  </a:lnTo>
                </a:path>
                <a:path w="593090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45757" y="5182361"/>
              <a:ext cx="594360" cy="1600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5757" y="5182361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2709" y="5055870"/>
              <a:ext cx="599693" cy="2080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2709" y="50558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5" y="135635"/>
                  </a:moveTo>
                  <a:lnTo>
                    <a:pt x="224282" y="135635"/>
                  </a:lnTo>
                  <a:lnTo>
                    <a:pt x="328040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583" y="51038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45757" y="5142738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6492"/>
                  </a:lnTo>
                </a:path>
                <a:path w="593090" h="131445">
                  <a:moveTo>
                    <a:pt x="592836" y="6095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93257" y="4815077"/>
              <a:ext cx="594359" cy="160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93257" y="48150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0209" y="4687061"/>
              <a:ext cx="599694" cy="20802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0209" y="46870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281" y="135636"/>
                  </a:lnTo>
                  <a:lnTo>
                    <a:pt x="328040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5083" y="47350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3257" y="4773929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47" y="4559808"/>
              <a:ext cx="1978660" cy="1030605"/>
            </a:xfrm>
            <a:custGeom>
              <a:avLst/>
              <a:gdLst/>
              <a:ahLst/>
              <a:cxnLst/>
              <a:rect l="l" t="t" r="r" b="b"/>
              <a:pathLst>
                <a:path w="1978659" h="1030604">
                  <a:moveTo>
                    <a:pt x="257555" y="269748"/>
                  </a:moveTo>
                  <a:lnTo>
                    <a:pt x="723900" y="6096"/>
                  </a:lnTo>
                </a:path>
                <a:path w="1978659" h="1030604">
                  <a:moveTo>
                    <a:pt x="1222248" y="0"/>
                  </a:moveTo>
                  <a:lnTo>
                    <a:pt x="1655063" y="275844"/>
                  </a:lnTo>
                </a:path>
                <a:path w="1978659" h="1030604">
                  <a:moveTo>
                    <a:pt x="156972" y="391668"/>
                  </a:moveTo>
                  <a:lnTo>
                    <a:pt x="638555" y="629412"/>
                  </a:lnTo>
                </a:path>
                <a:path w="1978659" h="1030604">
                  <a:moveTo>
                    <a:pt x="1200911" y="615696"/>
                  </a:moveTo>
                  <a:lnTo>
                    <a:pt x="1758696" y="381000"/>
                  </a:lnTo>
                </a:path>
                <a:path w="1978659" h="1030604">
                  <a:moveTo>
                    <a:pt x="1772411" y="929640"/>
                  </a:moveTo>
                  <a:lnTo>
                    <a:pt x="1978152" y="422148"/>
                  </a:lnTo>
                </a:path>
                <a:path w="1978659" h="1030604">
                  <a:moveTo>
                    <a:pt x="1274063" y="1030224"/>
                  </a:moveTo>
                  <a:lnTo>
                    <a:pt x="536448" y="955548"/>
                  </a:lnTo>
                </a:path>
                <a:path w="1978659" h="1030604">
                  <a:moveTo>
                    <a:pt x="178180" y="837057"/>
                  </a:moveTo>
                  <a:lnTo>
                    <a:pt x="193548" y="841248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86905" y="4516373"/>
              <a:ext cx="594360" cy="1600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6905" y="4516373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3857" y="4388357"/>
              <a:ext cx="599693" cy="20802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3857" y="438835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7" y="48768"/>
                  </a:lnTo>
                  <a:lnTo>
                    <a:pt x="457199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8731" y="44363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8429" y="447522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6"/>
                  </a:lnTo>
                </a:path>
                <a:path w="591820" h="131445">
                  <a:moveTo>
                    <a:pt x="591312" y="7619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40117" y="5516117"/>
              <a:ext cx="595883" cy="1600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40117" y="5516117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1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38594" y="5388102"/>
              <a:ext cx="598169" cy="20802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38594" y="5388102"/>
              <a:ext cx="596265" cy="189230"/>
            </a:xfrm>
            <a:custGeom>
              <a:avLst/>
              <a:gdLst/>
              <a:ahLst/>
              <a:cxnLst/>
              <a:rect l="l" t="t" r="r" b="b"/>
              <a:pathLst>
                <a:path w="596265" h="189229">
                  <a:moveTo>
                    <a:pt x="0" y="94488"/>
                  </a:moveTo>
                  <a:lnTo>
                    <a:pt x="30275" y="52929"/>
                  </a:lnTo>
                  <a:lnTo>
                    <a:pt x="65440" y="35385"/>
                  </a:lnTo>
                  <a:lnTo>
                    <a:pt x="111576" y="20753"/>
                  </a:lnTo>
                  <a:lnTo>
                    <a:pt x="166895" y="9601"/>
                  </a:lnTo>
                  <a:lnTo>
                    <a:pt x="229613" y="2494"/>
                  </a:lnTo>
                  <a:lnTo>
                    <a:pt x="297941" y="0"/>
                  </a:lnTo>
                  <a:lnTo>
                    <a:pt x="366270" y="2494"/>
                  </a:lnTo>
                  <a:lnTo>
                    <a:pt x="428988" y="9601"/>
                  </a:lnTo>
                  <a:lnTo>
                    <a:pt x="484307" y="20753"/>
                  </a:lnTo>
                  <a:lnTo>
                    <a:pt x="530443" y="35385"/>
                  </a:lnTo>
                  <a:lnTo>
                    <a:pt x="565608" y="52929"/>
                  </a:lnTo>
                  <a:lnTo>
                    <a:pt x="595883" y="94488"/>
                  </a:lnTo>
                  <a:lnTo>
                    <a:pt x="588017" y="116157"/>
                  </a:lnTo>
                  <a:lnTo>
                    <a:pt x="530443" y="153590"/>
                  </a:lnTo>
                  <a:lnTo>
                    <a:pt x="484307" y="168222"/>
                  </a:lnTo>
                  <a:lnTo>
                    <a:pt x="428988" y="179374"/>
                  </a:lnTo>
                  <a:lnTo>
                    <a:pt x="366270" y="186481"/>
                  </a:lnTo>
                  <a:lnTo>
                    <a:pt x="297941" y="188976"/>
                  </a:lnTo>
                  <a:lnTo>
                    <a:pt x="229613" y="186481"/>
                  </a:lnTo>
                  <a:lnTo>
                    <a:pt x="166895" y="179374"/>
                  </a:lnTo>
                  <a:lnTo>
                    <a:pt x="111576" y="168222"/>
                  </a:lnTo>
                  <a:lnTo>
                    <a:pt x="65440" y="153590"/>
                  </a:lnTo>
                  <a:lnTo>
                    <a:pt x="30275" y="136046"/>
                  </a:lnTo>
                  <a:lnTo>
                    <a:pt x="0" y="94488"/>
                  </a:lnTo>
                  <a:close/>
                </a:path>
                <a:path w="596265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71944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1641" y="5474970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5" y="7619"/>
                  </a:moveTo>
                  <a:lnTo>
                    <a:pt x="592835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0917" y="5468873"/>
              <a:ext cx="595884" cy="16001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20917" y="54688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4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2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4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2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9394" y="5340858"/>
              <a:ext cx="598169" cy="20802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9394" y="5340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18871" y="135635"/>
                  </a:moveTo>
                  <a:lnTo>
                    <a:pt x="223138" y="135635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52744" y="5388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3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22441" y="5427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5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21251" y="3520439"/>
              <a:ext cx="2290572" cy="126664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2529840" y="0"/>
                  </a:moveTo>
                  <a:lnTo>
                    <a:pt x="0" y="0"/>
                  </a:lnTo>
                  <a:lnTo>
                    <a:pt x="0" y="2334768"/>
                  </a:lnTo>
                  <a:lnTo>
                    <a:pt x="2529840" y="2334768"/>
                  </a:lnTo>
                  <a:lnTo>
                    <a:pt x="25298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0" y="2334768"/>
                  </a:moveTo>
                  <a:lnTo>
                    <a:pt x="2529840" y="2334768"/>
                  </a:lnTo>
                  <a:lnTo>
                    <a:pt x="2529840" y="0"/>
                  </a:lnTo>
                  <a:lnTo>
                    <a:pt x="0" y="0"/>
                  </a:lnTo>
                  <a:lnTo>
                    <a:pt x="0" y="233476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1047750" y="0"/>
                  </a:moveTo>
                  <a:lnTo>
                    <a:pt x="976019" y="697"/>
                  </a:lnTo>
                  <a:lnTo>
                    <a:pt x="905585" y="2760"/>
                  </a:lnTo>
                  <a:lnTo>
                    <a:pt x="836604" y="6143"/>
                  </a:lnTo>
                  <a:lnTo>
                    <a:pt x="769231" y="10802"/>
                  </a:lnTo>
                  <a:lnTo>
                    <a:pt x="703624" y="16690"/>
                  </a:lnTo>
                  <a:lnTo>
                    <a:pt x="639937" y="23764"/>
                  </a:lnTo>
                  <a:lnTo>
                    <a:pt x="578327" y="31979"/>
                  </a:lnTo>
                  <a:lnTo>
                    <a:pt x="518950" y="41289"/>
                  </a:lnTo>
                  <a:lnTo>
                    <a:pt x="461962" y="51649"/>
                  </a:lnTo>
                  <a:lnTo>
                    <a:pt x="407520" y="63014"/>
                  </a:lnTo>
                  <a:lnTo>
                    <a:pt x="355779" y="75340"/>
                  </a:lnTo>
                  <a:lnTo>
                    <a:pt x="306895" y="88582"/>
                  </a:lnTo>
                  <a:lnTo>
                    <a:pt x="261025" y="102694"/>
                  </a:lnTo>
                  <a:lnTo>
                    <a:pt x="218325" y="117631"/>
                  </a:lnTo>
                  <a:lnTo>
                    <a:pt x="178950" y="133350"/>
                  </a:lnTo>
                  <a:lnTo>
                    <a:pt x="143058" y="149803"/>
                  </a:lnTo>
                  <a:lnTo>
                    <a:pt x="82343" y="184737"/>
                  </a:lnTo>
                  <a:lnTo>
                    <a:pt x="37429" y="222073"/>
                  </a:lnTo>
                  <a:lnTo>
                    <a:pt x="9565" y="261452"/>
                  </a:lnTo>
                  <a:lnTo>
                    <a:pt x="0" y="302514"/>
                  </a:lnTo>
                  <a:lnTo>
                    <a:pt x="2417" y="323232"/>
                  </a:lnTo>
                  <a:lnTo>
                    <a:pt x="21288" y="363497"/>
                  </a:lnTo>
                  <a:lnTo>
                    <a:pt x="57833" y="401900"/>
                  </a:lnTo>
                  <a:lnTo>
                    <a:pt x="110803" y="438080"/>
                  </a:lnTo>
                  <a:lnTo>
                    <a:pt x="178950" y="471677"/>
                  </a:lnTo>
                  <a:lnTo>
                    <a:pt x="218325" y="487396"/>
                  </a:lnTo>
                  <a:lnTo>
                    <a:pt x="261025" y="502333"/>
                  </a:lnTo>
                  <a:lnTo>
                    <a:pt x="306895" y="516445"/>
                  </a:lnTo>
                  <a:lnTo>
                    <a:pt x="355779" y="529687"/>
                  </a:lnTo>
                  <a:lnTo>
                    <a:pt x="407520" y="542013"/>
                  </a:lnTo>
                  <a:lnTo>
                    <a:pt x="461962" y="553378"/>
                  </a:lnTo>
                  <a:lnTo>
                    <a:pt x="518950" y="563738"/>
                  </a:lnTo>
                  <a:lnTo>
                    <a:pt x="578327" y="573048"/>
                  </a:lnTo>
                  <a:lnTo>
                    <a:pt x="639937" y="581263"/>
                  </a:lnTo>
                  <a:lnTo>
                    <a:pt x="703624" y="588337"/>
                  </a:lnTo>
                  <a:lnTo>
                    <a:pt x="769231" y="594225"/>
                  </a:lnTo>
                  <a:lnTo>
                    <a:pt x="836604" y="598884"/>
                  </a:lnTo>
                  <a:lnTo>
                    <a:pt x="905585" y="602267"/>
                  </a:lnTo>
                  <a:lnTo>
                    <a:pt x="976019" y="604330"/>
                  </a:lnTo>
                  <a:lnTo>
                    <a:pt x="1047750" y="605028"/>
                  </a:lnTo>
                  <a:lnTo>
                    <a:pt x="1119480" y="604330"/>
                  </a:lnTo>
                  <a:lnTo>
                    <a:pt x="1189914" y="602267"/>
                  </a:lnTo>
                  <a:lnTo>
                    <a:pt x="1258895" y="598884"/>
                  </a:lnTo>
                  <a:lnTo>
                    <a:pt x="1326268" y="594225"/>
                  </a:lnTo>
                  <a:lnTo>
                    <a:pt x="1391875" y="588337"/>
                  </a:lnTo>
                  <a:lnTo>
                    <a:pt x="1455562" y="581263"/>
                  </a:lnTo>
                  <a:lnTo>
                    <a:pt x="1517172" y="573048"/>
                  </a:lnTo>
                  <a:lnTo>
                    <a:pt x="1576549" y="563738"/>
                  </a:lnTo>
                  <a:lnTo>
                    <a:pt x="1633537" y="553378"/>
                  </a:lnTo>
                  <a:lnTo>
                    <a:pt x="1687979" y="542013"/>
                  </a:lnTo>
                  <a:lnTo>
                    <a:pt x="1739720" y="529687"/>
                  </a:lnTo>
                  <a:lnTo>
                    <a:pt x="1788604" y="516445"/>
                  </a:lnTo>
                  <a:lnTo>
                    <a:pt x="1834474" y="502333"/>
                  </a:lnTo>
                  <a:lnTo>
                    <a:pt x="1877174" y="487396"/>
                  </a:lnTo>
                  <a:lnTo>
                    <a:pt x="1916549" y="471677"/>
                  </a:lnTo>
                  <a:lnTo>
                    <a:pt x="1952441" y="455224"/>
                  </a:lnTo>
                  <a:lnTo>
                    <a:pt x="2013156" y="420290"/>
                  </a:lnTo>
                  <a:lnTo>
                    <a:pt x="2058070" y="382954"/>
                  </a:lnTo>
                  <a:lnTo>
                    <a:pt x="2085934" y="343575"/>
                  </a:lnTo>
                  <a:lnTo>
                    <a:pt x="2095500" y="302514"/>
                  </a:lnTo>
                  <a:lnTo>
                    <a:pt x="2093082" y="281795"/>
                  </a:lnTo>
                  <a:lnTo>
                    <a:pt x="2074211" y="241530"/>
                  </a:lnTo>
                  <a:lnTo>
                    <a:pt x="2037666" y="203127"/>
                  </a:lnTo>
                  <a:lnTo>
                    <a:pt x="1984696" y="166947"/>
                  </a:lnTo>
                  <a:lnTo>
                    <a:pt x="1916549" y="133350"/>
                  </a:lnTo>
                  <a:lnTo>
                    <a:pt x="1877174" y="117631"/>
                  </a:lnTo>
                  <a:lnTo>
                    <a:pt x="1834474" y="102694"/>
                  </a:lnTo>
                  <a:lnTo>
                    <a:pt x="1788604" y="88582"/>
                  </a:lnTo>
                  <a:lnTo>
                    <a:pt x="1739720" y="75340"/>
                  </a:lnTo>
                  <a:lnTo>
                    <a:pt x="1687979" y="63014"/>
                  </a:lnTo>
                  <a:lnTo>
                    <a:pt x="1633537" y="51649"/>
                  </a:lnTo>
                  <a:lnTo>
                    <a:pt x="1576549" y="41289"/>
                  </a:lnTo>
                  <a:lnTo>
                    <a:pt x="1517172" y="31979"/>
                  </a:lnTo>
                  <a:lnTo>
                    <a:pt x="1455562" y="23764"/>
                  </a:lnTo>
                  <a:lnTo>
                    <a:pt x="1391875" y="16690"/>
                  </a:lnTo>
                  <a:lnTo>
                    <a:pt x="1326268" y="10802"/>
                  </a:lnTo>
                  <a:lnTo>
                    <a:pt x="1258895" y="6143"/>
                  </a:lnTo>
                  <a:lnTo>
                    <a:pt x="1189914" y="2760"/>
                  </a:lnTo>
                  <a:lnTo>
                    <a:pt x="1119480" y="697"/>
                  </a:lnTo>
                  <a:lnTo>
                    <a:pt x="1047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0" y="302514"/>
                  </a:moveTo>
                  <a:lnTo>
                    <a:pt x="9565" y="261452"/>
                  </a:lnTo>
                  <a:lnTo>
                    <a:pt x="37429" y="222073"/>
                  </a:lnTo>
                  <a:lnTo>
                    <a:pt x="82343" y="184737"/>
                  </a:lnTo>
                  <a:lnTo>
                    <a:pt x="143058" y="149803"/>
                  </a:lnTo>
                  <a:lnTo>
                    <a:pt x="178950" y="133350"/>
                  </a:lnTo>
                  <a:lnTo>
                    <a:pt x="218325" y="117631"/>
                  </a:lnTo>
                  <a:lnTo>
                    <a:pt x="261025" y="102694"/>
                  </a:lnTo>
                  <a:lnTo>
                    <a:pt x="306895" y="88582"/>
                  </a:lnTo>
                  <a:lnTo>
                    <a:pt x="355779" y="75340"/>
                  </a:lnTo>
                  <a:lnTo>
                    <a:pt x="407520" y="63014"/>
                  </a:lnTo>
                  <a:lnTo>
                    <a:pt x="461962" y="51649"/>
                  </a:lnTo>
                  <a:lnTo>
                    <a:pt x="518950" y="41289"/>
                  </a:lnTo>
                  <a:lnTo>
                    <a:pt x="578327" y="31979"/>
                  </a:lnTo>
                  <a:lnTo>
                    <a:pt x="639937" y="23764"/>
                  </a:lnTo>
                  <a:lnTo>
                    <a:pt x="703624" y="16690"/>
                  </a:lnTo>
                  <a:lnTo>
                    <a:pt x="769231" y="10802"/>
                  </a:lnTo>
                  <a:lnTo>
                    <a:pt x="836604" y="6143"/>
                  </a:lnTo>
                  <a:lnTo>
                    <a:pt x="905585" y="2760"/>
                  </a:lnTo>
                  <a:lnTo>
                    <a:pt x="976019" y="697"/>
                  </a:lnTo>
                  <a:lnTo>
                    <a:pt x="1047750" y="0"/>
                  </a:lnTo>
                  <a:lnTo>
                    <a:pt x="1119480" y="697"/>
                  </a:lnTo>
                  <a:lnTo>
                    <a:pt x="1189914" y="2760"/>
                  </a:lnTo>
                  <a:lnTo>
                    <a:pt x="1258895" y="6143"/>
                  </a:lnTo>
                  <a:lnTo>
                    <a:pt x="1326268" y="10802"/>
                  </a:lnTo>
                  <a:lnTo>
                    <a:pt x="1391875" y="16690"/>
                  </a:lnTo>
                  <a:lnTo>
                    <a:pt x="1455562" y="23764"/>
                  </a:lnTo>
                  <a:lnTo>
                    <a:pt x="1517172" y="31979"/>
                  </a:lnTo>
                  <a:lnTo>
                    <a:pt x="1576549" y="41289"/>
                  </a:lnTo>
                  <a:lnTo>
                    <a:pt x="1633537" y="51649"/>
                  </a:lnTo>
                  <a:lnTo>
                    <a:pt x="1687979" y="63014"/>
                  </a:lnTo>
                  <a:lnTo>
                    <a:pt x="1739720" y="75340"/>
                  </a:lnTo>
                  <a:lnTo>
                    <a:pt x="1788604" y="88582"/>
                  </a:lnTo>
                  <a:lnTo>
                    <a:pt x="1834474" y="102694"/>
                  </a:lnTo>
                  <a:lnTo>
                    <a:pt x="1877174" y="117631"/>
                  </a:lnTo>
                  <a:lnTo>
                    <a:pt x="1916549" y="133350"/>
                  </a:lnTo>
                  <a:lnTo>
                    <a:pt x="1952441" y="149803"/>
                  </a:lnTo>
                  <a:lnTo>
                    <a:pt x="2013156" y="184737"/>
                  </a:lnTo>
                  <a:lnTo>
                    <a:pt x="2058070" y="222073"/>
                  </a:lnTo>
                  <a:lnTo>
                    <a:pt x="2085934" y="261452"/>
                  </a:lnTo>
                  <a:lnTo>
                    <a:pt x="2095500" y="302514"/>
                  </a:lnTo>
                  <a:lnTo>
                    <a:pt x="2093082" y="323232"/>
                  </a:lnTo>
                  <a:lnTo>
                    <a:pt x="2074211" y="363497"/>
                  </a:lnTo>
                  <a:lnTo>
                    <a:pt x="2037666" y="401900"/>
                  </a:lnTo>
                  <a:lnTo>
                    <a:pt x="1984696" y="438080"/>
                  </a:lnTo>
                  <a:lnTo>
                    <a:pt x="1916549" y="471677"/>
                  </a:lnTo>
                  <a:lnTo>
                    <a:pt x="1877174" y="487396"/>
                  </a:lnTo>
                  <a:lnTo>
                    <a:pt x="1834474" y="502333"/>
                  </a:lnTo>
                  <a:lnTo>
                    <a:pt x="1788604" y="516445"/>
                  </a:lnTo>
                  <a:lnTo>
                    <a:pt x="1739720" y="529687"/>
                  </a:lnTo>
                  <a:lnTo>
                    <a:pt x="1687979" y="542013"/>
                  </a:lnTo>
                  <a:lnTo>
                    <a:pt x="1633537" y="553378"/>
                  </a:lnTo>
                  <a:lnTo>
                    <a:pt x="1576549" y="563738"/>
                  </a:lnTo>
                  <a:lnTo>
                    <a:pt x="1517172" y="573048"/>
                  </a:lnTo>
                  <a:lnTo>
                    <a:pt x="1455562" y="581263"/>
                  </a:lnTo>
                  <a:lnTo>
                    <a:pt x="1391875" y="588337"/>
                  </a:lnTo>
                  <a:lnTo>
                    <a:pt x="1326268" y="594225"/>
                  </a:lnTo>
                  <a:lnTo>
                    <a:pt x="1258895" y="598884"/>
                  </a:lnTo>
                  <a:lnTo>
                    <a:pt x="1189914" y="602267"/>
                  </a:lnTo>
                  <a:lnTo>
                    <a:pt x="1119480" y="604330"/>
                  </a:lnTo>
                  <a:lnTo>
                    <a:pt x="1047750" y="605028"/>
                  </a:lnTo>
                  <a:lnTo>
                    <a:pt x="976019" y="604330"/>
                  </a:lnTo>
                  <a:lnTo>
                    <a:pt x="905585" y="602267"/>
                  </a:lnTo>
                  <a:lnTo>
                    <a:pt x="836604" y="598884"/>
                  </a:lnTo>
                  <a:lnTo>
                    <a:pt x="769231" y="594225"/>
                  </a:lnTo>
                  <a:lnTo>
                    <a:pt x="703624" y="588337"/>
                  </a:lnTo>
                  <a:lnTo>
                    <a:pt x="639937" y="581263"/>
                  </a:lnTo>
                  <a:lnTo>
                    <a:pt x="578327" y="573048"/>
                  </a:lnTo>
                  <a:lnTo>
                    <a:pt x="518950" y="563738"/>
                  </a:lnTo>
                  <a:lnTo>
                    <a:pt x="461962" y="553378"/>
                  </a:lnTo>
                  <a:lnTo>
                    <a:pt x="407520" y="542013"/>
                  </a:lnTo>
                  <a:lnTo>
                    <a:pt x="355779" y="529687"/>
                  </a:lnTo>
                  <a:lnTo>
                    <a:pt x="306895" y="516445"/>
                  </a:lnTo>
                  <a:lnTo>
                    <a:pt x="261025" y="502333"/>
                  </a:lnTo>
                  <a:lnTo>
                    <a:pt x="218325" y="487396"/>
                  </a:lnTo>
                  <a:lnTo>
                    <a:pt x="178950" y="471677"/>
                  </a:lnTo>
                  <a:lnTo>
                    <a:pt x="143058" y="455224"/>
                  </a:lnTo>
                  <a:lnTo>
                    <a:pt x="82343" y="420290"/>
                  </a:lnTo>
                  <a:lnTo>
                    <a:pt x="37429" y="382954"/>
                  </a:lnTo>
                  <a:lnTo>
                    <a:pt x="9565" y="343575"/>
                  </a:lnTo>
                  <a:lnTo>
                    <a:pt x="0" y="30251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82212" y="4584191"/>
              <a:ext cx="1155700" cy="239395"/>
            </a:xfrm>
            <a:custGeom>
              <a:avLst/>
              <a:gdLst/>
              <a:ahLst/>
              <a:cxnLst/>
              <a:rect l="l" t="t" r="r" b="b"/>
              <a:pathLst>
                <a:path w="1155700" h="239395">
                  <a:moveTo>
                    <a:pt x="1155192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0" y="239268"/>
                  </a:lnTo>
                  <a:lnTo>
                    <a:pt x="1155192" y="239268"/>
                  </a:lnTo>
                  <a:lnTo>
                    <a:pt x="1155192" y="24384"/>
                  </a:lnTo>
                  <a:lnTo>
                    <a:pt x="115519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1147572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147572" y="237744"/>
                  </a:lnTo>
                  <a:lnTo>
                    <a:pt x="114757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0" y="237744"/>
                  </a:moveTo>
                  <a:lnTo>
                    <a:pt x="1147572" y="237744"/>
                  </a:lnTo>
                  <a:lnTo>
                    <a:pt x="1147572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83479" y="4701539"/>
              <a:ext cx="422275" cy="76200"/>
            </a:xfrm>
            <a:custGeom>
              <a:avLst/>
              <a:gdLst/>
              <a:ahLst/>
              <a:cxnLst/>
              <a:rect l="l" t="t" r="r" b="b"/>
              <a:pathLst>
                <a:path w="422275" h="76200">
                  <a:moveTo>
                    <a:pt x="345948" y="0"/>
                  </a:moveTo>
                  <a:lnTo>
                    <a:pt x="345948" y="76200"/>
                  </a:lnTo>
                  <a:lnTo>
                    <a:pt x="409448" y="44450"/>
                  </a:lnTo>
                  <a:lnTo>
                    <a:pt x="358648" y="44450"/>
                  </a:lnTo>
                  <a:lnTo>
                    <a:pt x="358648" y="31750"/>
                  </a:lnTo>
                  <a:lnTo>
                    <a:pt x="409448" y="31750"/>
                  </a:lnTo>
                  <a:lnTo>
                    <a:pt x="345948" y="0"/>
                  </a:lnTo>
                  <a:close/>
                </a:path>
                <a:path w="422275" h="76200">
                  <a:moveTo>
                    <a:pt x="34594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45948" y="44450"/>
                  </a:lnTo>
                  <a:lnTo>
                    <a:pt x="345948" y="31750"/>
                  </a:lnTo>
                  <a:close/>
                </a:path>
                <a:path w="422275" h="76200">
                  <a:moveTo>
                    <a:pt x="409448" y="31750"/>
                  </a:moveTo>
                  <a:lnTo>
                    <a:pt x="358648" y="31750"/>
                  </a:lnTo>
                  <a:lnTo>
                    <a:pt x="358648" y="44450"/>
                  </a:lnTo>
                  <a:lnTo>
                    <a:pt x="409448" y="44450"/>
                  </a:lnTo>
                  <a:lnTo>
                    <a:pt x="422148" y="38100"/>
                  </a:lnTo>
                  <a:lnTo>
                    <a:pt x="409448" y="317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428243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428243" y="239268"/>
                  </a:lnTo>
                  <a:lnTo>
                    <a:pt x="42824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0" y="239268"/>
                  </a:moveTo>
                  <a:lnTo>
                    <a:pt x="428243" y="239268"/>
                  </a:lnTo>
                  <a:lnTo>
                    <a:pt x="428243" y="0"/>
                  </a:lnTo>
                  <a:lnTo>
                    <a:pt x="0" y="0"/>
                  </a:lnTo>
                  <a:lnTo>
                    <a:pt x="0" y="23926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01823" y="3934714"/>
            <a:ext cx="3291204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IP </a:t>
            </a:r>
            <a:r>
              <a:rPr sz="1600" spc="-10" dirty="0">
                <a:latin typeface="Carlito"/>
                <a:cs typeface="Carlito"/>
              </a:rPr>
              <a:t>destination address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in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600" spc="-5" dirty="0">
                <a:latin typeface="Carlito"/>
                <a:cs typeface="Carlito"/>
              </a:rPr>
              <a:t>arriving </a:t>
            </a:r>
            <a:r>
              <a:rPr sz="1600" spc="-114" dirty="0">
                <a:latin typeface="Carlito"/>
                <a:cs typeface="Carlito"/>
              </a:rPr>
              <a:t>packet</a:t>
            </a:r>
            <a:r>
              <a:rPr sz="1600" spc="-114" dirty="0">
                <a:latin typeface="AoyagiKouzanFontT"/>
                <a:cs typeface="AoyagiKouzanFontT"/>
              </a:rPr>
              <a:t>’</a:t>
            </a:r>
            <a:r>
              <a:rPr sz="1600" spc="-114" dirty="0">
                <a:latin typeface="Carlito"/>
                <a:cs typeface="Carlito"/>
              </a:rPr>
              <a:t>s</a:t>
            </a:r>
            <a:r>
              <a:rPr sz="1600" spc="-6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header</a:t>
            </a:r>
            <a:endParaRPr sz="1600">
              <a:latin typeface="Carlito"/>
              <a:cs typeface="Carlito"/>
            </a:endParaRPr>
          </a:p>
          <a:p>
            <a:pPr marL="31623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Carlito"/>
                <a:cs typeface="Carlito"/>
              </a:rPr>
              <a:t>1</a:t>
            </a:r>
            <a:endParaRPr sz="1800">
              <a:latin typeface="Carlito"/>
              <a:cs typeface="Carlito"/>
            </a:endParaRPr>
          </a:p>
          <a:p>
            <a:pPr marR="92710" algn="r">
              <a:lnSpc>
                <a:spcPct val="100000"/>
              </a:lnSpc>
              <a:spcBef>
                <a:spcPts val="1400"/>
              </a:spcBef>
              <a:tabLst>
                <a:tab pos="272415" algn="l"/>
              </a:tabLst>
            </a:pPr>
            <a:r>
              <a:rPr sz="2400" spc="-7" baseline="1736" dirty="0">
                <a:latin typeface="Carlito"/>
                <a:cs typeface="Carlito"/>
              </a:rPr>
              <a:t>3	</a:t>
            </a: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04715" y="487070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>
                <a:moveTo>
                  <a:pt x="1350264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451350" y="1425651"/>
            <a:ext cx="12928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rlito"/>
                <a:cs typeface="Carlito"/>
              </a:rPr>
              <a:t>routing</a:t>
            </a:r>
            <a:r>
              <a:rPr sz="1400" spc="-45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algorithm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3907535" y="2136648"/>
          <a:ext cx="2183764" cy="1298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 gridSpan="2">
                  <a:txBody>
                    <a:bodyPr/>
                    <a:lstStyle/>
                    <a:p>
                      <a:pPr marL="351155">
                        <a:lnSpc>
                          <a:spcPts val="1664"/>
                        </a:lnSpc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local forwarding</a:t>
                      </a:r>
                      <a:r>
                        <a:rPr sz="14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table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12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dest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address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output</a:t>
                      </a:r>
                      <a:r>
                        <a:rPr sz="1400" spc="2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link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0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" name="object 60"/>
          <p:cNvGrpSpPr/>
          <p:nvPr/>
        </p:nvGrpSpPr>
        <p:grpSpPr>
          <a:xfrm>
            <a:off x="4363465" y="1871472"/>
            <a:ext cx="3988435" cy="4573905"/>
            <a:chOff x="4363465" y="1871472"/>
            <a:chExt cx="3988435" cy="4573905"/>
          </a:xfrm>
        </p:grpSpPr>
        <p:sp>
          <p:nvSpPr>
            <p:cNvPr id="61" name="object 61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66548" y="0"/>
                  </a:lnTo>
                  <a:lnTo>
                    <a:pt x="66548" y="145160"/>
                  </a:lnTo>
                  <a:lnTo>
                    <a:pt x="0" y="145160"/>
                  </a:lnTo>
                  <a:lnTo>
                    <a:pt x="136398" y="240791"/>
                  </a:lnTo>
                  <a:lnTo>
                    <a:pt x="272796" y="145160"/>
                  </a:lnTo>
                  <a:lnTo>
                    <a:pt x="206248" y="145160"/>
                  </a:lnTo>
                  <a:lnTo>
                    <a:pt x="2062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206248" y="145160"/>
                  </a:lnTo>
                  <a:lnTo>
                    <a:pt x="272796" y="145160"/>
                  </a:lnTo>
                  <a:lnTo>
                    <a:pt x="136398" y="240791"/>
                  </a:lnTo>
                  <a:lnTo>
                    <a:pt x="0" y="145160"/>
                  </a:lnTo>
                  <a:lnTo>
                    <a:pt x="66548" y="145160"/>
                  </a:lnTo>
                  <a:lnTo>
                    <a:pt x="66548" y="0"/>
                  </a:lnTo>
                  <a:lnTo>
                    <a:pt x="206248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63465" y="4297679"/>
              <a:ext cx="367030" cy="347980"/>
            </a:xfrm>
            <a:custGeom>
              <a:avLst/>
              <a:gdLst/>
              <a:ahLst/>
              <a:cxnLst/>
              <a:rect l="l" t="t" r="r" b="b"/>
              <a:pathLst>
                <a:path w="367029" h="347979">
                  <a:moveTo>
                    <a:pt x="307281" y="299779"/>
                  </a:moveTo>
                  <a:lnTo>
                    <a:pt x="285496" y="322834"/>
                  </a:lnTo>
                  <a:lnTo>
                    <a:pt x="367030" y="347472"/>
                  </a:lnTo>
                  <a:lnTo>
                    <a:pt x="352795" y="308483"/>
                  </a:lnTo>
                  <a:lnTo>
                    <a:pt x="316484" y="308483"/>
                  </a:lnTo>
                  <a:lnTo>
                    <a:pt x="307281" y="299779"/>
                  </a:lnTo>
                  <a:close/>
                </a:path>
                <a:path w="367029" h="347979">
                  <a:moveTo>
                    <a:pt x="316039" y="290510"/>
                  </a:moveTo>
                  <a:lnTo>
                    <a:pt x="307281" y="299779"/>
                  </a:lnTo>
                  <a:lnTo>
                    <a:pt x="316484" y="308483"/>
                  </a:lnTo>
                  <a:lnTo>
                    <a:pt x="325247" y="299212"/>
                  </a:lnTo>
                  <a:lnTo>
                    <a:pt x="316039" y="290510"/>
                  </a:lnTo>
                  <a:close/>
                </a:path>
                <a:path w="367029" h="347979">
                  <a:moveTo>
                    <a:pt x="337820" y="267462"/>
                  </a:moveTo>
                  <a:lnTo>
                    <a:pt x="316039" y="290510"/>
                  </a:lnTo>
                  <a:lnTo>
                    <a:pt x="325247" y="299212"/>
                  </a:lnTo>
                  <a:lnTo>
                    <a:pt x="316484" y="308483"/>
                  </a:lnTo>
                  <a:lnTo>
                    <a:pt x="352795" y="308483"/>
                  </a:lnTo>
                  <a:lnTo>
                    <a:pt x="337820" y="267462"/>
                  </a:lnTo>
                  <a:close/>
                </a:path>
                <a:path w="367029" h="347979">
                  <a:moveTo>
                    <a:pt x="8636" y="0"/>
                  </a:moveTo>
                  <a:lnTo>
                    <a:pt x="0" y="9144"/>
                  </a:lnTo>
                  <a:lnTo>
                    <a:pt x="307281" y="299779"/>
                  </a:lnTo>
                  <a:lnTo>
                    <a:pt x="316039" y="290510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38139" y="4772025"/>
              <a:ext cx="882015" cy="286385"/>
            </a:xfrm>
            <a:custGeom>
              <a:avLst/>
              <a:gdLst/>
              <a:ahLst/>
              <a:cxnLst/>
              <a:rect l="l" t="t" r="r" b="b"/>
              <a:pathLst>
                <a:path w="882014" h="286385">
                  <a:moveTo>
                    <a:pt x="727572" y="200924"/>
                  </a:moveTo>
                  <a:lnTo>
                    <a:pt x="692023" y="245237"/>
                  </a:lnTo>
                  <a:lnTo>
                    <a:pt x="881888" y="286131"/>
                  </a:lnTo>
                  <a:lnTo>
                    <a:pt x="850922" y="218820"/>
                  </a:lnTo>
                  <a:lnTo>
                    <a:pt x="751713" y="218820"/>
                  </a:lnTo>
                  <a:lnTo>
                    <a:pt x="727572" y="200924"/>
                  </a:lnTo>
                  <a:close/>
                </a:path>
                <a:path w="882014" h="286385">
                  <a:moveTo>
                    <a:pt x="763767" y="155807"/>
                  </a:moveTo>
                  <a:lnTo>
                    <a:pt x="727572" y="200924"/>
                  </a:lnTo>
                  <a:lnTo>
                    <a:pt x="751713" y="218820"/>
                  </a:lnTo>
                  <a:lnTo>
                    <a:pt x="786130" y="172338"/>
                  </a:lnTo>
                  <a:lnTo>
                    <a:pt x="763767" y="155807"/>
                  </a:lnTo>
                  <a:close/>
                </a:path>
                <a:path w="882014" h="286385">
                  <a:moveTo>
                    <a:pt x="800735" y="109727"/>
                  </a:moveTo>
                  <a:lnTo>
                    <a:pt x="763767" y="155807"/>
                  </a:lnTo>
                  <a:lnTo>
                    <a:pt x="786130" y="172338"/>
                  </a:lnTo>
                  <a:lnTo>
                    <a:pt x="751713" y="218820"/>
                  </a:lnTo>
                  <a:lnTo>
                    <a:pt x="850922" y="218820"/>
                  </a:lnTo>
                  <a:lnTo>
                    <a:pt x="800735" y="109727"/>
                  </a:lnTo>
                  <a:close/>
                </a:path>
                <a:path w="882014" h="286385">
                  <a:moveTo>
                    <a:pt x="591540" y="57912"/>
                  </a:moveTo>
                  <a:lnTo>
                    <a:pt x="167132" y="57912"/>
                  </a:lnTo>
                  <a:lnTo>
                    <a:pt x="201168" y="58038"/>
                  </a:lnTo>
                  <a:lnTo>
                    <a:pt x="235331" y="58800"/>
                  </a:lnTo>
                  <a:lnTo>
                    <a:pt x="303022" y="61849"/>
                  </a:lnTo>
                  <a:lnTo>
                    <a:pt x="368554" y="67182"/>
                  </a:lnTo>
                  <a:lnTo>
                    <a:pt x="429768" y="74930"/>
                  </a:lnTo>
                  <a:lnTo>
                    <a:pt x="485394" y="84708"/>
                  </a:lnTo>
                  <a:lnTo>
                    <a:pt x="535559" y="98425"/>
                  </a:lnTo>
                  <a:lnTo>
                    <a:pt x="586486" y="118618"/>
                  </a:lnTo>
                  <a:lnTo>
                    <a:pt x="636397" y="143129"/>
                  </a:lnTo>
                  <a:lnTo>
                    <a:pt x="684402" y="171195"/>
                  </a:lnTo>
                  <a:lnTo>
                    <a:pt x="727572" y="200924"/>
                  </a:lnTo>
                  <a:lnTo>
                    <a:pt x="763767" y="155807"/>
                  </a:lnTo>
                  <a:lnTo>
                    <a:pt x="714375" y="121666"/>
                  </a:lnTo>
                  <a:lnTo>
                    <a:pt x="662939" y="91693"/>
                  </a:lnTo>
                  <a:lnTo>
                    <a:pt x="608964" y="65277"/>
                  </a:lnTo>
                  <a:lnTo>
                    <a:pt x="591540" y="57912"/>
                  </a:lnTo>
                  <a:close/>
                </a:path>
                <a:path w="882014" h="286385">
                  <a:moveTo>
                    <a:pt x="166370" y="0"/>
                  </a:moveTo>
                  <a:lnTo>
                    <a:pt x="97409" y="1524"/>
                  </a:lnTo>
                  <a:lnTo>
                    <a:pt x="30987" y="5333"/>
                  </a:lnTo>
                  <a:lnTo>
                    <a:pt x="0" y="8000"/>
                  </a:lnTo>
                  <a:lnTo>
                    <a:pt x="5080" y="65658"/>
                  </a:lnTo>
                  <a:lnTo>
                    <a:pt x="35940" y="62992"/>
                  </a:lnTo>
                  <a:lnTo>
                    <a:pt x="67690" y="60832"/>
                  </a:lnTo>
                  <a:lnTo>
                    <a:pt x="100075" y="59436"/>
                  </a:lnTo>
                  <a:lnTo>
                    <a:pt x="133350" y="58419"/>
                  </a:lnTo>
                  <a:lnTo>
                    <a:pt x="167132" y="57912"/>
                  </a:lnTo>
                  <a:lnTo>
                    <a:pt x="591540" y="57912"/>
                  </a:lnTo>
                  <a:lnTo>
                    <a:pt x="581025" y="53467"/>
                  </a:lnTo>
                  <a:lnTo>
                    <a:pt x="523367" y="34036"/>
                  </a:lnTo>
                  <a:lnTo>
                    <a:pt x="467740" y="22351"/>
                  </a:lnTo>
                  <a:lnTo>
                    <a:pt x="406273" y="13207"/>
                  </a:lnTo>
                  <a:lnTo>
                    <a:pt x="340360" y="6604"/>
                  </a:lnTo>
                  <a:lnTo>
                    <a:pt x="271652" y="2158"/>
                  </a:lnTo>
                  <a:lnTo>
                    <a:pt x="201549" y="126"/>
                  </a:lnTo>
                  <a:lnTo>
                    <a:pt x="16637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73923" y="4355592"/>
              <a:ext cx="577596" cy="36363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65035" y="4082795"/>
              <a:ext cx="577596" cy="36363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32547" y="5637909"/>
              <a:ext cx="542544" cy="36360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83807" y="5621145"/>
              <a:ext cx="542543" cy="36360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22363" y="5331835"/>
              <a:ext cx="544067" cy="44260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550164" y="0"/>
                  </a:moveTo>
                  <a:lnTo>
                    <a:pt x="0" y="0"/>
                  </a:lnTo>
                  <a:lnTo>
                    <a:pt x="0" y="451104"/>
                  </a:lnTo>
                  <a:lnTo>
                    <a:pt x="550164" y="451104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0" y="451104"/>
                  </a:moveTo>
                  <a:lnTo>
                    <a:pt x="550164" y="451104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11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7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475487" y="248412"/>
                  </a:lnTo>
                  <a:lnTo>
                    <a:pt x="475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2"/>
                  </a:moveTo>
                  <a:lnTo>
                    <a:pt x="475487" y="248412"/>
                  </a:lnTo>
                  <a:lnTo>
                    <a:pt x="475487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13803" y="3864864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50292"/>
                  </a:moveTo>
                  <a:lnTo>
                    <a:pt x="477012" y="50292"/>
                  </a:lnTo>
                </a:path>
                <a:path w="477520" h="207645">
                  <a:moveTo>
                    <a:pt x="0" y="3048"/>
                  </a:moveTo>
                  <a:lnTo>
                    <a:pt x="475488" y="30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9"/>
                  </a:lnTo>
                  <a:lnTo>
                    <a:pt x="0" y="27559"/>
                  </a:lnTo>
                  <a:lnTo>
                    <a:pt x="32765" y="45719"/>
                  </a:lnTo>
                  <a:lnTo>
                    <a:pt x="65531" y="27559"/>
                  </a:lnTo>
                  <a:lnTo>
                    <a:pt x="49529" y="2755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9"/>
                  </a:lnTo>
                  <a:lnTo>
                    <a:pt x="65531" y="27559"/>
                  </a:lnTo>
                  <a:lnTo>
                    <a:pt x="32765" y="45719"/>
                  </a:lnTo>
                  <a:lnTo>
                    <a:pt x="0" y="27559"/>
                  </a:lnTo>
                  <a:lnTo>
                    <a:pt x="16001" y="27559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1688" y="452627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7"/>
                  </a:moveTo>
                  <a:lnTo>
                    <a:pt x="551688" y="452627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47701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77012" y="246887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0" y="246887"/>
                  </a:moveTo>
                  <a:lnTo>
                    <a:pt x="477012" y="246887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25739" y="4139183"/>
              <a:ext cx="478790" cy="205740"/>
            </a:xfrm>
            <a:custGeom>
              <a:avLst/>
              <a:gdLst/>
              <a:ahLst/>
              <a:cxnLst/>
              <a:rect l="l" t="t" r="r" b="b"/>
              <a:pathLst>
                <a:path w="478790" h="205739">
                  <a:moveTo>
                    <a:pt x="271271" y="0"/>
                  </a:moveTo>
                  <a:lnTo>
                    <a:pt x="272795" y="205740"/>
                  </a:lnTo>
                </a:path>
                <a:path w="478790" h="205739">
                  <a:moveTo>
                    <a:pt x="1524" y="48768"/>
                  </a:moveTo>
                  <a:lnTo>
                    <a:pt x="478535" y="48768"/>
                  </a:lnTo>
                </a:path>
                <a:path w="478790" h="205739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8"/>
                  </a:lnTo>
                  <a:lnTo>
                    <a:pt x="0" y="27558"/>
                  </a:lnTo>
                  <a:lnTo>
                    <a:pt x="32766" y="45719"/>
                  </a:lnTo>
                  <a:lnTo>
                    <a:pt x="65531" y="27558"/>
                  </a:lnTo>
                  <a:lnTo>
                    <a:pt x="49529" y="27558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8"/>
                  </a:lnTo>
                  <a:lnTo>
                    <a:pt x="65531" y="27558"/>
                  </a:lnTo>
                  <a:lnTo>
                    <a:pt x="32766" y="45719"/>
                  </a:lnTo>
                  <a:lnTo>
                    <a:pt x="0" y="27558"/>
                  </a:lnTo>
                  <a:lnTo>
                    <a:pt x="16001" y="27558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550164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0164" y="452627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0" y="452627"/>
                  </a:moveTo>
                  <a:lnTo>
                    <a:pt x="550164" y="452627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249935" y="0"/>
                  </a:moveTo>
                  <a:lnTo>
                    <a:pt x="183488" y="2122"/>
                  </a:lnTo>
                  <a:lnTo>
                    <a:pt x="123782" y="8113"/>
                  </a:lnTo>
                  <a:lnTo>
                    <a:pt x="73199" y="17406"/>
                  </a:lnTo>
                  <a:lnTo>
                    <a:pt x="34120" y="29435"/>
                  </a:lnTo>
                  <a:lnTo>
                    <a:pt x="0" y="59436"/>
                  </a:lnTo>
                  <a:lnTo>
                    <a:pt x="8927" y="75237"/>
                  </a:lnTo>
                  <a:lnTo>
                    <a:pt x="73199" y="101465"/>
                  </a:lnTo>
                  <a:lnTo>
                    <a:pt x="123782" y="110758"/>
                  </a:lnTo>
                  <a:lnTo>
                    <a:pt x="183488" y="116749"/>
                  </a:lnTo>
                  <a:lnTo>
                    <a:pt x="249935" y="118872"/>
                  </a:lnTo>
                  <a:lnTo>
                    <a:pt x="316383" y="116749"/>
                  </a:lnTo>
                  <a:lnTo>
                    <a:pt x="376089" y="110758"/>
                  </a:lnTo>
                  <a:lnTo>
                    <a:pt x="426672" y="101465"/>
                  </a:lnTo>
                  <a:lnTo>
                    <a:pt x="465751" y="89436"/>
                  </a:lnTo>
                  <a:lnTo>
                    <a:pt x="499871" y="59436"/>
                  </a:lnTo>
                  <a:lnTo>
                    <a:pt x="490944" y="43634"/>
                  </a:lnTo>
                  <a:lnTo>
                    <a:pt x="426672" y="17406"/>
                  </a:lnTo>
                  <a:lnTo>
                    <a:pt x="376089" y="8113"/>
                  </a:lnTo>
                  <a:lnTo>
                    <a:pt x="316383" y="2122"/>
                  </a:lnTo>
                  <a:lnTo>
                    <a:pt x="2499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0" y="59436"/>
                  </a:moveTo>
                  <a:lnTo>
                    <a:pt x="34120" y="29435"/>
                  </a:lnTo>
                  <a:lnTo>
                    <a:pt x="73199" y="17406"/>
                  </a:lnTo>
                  <a:lnTo>
                    <a:pt x="123782" y="8113"/>
                  </a:lnTo>
                  <a:lnTo>
                    <a:pt x="183488" y="2122"/>
                  </a:lnTo>
                  <a:lnTo>
                    <a:pt x="249935" y="0"/>
                  </a:lnTo>
                  <a:lnTo>
                    <a:pt x="316383" y="2122"/>
                  </a:lnTo>
                  <a:lnTo>
                    <a:pt x="376089" y="8113"/>
                  </a:lnTo>
                  <a:lnTo>
                    <a:pt x="426672" y="17406"/>
                  </a:lnTo>
                  <a:lnTo>
                    <a:pt x="465751" y="29435"/>
                  </a:lnTo>
                  <a:lnTo>
                    <a:pt x="499871" y="59436"/>
                  </a:lnTo>
                  <a:lnTo>
                    <a:pt x="490944" y="75237"/>
                  </a:lnTo>
                  <a:lnTo>
                    <a:pt x="426672" y="101465"/>
                  </a:lnTo>
                  <a:lnTo>
                    <a:pt x="376089" y="110758"/>
                  </a:lnTo>
                  <a:lnTo>
                    <a:pt x="316383" y="116749"/>
                  </a:lnTo>
                  <a:lnTo>
                    <a:pt x="249935" y="118872"/>
                  </a:lnTo>
                  <a:lnTo>
                    <a:pt x="183488" y="116749"/>
                  </a:lnTo>
                  <a:lnTo>
                    <a:pt x="123782" y="110758"/>
                  </a:lnTo>
                  <a:lnTo>
                    <a:pt x="73199" y="101465"/>
                  </a:lnTo>
                  <a:lnTo>
                    <a:pt x="34120" y="89436"/>
                  </a:lnTo>
                  <a:lnTo>
                    <a:pt x="0" y="594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456931" y="6214872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48767"/>
                  </a:moveTo>
                  <a:lnTo>
                    <a:pt x="477012" y="48767"/>
                  </a:lnTo>
                </a:path>
                <a:path w="477520" h="207645">
                  <a:moveTo>
                    <a:pt x="0" y="1523"/>
                  </a:moveTo>
                  <a:lnTo>
                    <a:pt x="475488" y="152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5" y="45719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5" y="45719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7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7" y="452628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7" y="452628"/>
                  </a:lnTo>
                  <a:lnTo>
                    <a:pt x="551687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3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7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3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3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3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7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60463" y="5995416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71271" y="0"/>
                  </a:moveTo>
                  <a:lnTo>
                    <a:pt x="272795" y="207264"/>
                  </a:lnTo>
                </a:path>
                <a:path w="478790" h="207645">
                  <a:moveTo>
                    <a:pt x="3047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8" y="452628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8" y="452628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4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8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4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4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8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477012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7012" y="24841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0" y="248411"/>
                  </a:moveTo>
                  <a:lnTo>
                    <a:pt x="477012" y="248411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105143" y="6187439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69747" y="0"/>
                  </a:moveTo>
                  <a:lnTo>
                    <a:pt x="271271" y="207264"/>
                  </a:lnTo>
                </a:path>
                <a:path w="478790" h="207645">
                  <a:moveTo>
                    <a:pt x="1523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16002" y="0"/>
                  </a:lnTo>
                  <a:lnTo>
                    <a:pt x="16002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2" y="27546"/>
                  </a:lnTo>
                  <a:lnTo>
                    <a:pt x="49530" y="2754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49530" y="27546"/>
                  </a:lnTo>
                  <a:lnTo>
                    <a:pt x="65532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2" y="27546"/>
                  </a:lnTo>
                  <a:lnTo>
                    <a:pt x="16002" y="0"/>
                  </a:lnTo>
                  <a:lnTo>
                    <a:pt x="4953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080504" y="1202436"/>
            <a:ext cx="2923540" cy="1399540"/>
          </a:xfrm>
          <a:prstGeom prst="rect">
            <a:avLst/>
          </a:prstGeom>
          <a:ln w="12192">
            <a:solidFill>
              <a:srgbClr val="CC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710" marR="271780">
              <a:lnSpc>
                <a:spcPts val="2039"/>
              </a:lnSpc>
              <a:spcBef>
                <a:spcPts val="285"/>
              </a:spcBef>
            </a:pPr>
            <a:r>
              <a:rPr sz="2000" spc="-50" dirty="0">
                <a:solidFill>
                  <a:srgbClr val="000099"/>
                </a:solidFill>
                <a:latin typeface="Trebuchet MS"/>
                <a:cs typeface="Trebuchet MS"/>
              </a:rPr>
              <a:t>4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billion </a:t>
            </a:r>
            <a:r>
              <a:rPr sz="2000" spc="-75" dirty="0">
                <a:solidFill>
                  <a:srgbClr val="000099"/>
                </a:solidFill>
                <a:latin typeface="Trebuchet MS"/>
                <a:cs typeface="Trebuchet MS"/>
              </a:rPr>
              <a:t>IP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addresses, </a:t>
            </a:r>
            <a:r>
              <a:rPr sz="2000" spc="-5" dirty="0">
                <a:solidFill>
                  <a:srgbClr val="000099"/>
                </a:solidFill>
                <a:latin typeface="Trebuchet MS"/>
                <a:cs typeface="Trebuchet MS"/>
              </a:rPr>
              <a:t>so 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rather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than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individual 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destination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 </a:t>
            </a:r>
            <a:r>
              <a:rPr sz="2000" i="1" spc="-185" dirty="0">
                <a:solidFill>
                  <a:srgbClr val="000099"/>
                </a:solidFill>
                <a:latin typeface="Trebuchet MS"/>
                <a:cs typeface="Trebuchet MS"/>
              </a:rPr>
              <a:t>range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of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addresses  </a:t>
            </a:r>
            <a:r>
              <a:rPr sz="2000" spc="-140" dirty="0">
                <a:solidFill>
                  <a:srgbClr val="000099"/>
                </a:solidFill>
                <a:latin typeface="Trebuchet MS"/>
                <a:cs typeface="Trebuchet MS"/>
              </a:rPr>
              <a:t>(aggregate </a:t>
            </a:r>
            <a:r>
              <a:rPr sz="2000" spc="-145" dirty="0">
                <a:solidFill>
                  <a:srgbClr val="000099"/>
                </a:solidFill>
                <a:latin typeface="Trebuchet MS"/>
                <a:cs typeface="Trebuchet MS"/>
              </a:rPr>
              <a:t>table</a:t>
            </a:r>
            <a:r>
              <a:rPr sz="2000" spc="-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entries)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017008" y="2022855"/>
            <a:ext cx="2060575" cy="1066800"/>
          </a:xfrm>
          <a:custGeom>
            <a:avLst/>
            <a:gdLst/>
            <a:ahLst/>
            <a:cxnLst/>
            <a:rect l="l" t="t" r="r" b="b"/>
            <a:pathLst>
              <a:path w="2060575" h="1066800">
                <a:moveTo>
                  <a:pt x="50291" y="997458"/>
                </a:moveTo>
                <a:lnTo>
                  <a:pt x="0" y="1066292"/>
                </a:lnTo>
                <a:lnTo>
                  <a:pt x="85216" y="1065276"/>
                </a:lnTo>
                <a:lnTo>
                  <a:pt x="73640" y="1042797"/>
                </a:lnTo>
                <a:lnTo>
                  <a:pt x="59308" y="1042797"/>
                </a:lnTo>
                <a:lnTo>
                  <a:pt x="53466" y="1031494"/>
                </a:lnTo>
                <a:lnTo>
                  <a:pt x="64808" y="1025647"/>
                </a:lnTo>
                <a:lnTo>
                  <a:pt x="50291" y="997458"/>
                </a:lnTo>
                <a:close/>
              </a:path>
              <a:path w="2060575" h="1066800">
                <a:moveTo>
                  <a:pt x="64808" y="1025647"/>
                </a:moveTo>
                <a:lnTo>
                  <a:pt x="53466" y="1031494"/>
                </a:lnTo>
                <a:lnTo>
                  <a:pt x="59308" y="1042797"/>
                </a:lnTo>
                <a:lnTo>
                  <a:pt x="70633" y="1036958"/>
                </a:lnTo>
                <a:lnTo>
                  <a:pt x="64808" y="1025647"/>
                </a:lnTo>
                <a:close/>
              </a:path>
              <a:path w="2060575" h="1066800">
                <a:moveTo>
                  <a:pt x="70633" y="1036958"/>
                </a:moveTo>
                <a:lnTo>
                  <a:pt x="59308" y="1042797"/>
                </a:lnTo>
                <a:lnTo>
                  <a:pt x="73640" y="1042797"/>
                </a:lnTo>
                <a:lnTo>
                  <a:pt x="70633" y="1036958"/>
                </a:lnTo>
                <a:close/>
              </a:path>
              <a:path w="2060575" h="1066800">
                <a:moveTo>
                  <a:pt x="2054478" y="0"/>
                </a:moveTo>
                <a:lnTo>
                  <a:pt x="64808" y="1025647"/>
                </a:lnTo>
                <a:lnTo>
                  <a:pt x="70633" y="1036958"/>
                </a:lnTo>
                <a:lnTo>
                  <a:pt x="2060320" y="11176"/>
                </a:lnTo>
                <a:lnTo>
                  <a:pt x="2054478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84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5" y="189941"/>
            <a:ext cx="909739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>
                <a:latin typeface="Carlito"/>
                <a:cs typeface="Carlito"/>
              </a:rPr>
              <a:t>f</a:t>
            </a:r>
            <a:r>
              <a:rPr sz="4000" i="0" spc="-10" dirty="0">
                <a:latin typeface="Carlito"/>
                <a:cs typeface="Carlito"/>
              </a:rPr>
              <a:t>o</a:t>
            </a:r>
            <a:r>
              <a:rPr sz="4000" i="0" spc="10" dirty="0">
                <a:latin typeface="Carlito"/>
                <a:cs typeface="Carlito"/>
              </a:rPr>
              <a:t>r</a:t>
            </a:r>
            <a:r>
              <a:rPr sz="4000" i="0" spc="-60" dirty="0">
                <a:latin typeface="Carlito"/>
                <a:cs typeface="Carlito"/>
              </a:rPr>
              <a:t>w</a:t>
            </a:r>
            <a:r>
              <a:rPr sz="4000" i="0" spc="-5" dirty="0">
                <a:latin typeface="Carlito"/>
                <a:cs typeface="Carlito"/>
              </a:rPr>
              <a:t>a</a:t>
            </a:r>
            <a:r>
              <a:rPr sz="4000" i="0" spc="-65" dirty="0">
                <a:latin typeface="Carlito"/>
                <a:cs typeface="Carlito"/>
              </a:rPr>
              <a:t>r</a:t>
            </a:r>
            <a:r>
              <a:rPr sz="4000" i="0" spc="-10" dirty="0">
                <a:latin typeface="Carlito"/>
                <a:cs typeface="Carlito"/>
              </a:rPr>
              <a:t>din</a:t>
            </a:r>
            <a:r>
              <a:rPr sz="4000" i="0" spc="-5" dirty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4-15</a:t>
            </a:r>
            <a:endParaRPr sz="12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51888" y="1257300"/>
          <a:ext cx="7223758" cy="452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551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Destination Address</a:t>
                      </a:r>
                      <a:r>
                        <a:rPr sz="180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Range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5811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Link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Interface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654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00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77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0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1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98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076">
                <a:tc>
                  <a:txBody>
                    <a:bodyPr/>
                    <a:lstStyle/>
                    <a:p>
                      <a:pPr marL="81915">
                        <a:lnSpc>
                          <a:spcPts val="189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195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512">
                <a:tc>
                  <a:txBody>
                    <a:bodyPr/>
                    <a:lstStyle/>
                    <a:p>
                      <a:pPr marL="81915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885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8744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otherwise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2255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</a:p>
                  </a:txBody>
                  <a:tcPr marL="0" marR="0" marT="13017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06774" y="5920373"/>
            <a:ext cx="58990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10100001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lang="en-IN"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lang="en-IN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07462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68621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1200" y="1158494"/>
            <a:ext cx="8073390" cy="427591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table, 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entries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table;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there’s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350" indent="-342900" algn="just">
              <a:lnSpc>
                <a:spcPts val="281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10100001;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21-bit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matches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table,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sz="2400" spc="-1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54355" indent="-342900">
              <a:lnSpc>
                <a:spcPts val="281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any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entries,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312243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608" y="461899"/>
            <a:ext cx="67859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538681"/>
            <a:ext cx="8226425" cy="17545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it </a:t>
            </a:r>
            <a:r>
              <a:rPr sz="2700" spc="-5" dirty="0">
                <a:latin typeface="Times New Roman"/>
                <a:cs typeface="Times New Roman"/>
              </a:rPr>
              <a:t>is possible for </a:t>
            </a:r>
            <a:r>
              <a:rPr sz="2700" dirty="0">
                <a:latin typeface="Times New Roman"/>
                <a:cs typeface="Times New Roman"/>
              </a:rPr>
              <a:t>a </a:t>
            </a:r>
            <a:r>
              <a:rPr sz="2700" spc="-5" dirty="0">
                <a:latin typeface="Times New Roman"/>
                <a:cs typeface="Times New Roman"/>
              </a:rPr>
              <a:t>destination </a:t>
            </a:r>
            <a:r>
              <a:rPr sz="2700" dirty="0">
                <a:latin typeface="Times New Roman"/>
                <a:cs typeface="Times New Roman"/>
              </a:rPr>
              <a:t>address </a:t>
            </a:r>
            <a:r>
              <a:rPr sz="2700" spc="-5" dirty="0">
                <a:latin typeface="Times New Roman"/>
                <a:cs typeface="Times New Roman"/>
              </a:rPr>
              <a:t>to match more  than </a:t>
            </a:r>
            <a:r>
              <a:rPr sz="2700" dirty="0">
                <a:latin typeface="Times New Roman"/>
                <a:cs typeface="Times New Roman"/>
              </a:rPr>
              <a:t>one </a:t>
            </a:r>
            <a:r>
              <a:rPr sz="2700" spc="-30" dirty="0">
                <a:latin typeface="Times New Roman"/>
                <a:cs typeface="Times New Roman"/>
              </a:rPr>
              <a:t>entry.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For example,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24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sz="2700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 match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second entry in the table, and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21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match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third entry in the</a:t>
            </a:r>
            <a:r>
              <a:rPr sz="27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table.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194" y="4502277"/>
            <a:ext cx="8226425" cy="1754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When </a:t>
            </a:r>
            <a:r>
              <a:rPr sz="2700" spc="-5" dirty="0">
                <a:latin typeface="Times New Roman"/>
                <a:cs typeface="Times New Roman"/>
              </a:rPr>
              <a:t>there </a:t>
            </a:r>
            <a:r>
              <a:rPr sz="2700" dirty="0">
                <a:latin typeface="Times New Roman"/>
                <a:cs typeface="Times New Roman"/>
              </a:rPr>
              <a:t>are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multiple matches,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router uses </a:t>
            </a:r>
            <a:r>
              <a:rPr sz="2700" dirty="0">
                <a:latin typeface="Times New Roman"/>
                <a:cs typeface="Times New Roman"/>
              </a:rPr>
              <a:t>the  </a:t>
            </a:r>
            <a:r>
              <a:rPr sz="2700" b="1" dirty="0">
                <a:latin typeface="Times New Roman"/>
                <a:cs typeface="Times New Roman"/>
              </a:rPr>
              <a:t>longest </a:t>
            </a:r>
            <a:r>
              <a:rPr sz="2700" b="1" spc="-10" dirty="0">
                <a:latin typeface="Times New Roman"/>
                <a:cs typeface="Times New Roman"/>
              </a:rPr>
              <a:t>prefix </a:t>
            </a:r>
            <a:r>
              <a:rPr sz="2700" b="1" dirty="0">
                <a:latin typeface="Times New Roman"/>
                <a:cs typeface="Times New Roman"/>
              </a:rPr>
              <a:t>matching </a:t>
            </a:r>
            <a:r>
              <a:rPr sz="2700" b="1" spc="-5" dirty="0">
                <a:latin typeface="Times New Roman"/>
                <a:cs typeface="Times New Roman"/>
              </a:rPr>
              <a:t>rule; </a:t>
            </a:r>
            <a:r>
              <a:rPr sz="2700" b="1" dirty="0">
                <a:latin typeface="Times New Roman"/>
                <a:cs typeface="Times New Roman"/>
              </a:rPr>
              <a:t>that </a:t>
            </a:r>
            <a:r>
              <a:rPr sz="2700" dirty="0">
                <a:latin typeface="Times New Roman"/>
                <a:cs typeface="Times New Roman"/>
              </a:rPr>
              <a:t>is, it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finds </a:t>
            </a:r>
            <a:r>
              <a:rPr sz="2700" spc="5" dirty="0">
                <a:solidFill>
                  <a:srgbClr val="1F487C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longest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matching entry in the table </a:t>
            </a:r>
            <a:r>
              <a:rPr sz="2700" dirty="0">
                <a:latin typeface="Times New Roman"/>
                <a:cs typeface="Times New Roman"/>
              </a:rPr>
              <a:t>and </a:t>
            </a:r>
            <a:r>
              <a:rPr sz="2700" spc="-5" dirty="0">
                <a:latin typeface="Times New Roman"/>
                <a:cs typeface="Times New Roman"/>
              </a:rPr>
              <a:t>forwards </a:t>
            </a:r>
            <a:r>
              <a:rPr sz="2700" dirty="0">
                <a:latin typeface="Times New Roman"/>
                <a:cs typeface="Times New Roman"/>
              </a:rPr>
              <a:t>the  packet to the link </a:t>
            </a:r>
            <a:r>
              <a:rPr sz="2700" spc="-5" dirty="0">
                <a:latin typeface="Times New Roman"/>
                <a:cs typeface="Times New Roman"/>
              </a:rPr>
              <a:t>interface </a:t>
            </a:r>
            <a:r>
              <a:rPr sz="2700" dirty="0">
                <a:latin typeface="Times New Roman"/>
                <a:cs typeface="Times New Roman"/>
              </a:rPr>
              <a:t>associated </a:t>
            </a:r>
            <a:r>
              <a:rPr sz="2700" spc="-5" dirty="0">
                <a:latin typeface="Times New Roman"/>
                <a:cs typeface="Times New Roman"/>
              </a:rPr>
              <a:t>with </a:t>
            </a:r>
            <a:r>
              <a:rPr sz="2700" dirty="0">
                <a:latin typeface="Times New Roman"/>
                <a:cs typeface="Times New Roman"/>
              </a:rPr>
              <a:t>the longest  </a:t>
            </a:r>
            <a:r>
              <a:rPr sz="2700" spc="-5" dirty="0">
                <a:latin typeface="Times New Roman"/>
                <a:cs typeface="Times New Roman"/>
              </a:rPr>
              <a:t>prefix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match.</a:t>
            </a:r>
            <a:endParaRPr sz="2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158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4444" y="165303"/>
            <a:ext cx="626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latin typeface="Carlito"/>
                <a:cs typeface="Carlito"/>
              </a:rPr>
              <a:t>Longest </a:t>
            </a:r>
            <a:r>
              <a:rPr sz="4400" i="0" spc="-20" dirty="0">
                <a:latin typeface="Carlito"/>
                <a:cs typeface="Carlito"/>
              </a:rPr>
              <a:t>prefix</a:t>
            </a:r>
            <a:r>
              <a:rPr sz="4400" i="0" spc="-100" dirty="0">
                <a:latin typeface="Carlito"/>
                <a:cs typeface="Carlito"/>
              </a:rPr>
              <a:t> </a:t>
            </a:r>
            <a:r>
              <a:rPr sz="4400" i="0" spc="-10" dirty="0">
                <a:latin typeface="Carlito"/>
                <a:cs typeface="Carlito"/>
              </a:rPr>
              <a:t>matching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838200"/>
            <a:ext cx="54848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1794" y="1771853"/>
            <a:ext cx="3112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275" dirty="0">
                <a:solidFill>
                  <a:srgbClr val="CC0000"/>
                </a:solidFill>
                <a:latin typeface="Trebuchet MS"/>
                <a:cs typeface="Trebuchet MS"/>
              </a:rPr>
              <a:t>longest </a:t>
            </a:r>
            <a:r>
              <a:rPr sz="2800" i="1" spc="-295" dirty="0">
                <a:solidFill>
                  <a:srgbClr val="CC0000"/>
                </a:solidFill>
                <a:latin typeface="Trebuchet MS"/>
                <a:cs typeface="Trebuchet MS"/>
              </a:rPr>
              <a:t>prefix</a:t>
            </a:r>
            <a:r>
              <a:rPr sz="2800" i="1" spc="10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800" i="1" spc="-254" dirty="0">
                <a:solidFill>
                  <a:srgbClr val="CC0000"/>
                </a:solidFill>
                <a:latin typeface="Trebuchet MS"/>
                <a:cs typeface="Trebuchet MS"/>
              </a:rPr>
              <a:t>matching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194" y="2755518"/>
            <a:ext cx="6948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2280285" algn="l"/>
                <a:tab pos="2900680" algn="l"/>
                <a:tab pos="4688840" algn="l"/>
                <a:tab pos="5584825" algn="l"/>
                <a:tab pos="652018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	l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oki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rward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4317" y="2755518"/>
            <a:ext cx="815340" cy="79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025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spc="5" dirty="0">
                <a:latin typeface="Times New Roman"/>
                <a:cs typeface="Times New Roman"/>
              </a:rPr>
              <a:t>v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R="5080" algn="r">
              <a:lnSpc>
                <a:spcPts val="3025"/>
              </a:lnSpc>
            </a:pPr>
            <a:r>
              <a:rPr sz="2800" spc="-5" dirty="0">
                <a:latin typeface="Times New Roman"/>
                <a:cs typeface="Times New Roman"/>
              </a:rPr>
              <a:t>that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3096590"/>
            <a:ext cx="7250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2600" algn="l"/>
                <a:tab pos="3274060" algn="l"/>
                <a:tab pos="3930650" algn="l"/>
                <a:tab pos="5139690" algn="l"/>
                <a:tab pos="63881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destinat</a:t>
            </a:r>
            <a:r>
              <a:rPr sz="2800" spc="-2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long</a:t>
            </a:r>
            <a:r>
              <a:rPr sz="2800" i="1" spc="-20" dirty="0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st</a:t>
            </a:r>
            <a:r>
              <a:rPr sz="2800" i="1" dirty="0">
                <a:solidFill>
                  <a:srgbClr val="000099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efix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94" y="3437966"/>
            <a:ext cx="4078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matches </a:t>
            </a:r>
            <a:r>
              <a:rPr sz="2800" spc="-5" dirty="0">
                <a:latin typeface="Times New Roman"/>
                <a:cs typeface="Times New Roman"/>
              </a:rPr>
              <a:t>destination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0199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779" y="256489"/>
            <a:ext cx="2877821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4617" y="1597228"/>
            <a:ext cx="937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rlito"/>
                <a:cs typeface="Carlito"/>
              </a:rPr>
              <a:t>treated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7864" y="1597228"/>
            <a:ext cx="8014336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530350" algn="l"/>
              </a:tabLst>
            </a:pPr>
            <a:r>
              <a:rPr sz="2400" spc="-10" dirty="0">
                <a:latin typeface="Carlito"/>
                <a:cs typeface="Carlito"/>
              </a:rPr>
              <a:t>Each	</a:t>
            </a:r>
            <a:r>
              <a:rPr sz="2400" spc="-20" dirty="0">
                <a:latin typeface="Carlito"/>
                <a:cs typeface="Carlito"/>
              </a:rPr>
              <a:t>packet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independently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others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864" y="2495550"/>
            <a:ext cx="391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657350" algn="l"/>
                <a:tab pos="2512060" algn="l"/>
                <a:tab pos="3460115" algn="l"/>
              </a:tabLst>
            </a:pPr>
            <a:r>
              <a:rPr sz="2400" spc="-5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ac</a:t>
            </a:r>
            <a:r>
              <a:rPr sz="2400" spc="-80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ets	</a:t>
            </a:r>
            <a:r>
              <a:rPr sz="2400" spc="-3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an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spc="-1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	a</a:t>
            </a:r>
            <a:r>
              <a:rPr sz="2400" spc="-50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7864" y="2696463"/>
            <a:ext cx="4204336" cy="145360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5"/>
              </a:spcBef>
            </a:pPr>
            <a:r>
              <a:rPr sz="2400" spc="-10" dirty="0">
                <a:latin typeface="Carlito"/>
                <a:cs typeface="Carlito"/>
              </a:rPr>
              <a:t>practical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route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306705" algn="l"/>
                <a:tab pos="307340" algn="l"/>
                <a:tab pos="1647825" algn="l"/>
                <a:tab pos="2945130" algn="l"/>
                <a:tab pos="3265170" algn="l"/>
              </a:tabLst>
            </a:pPr>
            <a:r>
              <a:rPr sz="2400" spc="-5" dirty="0">
                <a:latin typeface="Carlito"/>
                <a:cs typeface="Carlito"/>
              </a:rPr>
              <a:t>D</a:t>
            </a:r>
            <a:r>
              <a:rPr sz="2400" spc="-25" dirty="0">
                <a:latin typeface="Carlito"/>
                <a:cs typeface="Carlito"/>
              </a:rPr>
              <a:t>at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g</a:t>
            </a:r>
            <a:r>
              <a:rPr sz="2400" spc="-4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am	</a:t>
            </a:r>
            <a:r>
              <a:rPr sz="2400" spc="-3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wi</a:t>
            </a:r>
            <a:r>
              <a:rPr sz="2400" spc="-4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ching	is	</a:t>
            </a:r>
            <a:r>
              <a:rPr sz="2400" spc="-5" dirty="0">
                <a:latin typeface="Carlito"/>
                <a:cs typeface="Carlito"/>
              </a:rPr>
              <a:t>done 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layer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864" y="4288028"/>
            <a:ext cx="900493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262380" algn="l"/>
                <a:tab pos="2551430" algn="l"/>
                <a:tab pos="3176905" algn="l"/>
              </a:tabLst>
            </a:pPr>
            <a:r>
              <a:rPr sz="2400" spc="-5" dirty="0">
                <a:latin typeface="Carlito"/>
                <a:cs typeface="Carlito"/>
              </a:rPr>
              <a:t>These	switches	</a:t>
            </a:r>
            <a:r>
              <a:rPr sz="2400" spc="-15" dirty="0">
                <a:latin typeface="Carlito"/>
                <a:cs typeface="Carlito"/>
              </a:rPr>
              <a:t>are	</a:t>
            </a:r>
            <a:r>
              <a:rPr sz="2400" spc="-10" dirty="0">
                <a:latin typeface="Carlito"/>
                <a:cs typeface="Carlito"/>
              </a:rPr>
              <a:t>called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864" y="4487007"/>
            <a:ext cx="4275658" cy="1455527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410"/>
              </a:spcBef>
            </a:pP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spc="-10" dirty="0">
                <a:latin typeface="Carlito"/>
                <a:cs typeface="Carlito"/>
              </a:rPr>
              <a:t>u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1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.</a:t>
            </a:r>
          </a:p>
          <a:p>
            <a:pPr marL="306705" marR="48260" indent="-294640">
              <a:spcBef>
                <a:spcPts val="131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5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ac</a:t>
            </a:r>
            <a:r>
              <a:rPr sz="2400" spc="-80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ets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lang="en-IN" sz="2400" dirty="0">
                <a:latin typeface="Carlito"/>
                <a:cs typeface="Carlito"/>
              </a:rPr>
              <a:t>m</a:t>
            </a:r>
            <a:r>
              <a:rPr lang="en-IN" sz="2400" spc="-55" dirty="0">
                <a:latin typeface="Carlito"/>
                <a:cs typeface="Carlito"/>
              </a:rPr>
              <a:t>a</a:t>
            </a:r>
            <a:r>
              <a:rPr lang="en-IN" sz="2400" dirty="0">
                <a:latin typeface="Carlito"/>
                <a:cs typeface="Carlito"/>
              </a:rPr>
              <a:t>y arri</a:t>
            </a:r>
            <a:r>
              <a:rPr lang="en-IN" sz="2400" spc="-35" dirty="0">
                <a:latin typeface="Carlito"/>
                <a:cs typeface="Carlito"/>
              </a:rPr>
              <a:t>v</a:t>
            </a:r>
            <a:r>
              <a:rPr lang="en-IN" sz="2400" dirty="0">
                <a:latin typeface="Carlito"/>
                <a:cs typeface="Carlito"/>
              </a:rPr>
              <a:t>e </a:t>
            </a:r>
            <a:r>
              <a:rPr lang="en-IN" sz="2400" spc="-5" dirty="0">
                <a:solidFill>
                  <a:srgbClr val="1F487C"/>
                </a:solidFill>
                <a:latin typeface="Carlito"/>
                <a:cs typeface="Carlito"/>
              </a:rPr>
              <a:t>ou</a:t>
            </a:r>
            <a:r>
              <a:rPr lang="en-IN" sz="2400" dirty="0">
                <a:solidFill>
                  <a:srgbClr val="1F487C"/>
                </a:solidFill>
                <a:latin typeface="Carlito"/>
                <a:cs typeface="Carlito"/>
              </a:rPr>
              <a:t>t </a:t>
            </a:r>
            <a:r>
              <a:rPr lang="en-IN" sz="2400" spc="-10" dirty="0">
                <a:solidFill>
                  <a:srgbClr val="1F487C"/>
                </a:solidFill>
                <a:latin typeface="Carlito"/>
                <a:cs typeface="Carlito"/>
              </a:rPr>
              <a:t>of</a:t>
            </a:r>
            <a:r>
              <a:rPr lang="en-IN" sz="2400" dirty="0"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order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7864" y="6082080"/>
            <a:ext cx="319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20" dirty="0">
                <a:latin typeface="Carlito"/>
                <a:cs typeface="Carlito"/>
              </a:rPr>
              <a:t>Packets </a:t>
            </a:r>
            <a:r>
              <a:rPr sz="2400" spc="-15" dirty="0">
                <a:latin typeface="Carlito"/>
                <a:cs typeface="Carlito"/>
              </a:rPr>
              <a:t>may </a:t>
            </a:r>
            <a:r>
              <a:rPr sz="2400" spc="-10" dirty="0">
                <a:latin typeface="Carlito"/>
                <a:cs typeface="Carlito"/>
              </a:rPr>
              <a:t>go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missing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7775" y="1613661"/>
            <a:ext cx="3805554" cy="202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 algn="just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receiver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re-order 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recover from  </a:t>
            </a:r>
            <a:r>
              <a:rPr sz="2400" dirty="0">
                <a:latin typeface="Carlito"/>
                <a:cs typeface="Carlito"/>
              </a:rPr>
              <a:t>missing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packets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 algn="just">
              <a:lnSpc>
                <a:spcPct val="100000"/>
              </a:lnSpc>
              <a:spcBef>
                <a:spcPts val="131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The connecting </a:t>
            </a:r>
            <a:r>
              <a:rPr sz="2400" spc="-10" dirty="0">
                <a:latin typeface="Carlito"/>
                <a:cs typeface="Carlito"/>
              </a:rPr>
              <a:t>switches  are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5" dirty="0">
                <a:latin typeface="Carlito"/>
                <a:cs typeface="Carlito"/>
              </a:rPr>
              <a:t>keeping</a:t>
            </a:r>
            <a:r>
              <a:rPr sz="2400" spc="1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7522" y="3927700"/>
            <a:ext cx="401554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54735" algn="l"/>
                <a:tab pos="1087120" algn="l"/>
                <a:tab pos="1513840" algn="l"/>
                <a:tab pos="1990725" algn="l"/>
              </a:tabLst>
            </a:pPr>
            <a:r>
              <a:rPr lang="en-IN" sz="2400" spc="-5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bout</a:t>
            </a:r>
            <a:r>
              <a:rPr lang="en-US"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connection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lang="en-IN" sz="2400" spc="-25" dirty="0">
                <a:latin typeface="Carlito"/>
                <a:cs typeface="Carlito"/>
              </a:rPr>
              <a:t>s</a:t>
            </a:r>
            <a:r>
              <a:rPr lang="en-IN" sz="2400" spc="-35" dirty="0">
                <a:latin typeface="Carlito"/>
                <a:cs typeface="Carlito"/>
              </a:rPr>
              <a:t>t</a:t>
            </a:r>
            <a:r>
              <a:rPr lang="en-IN" sz="2400" spc="-20" dirty="0">
                <a:latin typeface="Carlito"/>
                <a:cs typeface="Carlito"/>
              </a:rPr>
              <a:t>a</a:t>
            </a:r>
            <a:r>
              <a:rPr lang="en-IN" sz="2400" spc="-25" dirty="0">
                <a:latin typeface="Carlito"/>
                <a:cs typeface="Carlito"/>
              </a:rPr>
              <a:t>t</a:t>
            </a:r>
            <a:r>
              <a:rPr lang="en-IN" sz="2400" dirty="0">
                <a:latin typeface="Carlito"/>
                <a:cs typeface="Carlito"/>
              </a:rPr>
              <a:t>e</a:t>
            </a:r>
            <a:r>
              <a:rPr sz="2400" spc="-10" dirty="0">
                <a:latin typeface="Carlito"/>
                <a:cs typeface="Carlito"/>
              </a:rPr>
              <a:t>  </a:t>
            </a:r>
            <a:r>
              <a:rPr sz="2400" spc="-5" dirty="0">
                <a:latin typeface="Carlito"/>
                <a:cs typeface="Carlito"/>
              </a:rPr>
              <a:t>h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e	it	is	also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09689" y="4483608"/>
            <a:ext cx="3803650" cy="14522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0"/>
              </a:spcBef>
            </a:pP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connectionless</a:t>
            </a:r>
            <a:r>
              <a:rPr sz="2400" spc="-40" dirty="0">
                <a:solidFill>
                  <a:srgbClr val="1F487C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n</a:t>
            </a:r>
            <a:r>
              <a:rPr sz="2400" spc="-10" dirty="0">
                <a:latin typeface="Carlito"/>
                <a:cs typeface="Carlito"/>
              </a:rPr>
              <a:t>etworks</a:t>
            </a:r>
            <a:endParaRPr sz="2400" dirty="0">
              <a:latin typeface="Carlito"/>
              <a:cs typeface="Carlito"/>
            </a:endParaRPr>
          </a:p>
          <a:p>
            <a:pPr marL="306705" indent="-29464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306705" algn="l"/>
                <a:tab pos="307340" algn="l"/>
                <a:tab pos="920750" algn="l"/>
                <a:tab pos="1870075" algn="l"/>
                <a:tab pos="2593975" algn="l"/>
              </a:tabLst>
            </a:pPr>
            <a:r>
              <a:rPr sz="2400" spc="-5" dirty="0">
                <a:latin typeface="Carlito"/>
                <a:cs typeface="Carlito"/>
              </a:rPr>
              <a:t>No	setup	</a:t>
            </a:r>
            <a:r>
              <a:rPr sz="2400" dirty="0">
                <a:latin typeface="Carlito"/>
                <a:cs typeface="Carlito"/>
              </a:rPr>
              <a:t>and	</a:t>
            </a:r>
            <a:r>
              <a:rPr sz="2400" spc="-15" dirty="0">
                <a:latin typeface="Carlito"/>
                <a:cs typeface="Carlito"/>
              </a:rPr>
              <a:t>teardown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rlito"/>
                <a:cs typeface="Carlito"/>
              </a:rPr>
              <a:t>phases.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03802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995" y="2144243"/>
            <a:ext cx="10592531" cy="37261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050" y="466166"/>
            <a:ext cx="42741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r>
              <a:rPr sz="4300" b="1" i="0" spc="-5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network</a:t>
            </a:r>
            <a:endParaRPr sz="43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44250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1419"/>
            <a:ext cx="1400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>
                <a:solidFill>
                  <a:srgbClr val="5B9BD4"/>
                </a:solidFill>
              </a:rPr>
              <a:t>Router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025474"/>
            <a:ext cx="10055225" cy="55708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95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networking device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data packets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functions on the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11480" lvl="0" indent="-228600" algn="l" defTabSz="914400" rtl="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through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internetwork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(e.g.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Internet) until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2451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two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reads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policy,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its 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journey.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463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50" dirty="0"/>
              <a:t>Internet </a:t>
            </a:r>
            <a:r>
              <a:rPr spc="-254" dirty="0"/>
              <a:t>Protocol</a:t>
            </a:r>
            <a:r>
              <a:rPr spc="-730" dirty="0"/>
              <a:t> </a:t>
            </a:r>
            <a:r>
              <a:rPr spc="-260" dirty="0"/>
              <a:t>(IP)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0863"/>
            <a:ext cx="10286365" cy="49644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Addressing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0570" lvl="0" indent="-228600" algn="l" defTabSz="914400" rtl="0" eaLnBrk="1" fontAlgn="auto" latinLnBrk="0" hangingPunct="1">
              <a:lnSpc>
                <a:spcPts val="281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important components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(IP).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two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today.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4, which is usually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</a:t>
            </a:r>
            <a:r>
              <a:rPr kumimoji="0" sz="2600" b="1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IP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81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second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component,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path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</a:t>
            </a:r>
            <a:r>
              <a:rPr kumimoji="0" sz="26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0810" lvl="0" indent="-228600" algn="l" defTabSz="914400" rtl="0" eaLnBrk="1" fontAlgn="auto" latinLnBrk="0" hangingPunct="1">
              <a:lnSpc>
                <a:spcPts val="281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facility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certain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30417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7514"/>
            <a:ext cx="7722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Inside </a:t>
            </a:r>
            <a:r>
              <a:rPr spc="-215" dirty="0"/>
              <a:t>the </a:t>
            </a:r>
            <a:r>
              <a:rPr spc="-250" dirty="0"/>
              <a:t>Internet’s </a:t>
            </a:r>
            <a:r>
              <a:rPr spc="-210" dirty="0"/>
              <a:t>network</a:t>
            </a:r>
            <a:r>
              <a:rPr spc="-775" dirty="0"/>
              <a:t> </a:t>
            </a:r>
            <a:r>
              <a:rPr spc="-270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2234183" y="1575895"/>
            <a:ext cx="8359248" cy="5249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406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889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Datagram</a:t>
            </a:r>
            <a:r>
              <a:rPr spc="-505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75535"/>
            <a:ext cx="77724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plays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01371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0113"/>
            <a:ext cx="4881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IPv4 </a:t>
            </a:r>
            <a:r>
              <a:rPr spc="-235" dirty="0"/>
              <a:t>datagram</a:t>
            </a:r>
            <a:r>
              <a:rPr spc="-545" dirty="0"/>
              <a:t> </a:t>
            </a:r>
            <a:r>
              <a:rPr spc="-245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2124455" y="833694"/>
            <a:ext cx="7942894" cy="5736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418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4876"/>
            <a:ext cx="10218420" cy="52425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specify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 to interpret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remainder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92480" lvl="0" indent="-228600" algn="just" defTabSz="914400" rtl="0" eaLnBrk="1" fontAlgn="auto" latinLnBrk="0" hangingPunct="1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length.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actually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begins. Most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20-byte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3812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(TOS)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included in the IPv4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distinguished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be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useful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distinguish real-time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(such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those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telephony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application)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</a:t>
            </a:r>
            <a:r>
              <a:rPr kumimoji="0" sz="26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non-  real-time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FTP).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83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(header plus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data),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measured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Since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16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theoretical  maximum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65,535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rarely larger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1,500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5710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8780"/>
            <a:ext cx="10339705" cy="53987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36703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Identifier,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flags,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offset.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fields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so-called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Time-to-live.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time-to-live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(TTL)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included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ensure that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circulate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forever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router.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TTL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0,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dropped.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01295" lvl="0" indent="-228600" algn="l" defTabSz="914400" rtl="0" eaLnBrk="1" fontAlgn="auto" latinLnBrk="0" hangingPunct="1">
              <a:lnSpc>
                <a:spcPct val="8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specific transport-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7310" lvl="0" indent="-228600" algn="just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checksum.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aids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detecting bit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2080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computed by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treating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header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summing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complement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arithmetic.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46893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198735" cy="55702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destination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options fields allow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extended.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5410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(payload). 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(TCP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4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335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(nonfragmented)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40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header (20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 plus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with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application-layer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2837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6066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 </a:t>
            </a:r>
            <a:r>
              <a:rPr spc="-250" dirty="0"/>
              <a:t>Datagram</a:t>
            </a:r>
            <a:r>
              <a:rPr spc="-745" dirty="0"/>
              <a:t> </a:t>
            </a:r>
            <a:r>
              <a:rPr spc="-26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82750"/>
            <a:ext cx="10332085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826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little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packets.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up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1,500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wide-area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no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576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7555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is  called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transmission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unit</a:t>
            </a:r>
            <a:r>
              <a:rPr kumimoji="0" sz="2800" b="0" i="0" u="none" strike="noStrike" kern="1200" cap="none" spc="14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(MTU).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5904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several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running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MTUs.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just" defTabSz="914400" rtl="0" eaLnBrk="1" fontAlgn="auto" latinLnBrk="0" hangingPunct="1">
              <a:lnSpc>
                <a:spcPts val="302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link.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determine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 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MTU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90978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67995"/>
            <a:ext cx="10354310" cy="56241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36220" lvl="0" indent="-228600" algn="l" defTabSz="914400" rtl="0" eaLnBrk="1" fontAlgn="auto" latinLnBrk="0" hangingPunct="1">
              <a:lnSpc>
                <a:spcPct val="7000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solution is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separate link-layer frame;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</a:t>
            </a:r>
            <a:r>
              <a:rPr kumimoji="0" sz="26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050" lvl="0" indent="-228600" algn="l" defTabSz="914400" rtl="0" eaLnBrk="1" fontAlgn="auto" latinLnBrk="0" hangingPunct="1">
              <a:lnSpc>
                <a:spcPct val="701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reassembled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before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390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job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end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rather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0167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receives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series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 source,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some original,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fragments,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further 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 received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has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should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pieced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together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3505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perform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tasks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identification, flag,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offset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50755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22536"/>
            <a:ext cx="8888146" cy="6577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892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33589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8540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after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reconstructed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arrive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incomplete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356607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2853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</a:t>
            </a:r>
            <a:r>
              <a:rPr spc="-395" dirty="0"/>
              <a:t> </a:t>
            </a:r>
            <a:r>
              <a:rPr spc="-215" dirty="0"/>
              <a:t>fragments</a:t>
            </a:r>
          </a:p>
        </p:txBody>
      </p:sp>
      <p:sp>
        <p:nvSpPr>
          <p:cNvPr id="3" name="object 3"/>
          <p:cNvSpPr/>
          <p:nvPr/>
        </p:nvSpPr>
        <p:spPr>
          <a:xfrm>
            <a:off x="207263" y="1514774"/>
            <a:ext cx="11744522" cy="4468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8803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57878"/>
            <a:ext cx="10299065" cy="61144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costs.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8384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complicates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end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designed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accommodate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reassembly.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1809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Second,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used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series 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05104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classic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Jolt2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 small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host, none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zero.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924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collapse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 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attempts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rebuild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degenerate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Another class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overlapping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whose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 so 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properly.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068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operating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knowing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 fragments, 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42354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IPv6,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away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altogether,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thereby streamlining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making IP less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25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502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IPv4</a:t>
            </a:r>
            <a:r>
              <a:rPr spc="-530" dirty="0"/>
              <a:t> </a:t>
            </a:r>
            <a:r>
              <a:rPr spc="-195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239" y="1279347"/>
            <a:ext cx="10233025" cy="45021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54000" marR="48260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IP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wants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does 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ts val="3025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boundary between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physical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called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</a:t>
            </a:r>
            <a:r>
              <a:rPr lang="en-US" sz="2800" dirty="0">
                <a:solidFill>
                  <a:prstClr val="black"/>
                </a:solidFill>
                <a:latin typeface="Carlito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multiple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of its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1778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every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capable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own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346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34645" algn="l"/>
                <a:tab pos="3352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Thus, an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technically associated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an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30988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(equivalently,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</a:t>
            </a:r>
            <a:r>
              <a:rPr kumimoji="0" sz="2775" b="0" i="0" u="none" strike="noStrike" kern="1200" cap="none" spc="0" normalizeH="0" baseline="25525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possible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86760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427" y="0"/>
            <a:ext cx="9153525" cy="1381125"/>
            <a:chOff x="1519427" y="0"/>
            <a:chExt cx="9153525" cy="1381125"/>
          </a:xfrm>
        </p:grpSpPr>
        <p:sp>
          <p:nvSpPr>
            <p:cNvPr id="3" name="object 3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8027" y="350520"/>
            <a:ext cx="2772410" cy="655320"/>
          </a:xfrm>
          <a:prstGeom prst="rect">
            <a:avLst/>
          </a:prstGeom>
          <a:solidFill>
            <a:srgbClr val="80008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80"/>
              </a:spcBef>
            </a:pP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3600" b="0" spc="-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1569161"/>
            <a:ext cx="8376920" cy="4290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identifier used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TCP/IP  protocol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suite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identify each device connected to the  Internet is called </a:t>
            </a:r>
            <a:r>
              <a:rPr kumimoji="0" sz="2800" b="1" i="0" u="none" strike="noStrike" kern="1200" cap="none" spc="-1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0" u="none" strike="noStrike" kern="1200" cap="none" spc="-1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800" b="1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800" b="1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2800" b="1" i="0" u="none" strike="noStrike" kern="1200" cap="none" spc="-11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800" b="1" i="0" u="none" strike="noStrike" kern="1200" cap="none" spc="1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22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715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IPv4 address is a 32-bit address that uniquely and  universally defines the connection of a host or a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router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Internet;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5" dirty="0">
                <a:solidFill>
                  <a:prstClr val="black"/>
                </a:solidFill>
                <a:latin typeface="Konatu"/>
                <a:cs typeface="Konatu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n IP address is the 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2717273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594090" cy="1219200"/>
            <a:chOff x="1600200" y="0"/>
            <a:chExt cx="8594090" cy="1219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685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60163" y="661161"/>
            <a:ext cx="2439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33600" y="2057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3600" y="2819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71700" y="2148839"/>
            <a:ext cx="8077200" cy="581025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7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An IPv4 address is 32 bits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long.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09800" y="4419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9800" y="56388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7900" y="451104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5560" rIns="0" bIns="0" rtlCol="0">
            <a:spAutoFit/>
          </a:bodyPr>
          <a:lstStyle/>
          <a:p>
            <a:pPr marL="2774950" marR="1201420" lvl="0" indent="-155511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IPv4 addresses are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unique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universal.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600" y="32004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2128520" marR="1414780" lvl="0" indent="-708025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space of IPv4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 </a:t>
            </a:r>
            <a:r>
              <a:rPr kumimoji="0" sz="3200" b="0" i="1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sz="3150" b="0" i="1" u="none" strike="noStrike" kern="1200" cap="none" spc="15" normalizeH="0" baseline="25132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32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</a:t>
            </a:r>
            <a:r>
              <a:rPr kumimoji="0" sz="3200" b="0" i="1" u="none" strike="noStrike" kern="1200" cap="none" spc="-3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4,294,967,296.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6445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0572" y="461899"/>
            <a:ext cx="645642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>
                <a:latin typeface="Carlito"/>
                <a:cs typeface="Carlito"/>
              </a:rPr>
              <a:t>Address</a:t>
            </a:r>
            <a:r>
              <a:rPr lang="en-US" b="0" spc="-15" dirty="0"/>
              <a:t> </a:t>
            </a:r>
            <a:r>
              <a:rPr b="0" spc="-15" dirty="0">
                <a:latin typeface="Carlito"/>
                <a:cs typeface="Carlito"/>
              </a:rPr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23961"/>
            <a:ext cx="9070975" cy="30994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three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IPv4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address: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notation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prevalent,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base</a:t>
            </a:r>
            <a:r>
              <a:rPr kumimoji="0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47656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461899"/>
            <a:ext cx="961085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>
                <a:latin typeface="Carlito"/>
                <a:cs typeface="Carlito"/>
              </a:rPr>
              <a:t>Address Notation: </a:t>
            </a:r>
            <a:r>
              <a:rPr dirty="0"/>
              <a:t>binary</a:t>
            </a:r>
            <a:r>
              <a:rPr spc="-3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3661"/>
            <a:ext cx="10817225" cy="3521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displayed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</a:t>
            </a:r>
            <a:r>
              <a:rPr kumimoji="0" sz="24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  <a:tab pos="805180" algn="l"/>
                <a:tab pos="1656714" algn="l"/>
                <a:tab pos="2240915" algn="l"/>
                <a:tab pos="3383915" algn="l"/>
                <a:tab pos="4216400" algn="l"/>
                <a:tab pos="5542280" algn="l"/>
                <a:tab pos="6176010" algn="l"/>
                <a:tab pos="6604634" algn="l"/>
                <a:tab pos="7424420" algn="l"/>
                <a:tab pos="8410575" algn="l"/>
                <a:tab pos="8761095" algn="l"/>
                <a:tab pos="9785350" algn="l"/>
              </a:tabLst>
              <a:defRPr/>
            </a:pPr>
            <a:r>
              <a:rPr kumimoji="0" sz="240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</a:t>
            </a:r>
            <a:r>
              <a:rPr kumimoji="0" sz="240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ad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es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able,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	mo</a:t>
            </a:r>
            <a:r>
              <a:rPr kumimoji="0" sz="240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is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ally	inse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ed 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octet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(8</a:t>
            </a:r>
            <a:r>
              <a:rPr kumimoji="0" sz="240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bits).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octet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01110101 10010101 00011101</a:t>
            </a:r>
            <a:r>
              <a:rPr kumimoji="0" sz="2800" b="1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11101010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00293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08" y="192150"/>
            <a:ext cx="8919592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10" dirty="0">
                <a:latin typeface="Carlito"/>
                <a:cs typeface="Carlito"/>
              </a:rPr>
              <a:t>Dotted-Decimal Notation: </a:t>
            </a:r>
            <a:r>
              <a:rPr sz="4000" i="1" spc="-5" dirty="0">
                <a:latin typeface="Carlito"/>
                <a:cs typeface="Carlito"/>
              </a:rPr>
              <a:t>Base</a:t>
            </a:r>
            <a:r>
              <a:rPr sz="4000" i="1" spc="20" dirty="0">
                <a:latin typeface="Carlito"/>
                <a:cs typeface="Carlito"/>
              </a:rPr>
              <a:t> </a:t>
            </a:r>
            <a:r>
              <a:rPr sz="4000" i="1" spc="-5" dirty="0">
                <a:latin typeface="Carlito"/>
                <a:cs typeface="Carlito"/>
              </a:rPr>
              <a:t>256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pc="-114" dirty="0"/>
              <a:t>To </a:t>
            </a:r>
            <a:r>
              <a:rPr spc="-20" dirty="0"/>
              <a:t>make </a:t>
            </a:r>
            <a:r>
              <a:rPr spc="-5" dirty="0"/>
              <a:t>the IPv4 address </a:t>
            </a:r>
            <a:r>
              <a:rPr spc="-10" dirty="0"/>
              <a:t>more compact </a:t>
            </a:r>
            <a:r>
              <a:rPr dirty="0"/>
              <a:t>and </a:t>
            </a:r>
            <a:r>
              <a:rPr spc="-5" dirty="0"/>
              <a:t>easier </a:t>
            </a:r>
            <a:r>
              <a:rPr spc="-15" dirty="0"/>
              <a:t>to </a:t>
            </a:r>
            <a:r>
              <a:rPr spc="-10" dirty="0"/>
              <a:t>read,  </a:t>
            </a:r>
            <a:r>
              <a:rPr dirty="0"/>
              <a:t>an </a:t>
            </a:r>
            <a:r>
              <a:rPr spc="-5" dirty="0"/>
              <a:t>IPv4 address </a:t>
            </a:r>
            <a:r>
              <a:rPr dirty="0"/>
              <a:t>is </a:t>
            </a:r>
            <a:r>
              <a:rPr spc="-5" dirty="0"/>
              <a:t>usually </a:t>
            </a:r>
            <a:r>
              <a:rPr spc="-15" dirty="0"/>
              <a:t>written </a:t>
            </a:r>
            <a:r>
              <a:rPr dirty="0"/>
              <a:t>in </a:t>
            </a:r>
            <a:r>
              <a:rPr spc="-5" dirty="0"/>
              <a:t>decimal </a:t>
            </a:r>
            <a:r>
              <a:rPr spc="-15" dirty="0"/>
              <a:t>form </a:t>
            </a:r>
            <a:r>
              <a:rPr dirty="0"/>
              <a:t>with a  </a:t>
            </a:r>
            <a:r>
              <a:rPr spc="-5" dirty="0"/>
              <a:t>decimal </a:t>
            </a:r>
            <a:r>
              <a:rPr spc="-10" dirty="0"/>
              <a:t>point </a:t>
            </a:r>
            <a:r>
              <a:rPr spc="-5" dirty="0"/>
              <a:t>(dot) </a:t>
            </a:r>
            <a:r>
              <a:rPr spc="-10" dirty="0"/>
              <a:t>separating </a:t>
            </a:r>
            <a:r>
              <a:rPr spc="-5" dirty="0"/>
              <a:t>the</a:t>
            </a:r>
            <a:r>
              <a:rPr spc="-40" dirty="0"/>
              <a:t> </a:t>
            </a:r>
            <a:r>
              <a:rPr spc="-5" dirty="0"/>
              <a:t>bytes.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This </a:t>
            </a:r>
            <a:r>
              <a:rPr spc="-15" dirty="0"/>
              <a:t>format </a:t>
            </a:r>
            <a:r>
              <a:rPr dirty="0"/>
              <a:t>is </a:t>
            </a:r>
            <a:r>
              <a:rPr spc="-20" dirty="0"/>
              <a:t>referred </a:t>
            </a:r>
            <a:r>
              <a:rPr spc="-15" dirty="0"/>
              <a:t>to </a:t>
            </a:r>
            <a:r>
              <a:rPr dirty="0"/>
              <a:t>as </a:t>
            </a:r>
            <a:r>
              <a:rPr b="1" spc="-5" dirty="0">
                <a:latin typeface="Carlito"/>
                <a:cs typeface="Carlito"/>
              </a:rPr>
              <a:t>dotted-decimal</a:t>
            </a:r>
            <a:r>
              <a:rPr b="1" spc="-15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notation.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3339819" y="3788568"/>
            <a:ext cx="6502239" cy="13358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354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0632" y="461899"/>
            <a:ext cx="674636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Hexadecimal</a:t>
            </a:r>
            <a:r>
              <a:rPr spc="-114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40129"/>
            <a:ext cx="10817860" cy="3538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sometimes see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address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hexadecimal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equivalent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four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means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address has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programming.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0001 0000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1011 0000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0X810B0BEF or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810B0BEF16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53845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334" y="461899"/>
            <a:ext cx="631926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Classful</a:t>
            </a:r>
            <a:r>
              <a:rPr spc="-55" dirty="0"/>
              <a:t> </a:t>
            </a:r>
            <a:r>
              <a:rPr spc="-10" dirty="0"/>
              <a:t>addressing.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0309"/>
            <a:ext cx="1081151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five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classes: 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A, 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B,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C, </a:t>
            </a:r>
            <a:r>
              <a:rPr kumimoji="0" sz="28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D,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</a:t>
            </a:r>
            <a:r>
              <a:rPr kumimoji="0" sz="28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36245" marR="0" lvl="0" indent="-4241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36245" algn="l"/>
                <a:tab pos="436880" algn="l"/>
              </a:tabLst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occupies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part of 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whole address</a:t>
            </a:r>
            <a:r>
              <a:rPr kumimoji="0" sz="2800" b="1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4879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dirty="0">
                <a:latin typeface="Times New Roman"/>
                <a:cs typeface="Times New Roman"/>
              </a:rPr>
              <a:t>Finding the class of</a:t>
            </a:r>
            <a:r>
              <a:rPr sz="1800" b="0" i="1" spc="-90" dirty="0">
                <a:latin typeface="Times New Roman"/>
                <a:cs typeface="Times New Roman"/>
              </a:rPr>
              <a:t> </a:t>
            </a:r>
            <a:r>
              <a:rPr sz="1800" b="0" i="1" spc="-15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758307" y="3690040"/>
            <a:ext cx="4566292" cy="232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5918" y="3613778"/>
            <a:ext cx="4033481" cy="22718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6394" y="1235709"/>
            <a:ext cx="815085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find the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either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binary  or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decimal notation.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few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immediately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tell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 the class of 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address; 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 can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class of an</a:t>
            </a: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26952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492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5808" y="4191000"/>
            <a:ext cx="6206650" cy="151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5861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133600" y="152400"/>
            <a:ext cx="7897540" cy="4114800"/>
          </a:xfrm>
          <a:prstGeom prst="rect">
            <a:avLst/>
          </a:prstGeom>
          <a:blipFill>
            <a:blip r:embed="rId2" cstate="print"/>
            <a:srcRect/>
            <a:stretch>
              <a:fillRect l="3647" t="48396" r="-3647" b="-48396"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2272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084659" y="1752600"/>
            <a:ext cx="789754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879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4282" y="109550"/>
            <a:ext cx="27171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latin typeface="Times New Roman"/>
                <a:cs typeface="Times New Roman"/>
              </a:rPr>
              <a:t>Netid and</a:t>
            </a:r>
            <a:r>
              <a:rPr sz="3200" b="0" i="1" spc="-80" dirty="0">
                <a:latin typeface="Times New Roman"/>
                <a:cs typeface="Times New Roman"/>
              </a:rPr>
              <a:t> </a:t>
            </a:r>
            <a:r>
              <a:rPr sz="3200" b="0" i="1" dirty="0">
                <a:latin typeface="Times New Roman"/>
                <a:cs typeface="Times New Roman"/>
              </a:rPr>
              <a:t>hostid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139899" y="2597127"/>
            <a:ext cx="7729321" cy="278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9899" y="3235849"/>
            <a:ext cx="7735620" cy="270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39899" y="3866851"/>
            <a:ext cx="7735620" cy="2721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39901" y="4499245"/>
            <a:ext cx="7744762" cy="2706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9902" y="5131771"/>
            <a:ext cx="7726473" cy="2721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1800" y="1790466"/>
            <a:ext cx="6864096" cy="4985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66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204" y="179019"/>
            <a:ext cx="940879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Classful Addressing </a:t>
            </a:r>
            <a:r>
              <a:rPr sz="3600" dirty="0"/>
              <a:t>:Classes and </a:t>
            </a:r>
            <a:r>
              <a:rPr sz="3600" spc="-5" dirty="0"/>
              <a:t>Blocks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7225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problem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addressing is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51210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27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4282" y="115951"/>
            <a:ext cx="281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Blocks in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Class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sz="18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757549" y="1371600"/>
            <a:ext cx="8642226" cy="1548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62200" y="41148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2989580" marR="1437640" indent="-1544320">
              <a:lnSpc>
                <a:spcPct val="100000"/>
              </a:lnSpc>
              <a:spcBef>
                <a:spcPts val="275"/>
              </a:spcBef>
            </a:pP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Millions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class A</a:t>
            </a:r>
            <a:r>
              <a:rPr sz="3200" b="0" i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addresses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wasted.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038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28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763000" cy="1981200"/>
            <a:chOff x="1600200" y="0"/>
            <a:chExt cx="8763000" cy="1981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914400"/>
              <a:ext cx="8077200" cy="1066800"/>
            </a:xfrm>
            <a:custGeom>
              <a:avLst/>
              <a:gdLst/>
              <a:ahLst/>
              <a:cxnLst/>
              <a:rect l="l" t="t" r="r" b="b"/>
              <a:pathLst>
                <a:path w="8077200" h="1066800">
                  <a:moveTo>
                    <a:pt x="8077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8077200" y="10668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6000" y="22860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1433195" marR="375920" lvl="0" indent="-1050290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class 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r>
              <a:rPr kumimoji="0" sz="3200" b="0" i="1" u="none" strike="noStrike" kern="120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was  reserved for future</a:t>
            </a:r>
            <a:r>
              <a:rPr kumimoji="0" sz="3200" b="0" i="1" u="none" strike="noStrike" kern="120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purposes.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6000" y="4038600"/>
            <a:ext cx="8077200" cy="206248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520065" marR="513080" lvl="0" indent="0" algn="ctr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range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allocated to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organization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classful addressing  was a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</a:t>
            </a:r>
            <a:r>
              <a:rPr kumimoji="0" sz="3200" b="0" i="1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A, B, or</a:t>
            </a:r>
            <a:r>
              <a:rPr kumimoji="0" sz="3200" b="0" i="1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267711" y="935482"/>
            <a:ext cx="809561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315" marR="207010" indent="-1906905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Class D addresses are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made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3200" b="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block,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used for</a:t>
            </a:r>
            <a:r>
              <a:rPr sz="3200" b="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multicasting.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669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29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400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spc="-15" dirty="0">
                <a:latin typeface="Times New Roman"/>
                <a:cs typeface="Times New Roman"/>
              </a:rPr>
              <a:t>Two-level </a:t>
            </a:r>
            <a:r>
              <a:rPr sz="1800" b="0" i="1" spc="-10" dirty="0">
                <a:latin typeface="Times New Roman"/>
                <a:cs typeface="Times New Roman"/>
              </a:rPr>
              <a:t>addressing </a:t>
            </a:r>
            <a:r>
              <a:rPr sz="1800" b="0" i="1" dirty="0">
                <a:latin typeface="Times New Roman"/>
                <a:cs typeface="Times New Roman"/>
              </a:rPr>
              <a:t>in </a:t>
            </a:r>
            <a:r>
              <a:rPr sz="1800" b="0" i="1" spc="-5" dirty="0">
                <a:latin typeface="Times New Roman"/>
                <a:cs typeface="Times New Roman"/>
              </a:rPr>
              <a:t>classful</a:t>
            </a:r>
            <a:r>
              <a:rPr sz="1800" b="0" i="1" spc="-15" dirty="0">
                <a:latin typeface="Times New Roman"/>
                <a:cs typeface="Times New Roman"/>
              </a:rPr>
              <a:t> </a:t>
            </a:r>
            <a:r>
              <a:rPr sz="1800" b="0" i="1" spc="-10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057400" y="1828800"/>
            <a:ext cx="6946392" cy="15742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9600" y="3657600"/>
            <a:ext cx="2916936" cy="17007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9394" y="856234"/>
            <a:ext cx="543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Netid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Hostid: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particular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connected to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</a:t>
            </a:r>
            <a:r>
              <a:rPr kumimoji="0" sz="1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16460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5816"/>
            <a:ext cx="1442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/>
              <a:t>Subnet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365630"/>
            <a:ext cx="93268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also called an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literature.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3007" y="2234127"/>
            <a:ext cx="6220644" cy="4430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813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41985"/>
            <a:ext cx="10297160" cy="49288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interfaces)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227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  <a:tab pos="76009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upper-left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their IP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750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</a:t>
            </a:r>
            <a:r>
              <a:rPr kumimoji="0" sz="2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network could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6291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interface forms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046784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90702"/>
            <a:ext cx="10090785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subnet: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223.1.1.0/24,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/24 notation, sometimes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1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0825" lvl="0" indent="-228600" algn="l" defTabSz="914400" rtl="0" eaLnBrk="1" fontAlgn="auto" latinLnBrk="0" hangingPunct="1">
              <a:lnSpc>
                <a:spcPts val="303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32-bit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quantity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attached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223.1.1.0/24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would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4175" lvl="0" indent="-228600" algn="l" defTabSz="914400" rtl="0" eaLnBrk="1" fontAlgn="auto" latinLnBrk="0" hangingPunct="1">
              <a:lnSpc>
                <a:spcPts val="302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subnets,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its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creating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islands of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terminating the end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points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called a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131223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840"/>
            <a:ext cx="6599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Classless </a:t>
            </a:r>
            <a:r>
              <a:rPr spc="-235" dirty="0"/>
              <a:t>Interdomain</a:t>
            </a:r>
            <a:r>
              <a:rPr spc="-640" dirty="0"/>
              <a:t> </a:t>
            </a:r>
            <a:r>
              <a:rPr spc="-225" dirty="0"/>
              <a:t>Routing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7388"/>
            <a:ext cx="10152380" cy="4862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1284605" lvl="0" indent="-228600" algn="l" defTabSz="914400" rtl="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strategy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Classless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Interdomain Routing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—pronounced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cider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generalizes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notion of subnet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8415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908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significant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often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(or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prefix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typically assigned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addresses, that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range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addresses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</a:t>
            </a:r>
            <a:r>
              <a:rPr kumimoji="0" sz="26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40970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of devices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178274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90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Obtaining </a:t>
            </a:r>
            <a:r>
              <a:rPr spc="-240" dirty="0"/>
              <a:t>a </a:t>
            </a:r>
            <a:r>
              <a:rPr spc="-250" dirty="0"/>
              <a:t>Block </a:t>
            </a:r>
            <a:r>
              <a:rPr spc="-204" dirty="0"/>
              <a:t>of</a:t>
            </a:r>
            <a:r>
              <a:rPr spc="-965" dirty="0"/>
              <a:t> </a:t>
            </a:r>
            <a:r>
              <a:rPr spc="-19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26370" cy="3973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28003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order to obtain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organization’s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administrator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contact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would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provide 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addresses that had already been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580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ISP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been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200.23.16.0/20.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turn,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could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equal-sized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up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supported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065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managed under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authority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Corporation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Names 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(ICANN).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353431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0696" y="2072291"/>
            <a:ext cx="9957899" cy="2976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6508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35" dirty="0"/>
              <a:t>Obtaining</a:t>
            </a:r>
            <a:r>
              <a:rPr spc="-434" dirty="0"/>
              <a:t> </a:t>
            </a:r>
            <a:r>
              <a:rPr spc="-240" dirty="0"/>
              <a:t>a</a:t>
            </a:r>
            <a:r>
              <a:rPr spc="-395" dirty="0"/>
              <a:t> </a:t>
            </a:r>
            <a:r>
              <a:rPr spc="-190" dirty="0"/>
              <a:t>Host</a:t>
            </a:r>
            <a:r>
              <a:rPr spc="-409" dirty="0"/>
              <a:t> </a:t>
            </a:r>
            <a:r>
              <a:rPr spc="-225" dirty="0"/>
              <a:t>Address:</a:t>
            </a:r>
            <a:r>
              <a:rPr spc="-409" dirty="0"/>
              <a:t> </a:t>
            </a:r>
            <a:r>
              <a:rPr spc="-235" dirty="0"/>
              <a:t>the</a:t>
            </a:r>
            <a:r>
              <a:rPr spc="-415" dirty="0"/>
              <a:t> </a:t>
            </a:r>
            <a:r>
              <a:rPr spc="-235" dirty="0"/>
              <a:t>Dynamic</a:t>
            </a:r>
            <a:r>
              <a:rPr spc="-425" dirty="0"/>
              <a:t> </a:t>
            </a:r>
            <a:r>
              <a:rPr spc="-190" dirty="0"/>
              <a:t>Host  </a:t>
            </a:r>
            <a:r>
              <a:rPr spc="-240" dirty="0"/>
              <a:t>Configuration</a:t>
            </a:r>
            <a:r>
              <a:rPr spc="-440" dirty="0"/>
              <a:t> </a:t>
            </a:r>
            <a:r>
              <a:rPr spc="-254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176510" cy="4715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obtained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block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individual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996315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(often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remotely,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management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tool).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74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configured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but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now 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Dynamic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Configuration Protocol 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(DHCP).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27200" lvl="0" indent="-228600" algn="l" defTabSz="914400" rtl="0" eaLnBrk="1" fontAlgn="auto" latinLnBrk="0" hangingPunct="1">
              <a:lnSpc>
                <a:spcPts val="269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allocated)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automatically.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7361174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301605" cy="4163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81610" lvl="0" indent="-228600" algn="just" defTabSz="914400" rtl="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assigned a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temporary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 be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addition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learn 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first-hop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(often called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default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gateway),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local DNS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780" lvl="0" indent="-228600" algn="just" defTabSz="914400" rtl="0" eaLnBrk="1" fontAlgn="auto" latinLnBrk="0" hangingPunct="1">
              <a:lnSpc>
                <a:spcPts val="303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DHCP’s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ability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automate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network-related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aspects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 connecting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plug-and-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play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986564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5732"/>
            <a:ext cx="10280015" cy="59442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8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capability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makes it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very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attractive to the network administrator who would 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otherwise have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perform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these tasks</a:t>
            </a:r>
            <a:r>
              <a:rPr kumimoji="0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manually!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also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enjoying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widespread use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  and in wireless LANs, where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 the network</a:t>
            </a:r>
            <a:r>
              <a:rPr kumimoji="0" sz="22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frequently.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example, the student who carries a laptop from a dormitory room</a:t>
            </a:r>
            <a:r>
              <a:rPr kumimoji="0" sz="2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library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classroom.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likely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location, the student will</a:t>
            </a:r>
            <a:r>
              <a:rPr kumimoji="0" sz="22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connecting into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subnet and hence will need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</a:t>
            </a:r>
            <a:r>
              <a:rPr kumimoji="0" sz="2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626110" lvl="0" indent="-228600" algn="l" defTabSz="914400" rtl="0" eaLnBrk="1" fontAlgn="auto" latinLnBrk="0" hangingPunct="1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ideally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suited to this situation, as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there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many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users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coming and  going, and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needed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a limited amount of</a:t>
            </a:r>
            <a:r>
              <a:rPr kumimoji="0" sz="2200" b="0" i="0" u="none" strike="noStrike" kern="1200" cap="none" spc="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similarly useful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has 2,000 customers, but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</a:t>
            </a:r>
            <a:r>
              <a:rPr kumimoji="0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more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 400 customers are ever online at the same time. In 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case,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rather</a:t>
            </a:r>
            <a:r>
              <a:rPr kumimoji="0" sz="22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needing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of 2,048 addresses,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DHCP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server that assigns</a:t>
            </a:r>
            <a:r>
              <a:rPr kumimoji="0" sz="22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494030" lvl="0" indent="0" algn="l" defTabSz="914400" rtl="0" eaLnBrk="1" fontAlgn="auto" latinLnBrk="0" hangingPunct="1">
              <a:lnSpc>
                <a:spcPct val="7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dynamically needs only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512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  form</a:t>
            </a:r>
            <a:r>
              <a:rPr kumimoji="0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a.b.c.d/23).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03530" marR="0" lvl="0" indent="-291465" algn="l" defTabSz="914400" rtl="0" eaLnBrk="1" fontAlgn="auto" latinLnBrk="0" hangingPunct="1">
              <a:lnSpc>
                <a:spcPts val="2245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03530" algn="l"/>
                <a:tab pos="30416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the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leave, the DHCP server needs to update its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22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available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8770" marR="0" lvl="0" indent="-306705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8770" algn="l"/>
                <a:tab pos="31940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joins,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DHCP server allocates an arbitrary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</a:t>
            </a:r>
            <a:r>
              <a:rPr kumimoji="0" sz="22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805180" lvl="0" indent="0" algn="l" defTabSz="914400" rtl="0" eaLnBrk="1" fontAlgn="auto" latinLnBrk="0" hangingPunct="1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current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 of available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addresses; 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leaves, its address is  returned to the</a:t>
            </a:r>
            <a:r>
              <a:rPr kumimoji="0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1290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3300"/>
            <a:ext cx="10106660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39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client-server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wanting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 information,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including  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400" lvl="0" indent="-228600" algn="just" defTabSz="914400" rtl="0" eaLnBrk="1" fontAlgn="auto" latinLnBrk="0" hangingPunct="1">
              <a:lnSpc>
                <a:spcPts val="302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no server 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present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knows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shows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223.1.2/24, with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serving as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arriving clients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223.1.1/24 and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223.1.3/24.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386036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55828"/>
            <a:ext cx="8786510" cy="660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55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761"/>
            <a:ext cx="10307320" cy="4888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newly arriving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four-step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process: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discovery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find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which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discover 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an IP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7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29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 “this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host”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0.0.0.0.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2405" lvl="0" indent="-228600" algn="l" defTabSz="914400" rtl="0" eaLnBrk="1" fontAlgn="auto" latinLnBrk="0" hangingPunct="1">
              <a:lnSpc>
                <a:spcPts val="302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passes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link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0939561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03910"/>
            <a:ext cx="10304780" cy="3268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74675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offer(s).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again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 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 discover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message,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proposed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and an 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lease time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time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 the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valid.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90220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21524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9539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newly arriving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choose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selected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echoing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ts val="3195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confirming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requested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5877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ACK,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complete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can 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DHCP-allocated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lease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duration.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546466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690" y="89906"/>
            <a:ext cx="5428943" cy="6641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2527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650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Network </a:t>
            </a:r>
            <a:r>
              <a:rPr spc="-190" dirty="0"/>
              <a:t>Address </a:t>
            </a:r>
            <a:r>
              <a:rPr spc="-285" dirty="0"/>
              <a:t>Translation</a:t>
            </a:r>
            <a:r>
              <a:rPr spc="-900" dirty="0"/>
              <a:t> </a:t>
            </a:r>
            <a:r>
              <a:rPr spc="-330" dirty="0"/>
              <a:t>(NAT)</a:t>
            </a:r>
          </a:p>
        </p:txBody>
      </p:sp>
      <p:sp>
        <p:nvSpPr>
          <p:cNvPr id="3" name="object 3"/>
          <p:cNvSpPr/>
          <p:nvPr/>
        </p:nvSpPr>
        <p:spPr>
          <a:xfrm>
            <a:off x="1449324" y="1767182"/>
            <a:ext cx="9424571" cy="4727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2424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880" cy="56972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0795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other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10.0.0.0/24</a:t>
            </a:r>
            <a:r>
              <a:rPr kumimoji="0" sz="28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4676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forwarded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beyond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global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clearly cannot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54990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like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 world.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Instead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behaves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world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970" lvl="0" indent="-228600" algn="l" defTabSz="914400" rtl="0" eaLnBrk="1" fontAlgn="auto" latinLnBrk="0" hangingPunct="1">
              <a:lnSpc>
                <a:spcPts val="302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Internet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entering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3830" lvl="0" indent="-228600" algn="l" defTabSz="914400" rtl="0" eaLnBrk="1" fontAlgn="auto" latinLnBrk="0" hangingPunct="1">
              <a:lnSpc>
                <a:spcPts val="303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essence,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hiding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details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world.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433125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245" cy="4674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321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a </a:t>
            </a:r>
            <a:r>
              <a:rPr kumimoji="0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translation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well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entries.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63525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user sitting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behind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(port 80) with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128.119.40.186.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75615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assigns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(arbitrary)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 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generates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 its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WAN-side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with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95441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06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Internet </a:t>
            </a:r>
            <a:r>
              <a:rPr spc="-240" dirty="0"/>
              <a:t>Control </a:t>
            </a:r>
            <a:r>
              <a:rPr spc="-95" dirty="0"/>
              <a:t>Message</a:t>
            </a:r>
            <a:r>
              <a:rPr spc="-910" dirty="0"/>
              <a:t> </a:t>
            </a:r>
            <a:r>
              <a:rPr spc="-254" dirty="0"/>
              <a:t>Protocol </a:t>
            </a:r>
            <a:r>
              <a:rPr spc="-140" dirty="0"/>
              <a:t>(ICMP)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04780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26428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hosts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communicate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</a:t>
            </a:r>
            <a:r>
              <a:rPr kumimoji="0" sz="2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ICMP is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</a:t>
            </a:r>
            <a:r>
              <a:rPr kumimoji="0" sz="2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ts val="281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running a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Telnet,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HTTP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session,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0" algn="l" defTabSz="914400" rtl="0" eaLnBrk="1" fontAlgn="auto" latinLnBrk="0" hangingPunct="1">
              <a:lnSpc>
                <a:spcPts val="25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encountered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message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as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unreachable.”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had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6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256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messages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payload, just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UDP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segments</a:t>
            </a:r>
            <a:r>
              <a:rPr kumimoji="0" sz="26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as IP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7815" lvl="0" indent="-228600" algn="l" defTabSz="914400" rtl="0" eaLnBrk="1" fontAlgn="auto" latinLnBrk="0" hangingPunct="1">
              <a:lnSpc>
                <a:spcPts val="25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type and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code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caused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generated.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21192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1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I</a:t>
            </a:r>
            <a:r>
              <a:rPr spc="-330" dirty="0"/>
              <a:t>P</a:t>
            </a:r>
            <a:r>
              <a:rPr spc="-254" dirty="0"/>
              <a:t>v</a:t>
            </a:r>
            <a:r>
              <a:rPr spc="-75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888220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space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beginning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up,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IP nodes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 allocated unique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breathtaking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68655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space,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developed.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099961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37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IPv6 </a:t>
            </a:r>
            <a:r>
              <a:rPr spc="-250" dirty="0"/>
              <a:t>Datagram</a:t>
            </a:r>
            <a:r>
              <a:rPr spc="-750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1845563" y="1690196"/>
            <a:ext cx="8830303" cy="4827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8606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60" dirty="0"/>
              <a:t>The </a:t>
            </a:r>
            <a:r>
              <a:rPr spc="-170" dirty="0"/>
              <a:t>most </a:t>
            </a:r>
            <a:r>
              <a:rPr spc="-215" dirty="0"/>
              <a:t>important </a:t>
            </a:r>
            <a:r>
              <a:rPr spc="-185" dirty="0"/>
              <a:t>changes </a:t>
            </a:r>
            <a:r>
              <a:rPr spc="-210" dirty="0"/>
              <a:t>introduced</a:t>
            </a:r>
            <a:r>
              <a:rPr spc="-865" dirty="0"/>
              <a:t> </a:t>
            </a:r>
            <a:r>
              <a:rPr spc="-200" dirty="0"/>
              <a:t>in  </a:t>
            </a:r>
            <a:r>
              <a:rPr spc="-180" dirty="0"/>
              <a:t>IPv6</a:t>
            </a:r>
            <a:r>
              <a:rPr spc="-330" dirty="0"/>
              <a:t> </a:t>
            </a:r>
            <a:r>
              <a:rPr spc="-295" dirty="0"/>
              <a:t>are: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Expanded addressing </a:t>
            </a: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capabilities</a:t>
            </a:r>
            <a:r>
              <a:rPr i="1" spc="-5" dirty="0">
                <a:latin typeface="Carlito"/>
                <a:cs typeface="Carlito"/>
              </a:rPr>
              <a:t>. </a:t>
            </a:r>
            <a:r>
              <a:rPr dirty="0"/>
              <a:t>IPv6 </a:t>
            </a:r>
            <a:r>
              <a:rPr spc="-5" dirty="0"/>
              <a:t>increases </a:t>
            </a:r>
            <a:r>
              <a:rPr dirty="0"/>
              <a:t>the </a:t>
            </a:r>
            <a:r>
              <a:rPr spc="-15" dirty="0"/>
              <a:t>size </a:t>
            </a:r>
            <a:r>
              <a:rPr spc="-5" dirty="0"/>
              <a:t>of </a:t>
            </a:r>
            <a:r>
              <a:rPr dirty="0"/>
              <a:t>the IP</a:t>
            </a:r>
            <a:r>
              <a:rPr spc="-155" dirty="0"/>
              <a:t> </a:t>
            </a:r>
            <a:r>
              <a:rPr spc="-5" dirty="0"/>
              <a:t>address</a:t>
            </a:r>
          </a:p>
          <a:p>
            <a:pPr marL="241300" marR="932180">
              <a:lnSpc>
                <a:spcPct val="70100"/>
              </a:lnSpc>
              <a:spcBef>
                <a:spcPts val="459"/>
              </a:spcBef>
            </a:pPr>
            <a:r>
              <a:rPr spc="-10" dirty="0"/>
              <a:t>from </a:t>
            </a:r>
            <a:r>
              <a:rPr dirty="0"/>
              <a:t>32 </a:t>
            </a:r>
            <a:r>
              <a:rPr spc="-10" dirty="0"/>
              <a:t>to </a:t>
            </a:r>
            <a:r>
              <a:rPr dirty="0"/>
              <a:t>128 </a:t>
            </a:r>
            <a:r>
              <a:rPr spc="-5" dirty="0"/>
              <a:t>bits. This ensures that </a:t>
            </a:r>
            <a:r>
              <a:rPr dirty="0"/>
              <a:t>the </a:t>
            </a:r>
            <a:r>
              <a:rPr spc="-10" dirty="0"/>
              <a:t>world won’t </a:t>
            </a:r>
            <a:r>
              <a:rPr dirty="0"/>
              <a:t>run </a:t>
            </a:r>
            <a:r>
              <a:rPr spc="-5" dirty="0"/>
              <a:t>out of </a:t>
            </a:r>
            <a:r>
              <a:rPr dirty="0"/>
              <a:t>IP  </a:t>
            </a:r>
            <a:r>
              <a:rPr spc="-5" dirty="0"/>
              <a:t>addresses.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In addition </a:t>
            </a:r>
            <a:r>
              <a:rPr spc="-15" dirty="0"/>
              <a:t>to </a:t>
            </a:r>
            <a:r>
              <a:rPr spc="-10" dirty="0"/>
              <a:t>unicast </a:t>
            </a:r>
            <a:r>
              <a:rPr dirty="0"/>
              <a:t>and </a:t>
            </a:r>
            <a:r>
              <a:rPr spc="-5" dirty="0"/>
              <a:t>multicast addresses, </a:t>
            </a:r>
            <a:r>
              <a:rPr dirty="0"/>
              <a:t>IPv6 </a:t>
            </a:r>
            <a:r>
              <a:rPr spc="-5" dirty="0"/>
              <a:t>has </a:t>
            </a:r>
            <a:r>
              <a:rPr spc="-10" dirty="0"/>
              <a:t>introduced </a:t>
            </a:r>
            <a:r>
              <a:rPr dirty="0"/>
              <a:t>a</a:t>
            </a:r>
            <a:r>
              <a:rPr spc="-95" dirty="0"/>
              <a:t> </a:t>
            </a:r>
            <a:r>
              <a:rPr spc="-5" dirty="0"/>
              <a:t>new</a:t>
            </a:r>
          </a:p>
          <a:p>
            <a:pPr marL="241300" marR="5080">
              <a:lnSpc>
                <a:spcPct val="70000"/>
              </a:lnSpc>
              <a:spcBef>
                <a:spcPts val="470"/>
              </a:spcBef>
            </a:pPr>
            <a:r>
              <a:rPr dirty="0"/>
              <a:t>type </a:t>
            </a:r>
            <a:r>
              <a:rPr spc="-5" dirty="0"/>
              <a:t>of address, called </a:t>
            </a:r>
            <a:r>
              <a:rPr dirty="0"/>
              <a:t>an </a:t>
            </a:r>
            <a:r>
              <a:rPr b="1" spc="-20" dirty="0">
                <a:latin typeface="Carlito"/>
                <a:cs typeface="Carlito"/>
              </a:rPr>
              <a:t>anycast </a:t>
            </a:r>
            <a:r>
              <a:rPr b="1" spc="-5" dirty="0">
                <a:latin typeface="Carlito"/>
                <a:cs typeface="Carlito"/>
              </a:rPr>
              <a:t>address</a:t>
            </a:r>
            <a:r>
              <a:rPr spc="-5" dirty="0"/>
              <a:t>, </a:t>
            </a:r>
            <a:r>
              <a:rPr dirty="0"/>
              <a:t>which </a:t>
            </a:r>
            <a:r>
              <a:rPr spc="-10" dirty="0"/>
              <a:t>allows </a:t>
            </a:r>
            <a:r>
              <a:rPr dirty="0"/>
              <a:t>a </a:t>
            </a:r>
            <a:r>
              <a:rPr spc="-15" dirty="0"/>
              <a:t>datagram to </a:t>
            </a:r>
            <a:r>
              <a:rPr spc="-5" dirty="0"/>
              <a:t>be  </a:t>
            </a:r>
            <a:r>
              <a:rPr spc="-10" dirty="0"/>
              <a:t>delivered to </a:t>
            </a:r>
            <a:r>
              <a:rPr spc="-15" dirty="0"/>
              <a:t>any </a:t>
            </a:r>
            <a:r>
              <a:rPr spc="-5" dirty="0"/>
              <a:t>one of </a:t>
            </a:r>
            <a:r>
              <a:rPr dirty="0"/>
              <a:t>a </a:t>
            </a:r>
            <a:r>
              <a:rPr spc="-10" dirty="0"/>
              <a:t>group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10" dirty="0"/>
              <a:t>hosts.</a:t>
            </a:r>
          </a:p>
          <a:p>
            <a:pPr marL="241300" marR="45720" indent="-228600">
              <a:lnSpc>
                <a:spcPct val="701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A streamlined </a:t>
            </a:r>
            <a:r>
              <a:rPr i="1" spc="-10" dirty="0">
                <a:solidFill>
                  <a:srgbClr val="44536A"/>
                </a:solidFill>
                <a:latin typeface="Carlito"/>
                <a:cs typeface="Carlito"/>
              </a:rPr>
              <a:t>40-byte </a:t>
            </a:r>
            <a:r>
              <a:rPr i="1" spc="-35" dirty="0">
                <a:solidFill>
                  <a:srgbClr val="44536A"/>
                </a:solidFill>
                <a:latin typeface="Carlito"/>
                <a:cs typeface="Carlito"/>
              </a:rPr>
              <a:t>header</a:t>
            </a:r>
            <a:r>
              <a:rPr i="1" spc="-35" dirty="0">
                <a:latin typeface="Carlito"/>
                <a:cs typeface="Carlito"/>
              </a:rPr>
              <a:t>. </a:t>
            </a:r>
            <a:r>
              <a:rPr dirty="0"/>
              <a:t>a </a:t>
            </a:r>
            <a:r>
              <a:rPr spc="-5" dirty="0"/>
              <a:t>number </a:t>
            </a:r>
            <a:r>
              <a:rPr dirty="0"/>
              <a:t>of IPv4 </a:t>
            </a:r>
            <a:r>
              <a:rPr spc="-5" dirty="0"/>
              <a:t>fields </a:t>
            </a:r>
            <a:r>
              <a:rPr spc="-20" dirty="0"/>
              <a:t>have </a:t>
            </a:r>
            <a:r>
              <a:rPr spc="-5" dirty="0"/>
              <a:t>been </a:t>
            </a:r>
            <a:r>
              <a:rPr spc="-10" dirty="0"/>
              <a:t>dropped  </a:t>
            </a:r>
            <a:r>
              <a:rPr spc="-5" dirty="0"/>
              <a:t>or </a:t>
            </a:r>
            <a:r>
              <a:rPr dirty="0"/>
              <a:t>made</a:t>
            </a:r>
            <a:r>
              <a:rPr spc="-10" dirty="0"/>
              <a:t> </a:t>
            </a:r>
            <a:r>
              <a:rPr spc="-5" dirty="0"/>
              <a:t>optional.</a:t>
            </a:r>
          </a:p>
          <a:p>
            <a:pPr marL="241300" marR="28956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 </a:t>
            </a:r>
            <a:r>
              <a:rPr spc="-5" dirty="0"/>
              <a:t>resulting </a:t>
            </a:r>
            <a:r>
              <a:rPr spc="-10" dirty="0"/>
              <a:t>40-byte fixed-length </a:t>
            </a:r>
            <a:r>
              <a:rPr spc="-5" dirty="0"/>
              <a:t>header </a:t>
            </a:r>
            <a:r>
              <a:rPr spc="-10" dirty="0"/>
              <a:t>allows </a:t>
            </a:r>
            <a:r>
              <a:rPr spc="-25" dirty="0"/>
              <a:t>for </a:t>
            </a:r>
            <a:r>
              <a:rPr spc="-20" dirty="0"/>
              <a:t>faster </a:t>
            </a:r>
            <a:r>
              <a:rPr spc="-10" dirty="0"/>
              <a:t>processing </a:t>
            </a:r>
            <a:r>
              <a:rPr spc="-5" dirty="0"/>
              <a:t>of  </a:t>
            </a:r>
            <a:r>
              <a:rPr dirty="0"/>
              <a:t>the IP</a:t>
            </a:r>
            <a:r>
              <a:rPr spc="-35" dirty="0"/>
              <a:t> </a:t>
            </a:r>
            <a:r>
              <a:rPr spc="-15" dirty="0"/>
              <a:t>datagram.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Flow </a:t>
            </a: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labeling and </a:t>
            </a:r>
            <a:r>
              <a:rPr i="1" spc="-20" dirty="0">
                <a:solidFill>
                  <a:srgbClr val="44536A"/>
                </a:solidFill>
                <a:latin typeface="Carlito"/>
                <a:cs typeface="Carlito"/>
              </a:rPr>
              <a:t>priority. </a:t>
            </a:r>
            <a:r>
              <a:rPr spc="-5" dirty="0"/>
              <a:t>The </a:t>
            </a:r>
            <a:r>
              <a:rPr dirty="0"/>
              <a:t>IPv6 </a:t>
            </a:r>
            <a:r>
              <a:rPr spc="-5" dirty="0"/>
              <a:t>header has </a:t>
            </a:r>
            <a:r>
              <a:rPr dirty="0"/>
              <a:t>an 8-bit </a:t>
            </a:r>
            <a:r>
              <a:rPr spc="-15" dirty="0"/>
              <a:t>traffic </a:t>
            </a:r>
            <a:r>
              <a:rPr dirty="0"/>
              <a:t>class</a:t>
            </a:r>
            <a:r>
              <a:rPr spc="-75" dirty="0"/>
              <a:t> </a:t>
            </a:r>
            <a:r>
              <a:rPr spc="-5" dirty="0"/>
              <a:t>field.</a:t>
            </a:r>
          </a:p>
          <a:p>
            <a:pPr marL="241300">
              <a:lnSpc>
                <a:spcPts val="2185"/>
              </a:lnSpc>
            </a:pPr>
            <a:r>
              <a:rPr spc="-5" dirty="0"/>
              <a:t>This field, </a:t>
            </a:r>
            <a:r>
              <a:rPr spc="-20" dirty="0"/>
              <a:t>like </a:t>
            </a:r>
            <a:r>
              <a:rPr dirty="0"/>
              <a:t>the </a:t>
            </a:r>
            <a:r>
              <a:rPr spc="-25" dirty="0"/>
              <a:t>TOS </a:t>
            </a:r>
            <a:r>
              <a:rPr spc="-5" dirty="0"/>
              <a:t>field </a:t>
            </a:r>
            <a:r>
              <a:rPr dirty="0"/>
              <a:t>in IPv4, </a:t>
            </a:r>
            <a:r>
              <a:rPr spc="-10" dirty="0"/>
              <a:t>can </a:t>
            </a:r>
            <a:r>
              <a:rPr dirty="0"/>
              <a:t>be </a:t>
            </a:r>
            <a:r>
              <a:rPr spc="-5" dirty="0"/>
              <a:t>used </a:t>
            </a:r>
            <a:r>
              <a:rPr spc="-10" dirty="0"/>
              <a:t>to </a:t>
            </a:r>
            <a:r>
              <a:rPr spc="-5" dirty="0"/>
              <a:t>give priority </a:t>
            </a:r>
            <a:r>
              <a:rPr spc="-10" dirty="0"/>
              <a:t>to</a:t>
            </a:r>
            <a:r>
              <a:rPr spc="10" dirty="0"/>
              <a:t> </a:t>
            </a:r>
            <a:r>
              <a:rPr spc="-5" dirty="0"/>
              <a:t>certain</a:t>
            </a:r>
          </a:p>
          <a:p>
            <a:pPr marL="241300" marR="421640">
              <a:lnSpc>
                <a:spcPct val="70000"/>
              </a:lnSpc>
              <a:spcBef>
                <a:spcPts val="470"/>
              </a:spcBef>
            </a:pPr>
            <a:r>
              <a:rPr spc="-10" dirty="0"/>
              <a:t>datagrams </a:t>
            </a:r>
            <a:r>
              <a:rPr dirty="0"/>
              <a:t>within a </a:t>
            </a:r>
            <a:r>
              <a:rPr spc="-50" dirty="0"/>
              <a:t>flow, </a:t>
            </a:r>
            <a:r>
              <a:rPr spc="-5" dirty="0"/>
              <a:t>or </a:t>
            </a:r>
            <a:r>
              <a:rPr dirty="0"/>
              <a:t>it </a:t>
            </a:r>
            <a:r>
              <a:rPr spc="-10" dirty="0"/>
              <a:t>can </a:t>
            </a:r>
            <a:r>
              <a:rPr dirty="0"/>
              <a:t>be used </a:t>
            </a:r>
            <a:r>
              <a:rPr spc="-10" dirty="0"/>
              <a:t>to </a:t>
            </a:r>
            <a:r>
              <a:rPr spc="-5" dirty="0"/>
              <a:t>give </a:t>
            </a:r>
            <a:r>
              <a:rPr dirty="0"/>
              <a:t>priority </a:t>
            </a:r>
            <a:r>
              <a:rPr spc="-15" dirty="0"/>
              <a:t>to </a:t>
            </a:r>
            <a:r>
              <a:rPr spc="-10" dirty="0"/>
              <a:t>datagrams  from </a:t>
            </a:r>
            <a:r>
              <a:rPr spc="-5" dirty="0"/>
              <a:t>certain</a:t>
            </a:r>
            <a:r>
              <a:rPr dirty="0"/>
              <a:t> </a:t>
            </a:r>
            <a:r>
              <a:rPr spc="-5" dirty="0"/>
              <a:t>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506233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3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The </a:t>
            </a:r>
            <a:r>
              <a:rPr spc="-180" dirty="0"/>
              <a:t>IPv6 </a:t>
            </a:r>
            <a:r>
              <a:rPr spc="-240" dirty="0"/>
              <a:t>format</a:t>
            </a:r>
            <a:r>
              <a:rPr spc="-615" dirty="0"/>
              <a:t> </a:t>
            </a:r>
            <a:r>
              <a:rPr spc="-240" dirty="0"/>
              <a:t>contains: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3547"/>
            <a:ext cx="10118090" cy="44151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4-bit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similar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spirit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saw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label.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20-bit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105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16-bit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unsigned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integer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giving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2065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UDP).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uses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IPv4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743589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115550" cy="37801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count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zero,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06400" lvl="0" indent="-228600" algn="l" defTabSz="914400" rtl="0" eaLnBrk="1" fontAlgn="auto" latinLnBrk="0" hangingPunct="1">
              <a:lnSpc>
                <a:spcPts val="303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and destination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various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formats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128-bit address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13664" lvl="0" indent="-228600" algn="l" defTabSz="914400" rtl="0" eaLnBrk="1" fontAlgn="auto" latinLnBrk="0" hangingPunct="1">
              <a:lnSpc>
                <a:spcPct val="90000"/>
              </a:lnSpc>
              <a:spcBef>
                <a:spcPts val="94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287633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99897"/>
            <a:ext cx="10361930" cy="58680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does not allow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intermediate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routers;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operations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performed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120" lvl="0" indent="-228600" algn="l" defTabSz="914400" rtl="0" eaLnBrk="1" fontAlgn="auto" latinLnBrk="0" hangingPunct="1">
              <a:lnSpc>
                <a:spcPts val="269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an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“Packet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Big”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back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08965" lvl="0" indent="-228600" algn="l" defTabSz="914400" rtl="0" eaLnBrk="1" fontAlgn="auto" latinLnBrk="0" hangingPunct="1">
              <a:lnSpc>
                <a:spcPts val="26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resend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 size.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19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UDP) and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checksumming,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functionality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sufficiently redundant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is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again,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concern.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22909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results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fixed-length,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80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41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Routing</a:t>
            </a:r>
            <a:r>
              <a:rPr spc="-48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48265" cy="470385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4511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job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determine good paths </a:t>
            </a:r>
            <a:r>
              <a:rPr sz="2800" spc="-25" dirty="0">
                <a:latin typeface="Carlito"/>
                <a:cs typeface="Carlito"/>
              </a:rPr>
              <a:t>(equivalently, </a:t>
            </a:r>
            <a:r>
              <a:rPr sz="2800" spc="-15" dirty="0">
                <a:latin typeface="Carlito"/>
                <a:cs typeface="Carlito"/>
              </a:rPr>
              <a:t>routes), 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senders to receivers, through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7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Typically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0" dirty="0">
                <a:latin typeface="Carlito"/>
                <a:cs typeface="Carlito"/>
              </a:rPr>
              <a:t>router,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default</a:t>
            </a:r>
            <a:r>
              <a:rPr sz="2800" b="1" spc="235" dirty="0">
                <a:latin typeface="Carlito"/>
                <a:cs typeface="Carlito"/>
              </a:rPr>
              <a:t> </a:t>
            </a:r>
            <a:r>
              <a:rPr sz="2800" b="1" spc="-20" dirty="0">
                <a:latin typeface="Carlito"/>
                <a:cs typeface="Carlito"/>
              </a:rPr>
              <a:t>router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(also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first-hop </a:t>
            </a:r>
            <a:r>
              <a:rPr sz="2800" b="1" spc="-20" dirty="0">
                <a:latin typeface="Carlito"/>
                <a:cs typeface="Carlito"/>
              </a:rPr>
              <a:t>router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host).</a:t>
            </a:r>
            <a:endParaRPr sz="2800" dirty="0">
              <a:latin typeface="Carlito"/>
              <a:cs typeface="Carlito"/>
            </a:endParaRPr>
          </a:p>
          <a:p>
            <a:pPr marL="241300" marR="861060" indent="-228600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Whenever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sends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packet,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5" dirty="0">
                <a:latin typeface="Carlito"/>
                <a:cs typeface="Carlito"/>
              </a:rPr>
              <a:t>default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We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default 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source </a:t>
            </a:r>
            <a:r>
              <a:rPr sz="2800" b="1" spc="-20" dirty="0">
                <a:latin typeface="Carlito"/>
                <a:cs typeface="Carlito"/>
              </a:rPr>
              <a:t>router  </a:t>
            </a:r>
            <a:r>
              <a:rPr sz="2800" spc="-5" dirty="0">
                <a:latin typeface="Carlito"/>
                <a:cs typeface="Carlito"/>
              </a:rPr>
              <a:t>and the </a:t>
            </a:r>
            <a:r>
              <a:rPr sz="2800" spc="-15" dirty="0">
                <a:latin typeface="Carlito"/>
                <a:cs typeface="Carlito"/>
              </a:rPr>
              <a:t>default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destination  </a:t>
            </a:r>
            <a:r>
              <a:rPr sz="2800" b="1" spc="-15" dirty="0">
                <a:latin typeface="Carlito"/>
                <a:cs typeface="Carlito"/>
              </a:rPr>
              <a:t>router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096298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15899"/>
            <a:ext cx="10169525" cy="53130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purpose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then </a:t>
            </a:r>
            <a:r>
              <a:rPr sz="2800" spc="-10" dirty="0">
                <a:latin typeface="Carlito"/>
                <a:cs typeface="Carlito"/>
              </a:rPr>
              <a:t>simple: given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dirty="0">
                <a:latin typeface="Carlito"/>
                <a:cs typeface="Carlito"/>
              </a:rPr>
              <a:t>of  </a:t>
            </a:r>
            <a:r>
              <a:rPr sz="2800" spc="-20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connecting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finds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25" dirty="0">
                <a:latin typeface="Carlito"/>
                <a:cs typeface="Carlito"/>
              </a:rPr>
              <a:t>“good”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router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>
              <a:latin typeface="Carlito"/>
              <a:cs typeface="Carlito"/>
            </a:endParaRPr>
          </a:p>
          <a:p>
            <a:pPr marL="321945" indent="-30988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good path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one that 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least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cost.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formulate </a:t>
            </a:r>
            <a:r>
              <a:rPr sz="2800" spc="-15" dirty="0">
                <a:latin typeface="Carlito"/>
                <a:cs typeface="Carlito"/>
              </a:rPr>
              <a:t>routing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problems.</a:t>
            </a:r>
            <a:endParaRPr sz="2800">
              <a:latin typeface="Carlito"/>
              <a:cs typeface="Carlito"/>
            </a:endParaRPr>
          </a:p>
          <a:p>
            <a:pPr marL="241300" marR="17780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Recall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b="1" spc="-20" dirty="0">
                <a:latin typeface="Carlito"/>
                <a:cs typeface="Carlito"/>
              </a:rPr>
              <a:t>graph </a:t>
            </a:r>
            <a:r>
              <a:rPr sz="2800" i="1" spc="-5" dirty="0">
                <a:latin typeface="Carlito"/>
                <a:cs typeface="Carlito"/>
              </a:rPr>
              <a:t>G =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N,E</a:t>
            </a:r>
            <a:r>
              <a:rPr sz="2800" spc="-5" dirty="0">
                <a:latin typeface="Carlito"/>
                <a:cs typeface="Carlito"/>
              </a:rPr>
              <a:t>) is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and a </a:t>
            </a:r>
            <a:r>
              <a:rPr sz="2800" spc="-10" dirty="0">
                <a:latin typeface="Carlito"/>
                <a:cs typeface="Carlito"/>
              </a:rPr>
              <a:t>collection </a:t>
            </a:r>
            <a:r>
              <a:rPr sz="2800" i="1" spc="-5" dirty="0">
                <a:latin typeface="Carlito"/>
                <a:cs typeface="Carlito"/>
              </a:rPr>
              <a:t>E </a:t>
            </a:r>
            <a:r>
              <a:rPr sz="2800" spc="-10" dirty="0">
                <a:latin typeface="Carlito"/>
                <a:cs typeface="Carlito"/>
              </a:rPr>
              <a:t>of  </a:t>
            </a:r>
            <a:r>
              <a:rPr sz="2800" spc="-5" dirty="0">
                <a:latin typeface="Carlito"/>
                <a:cs typeface="Carlito"/>
              </a:rPr>
              <a:t>edges, </a:t>
            </a:r>
            <a:r>
              <a:rPr sz="2800" spc="-10" dirty="0">
                <a:latin typeface="Carlito"/>
                <a:cs typeface="Carlito"/>
              </a:rPr>
              <a:t>where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5" dirty="0">
                <a:latin typeface="Carlito"/>
                <a:cs typeface="Carlito"/>
              </a:rPr>
              <a:t>edge is a pair of nodes </a:t>
            </a:r>
            <a:r>
              <a:rPr sz="2800" spc="-20" dirty="0">
                <a:latin typeface="Carlito"/>
                <a:cs typeface="Carlito"/>
              </a:rPr>
              <a:t>from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187325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0" dirty="0">
                <a:latin typeface="Carlito"/>
                <a:cs typeface="Carlito"/>
              </a:rPr>
              <a:t>context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routing,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graph  represent </a:t>
            </a:r>
            <a:r>
              <a:rPr sz="2800" spc="-20" dirty="0">
                <a:latin typeface="Carlito"/>
                <a:cs typeface="Carlito"/>
              </a:rPr>
              <a:t>routers—the </a:t>
            </a:r>
            <a:r>
              <a:rPr sz="2800" spc="-10" dirty="0">
                <a:latin typeface="Carlito"/>
                <a:cs typeface="Carlito"/>
              </a:rPr>
              <a:t>points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20" dirty="0">
                <a:latin typeface="Carlito"/>
                <a:cs typeface="Carlito"/>
              </a:rPr>
              <a:t>packet-forwarding </a:t>
            </a:r>
            <a:r>
              <a:rPr sz="2800" spc="-10" dirty="0">
                <a:latin typeface="Carlito"/>
                <a:cs typeface="Carlito"/>
              </a:rPr>
              <a:t>decisions 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made—and the </a:t>
            </a:r>
            <a:r>
              <a:rPr sz="2800" spc="-10" dirty="0">
                <a:latin typeface="Carlito"/>
                <a:cs typeface="Carlito"/>
              </a:rPr>
              <a:t>edges connecting </a:t>
            </a:r>
            <a:r>
              <a:rPr sz="2800" spc="-5" dirty="0">
                <a:latin typeface="Carlito"/>
                <a:cs typeface="Carlito"/>
              </a:rPr>
              <a:t>these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represent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these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Such 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an </a:t>
            </a:r>
            <a:r>
              <a:rPr sz="2800" spc="-15" dirty="0">
                <a:latin typeface="Carlito"/>
                <a:cs typeface="Carlito"/>
              </a:rPr>
              <a:t>abstraction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computer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460173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39" y="234685"/>
            <a:ext cx="9067796" cy="6313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82666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0412"/>
            <a:ext cx="10196195" cy="545726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5" dirty="0">
                <a:latin typeface="Carlito"/>
                <a:cs typeface="Carlito"/>
              </a:rPr>
              <a:t>also has a </a:t>
            </a:r>
            <a:r>
              <a:rPr sz="2800" spc="-15" dirty="0">
                <a:latin typeface="Carlito"/>
                <a:cs typeface="Carlito"/>
              </a:rPr>
              <a:t>value representing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cost.</a:t>
            </a:r>
            <a:endParaRPr sz="2800" dirty="0">
              <a:latin typeface="Carlito"/>
              <a:cs typeface="Carlito"/>
            </a:endParaRPr>
          </a:p>
          <a:p>
            <a:pPr marL="241300" marR="29019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35" dirty="0">
                <a:latin typeface="Carlito"/>
                <a:cs typeface="Carlito"/>
              </a:rPr>
              <a:t>edge’s </a:t>
            </a:r>
            <a:r>
              <a:rPr sz="2800" spc="-20" dirty="0">
                <a:latin typeface="Carlito"/>
                <a:cs typeface="Carlito"/>
              </a:rPr>
              <a:t>cost may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length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corresponding link,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link speed, </a:t>
            </a:r>
            <a:r>
              <a:rPr sz="2800" spc="-5" dirty="0">
                <a:latin typeface="Carlito"/>
                <a:cs typeface="Carlito"/>
              </a:rPr>
              <a:t>or the </a:t>
            </a:r>
            <a:r>
              <a:rPr sz="2800" spc="-10" dirty="0">
                <a:latin typeface="Carlito"/>
                <a:cs typeface="Carlito"/>
              </a:rPr>
              <a:t>monetary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associated  </a:t>
            </a:r>
            <a:r>
              <a:rPr sz="2800" spc="-5" dirty="0">
                <a:latin typeface="Carlito"/>
                <a:cs typeface="Carlito"/>
              </a:rPr>
              <a:t>with a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 dirty="0">
              <a:latin typeface="Carlito"/>
              <a:cs typeface="Carlito"/>
            </a:endParaRPr>
          </a:p>
          <a:p>
            <a:pPr marL="241300" marR="89598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For </a:t>
            </a:r>
            <a:r>
              <a:rPr sz="2800" spc="-20" dirty="0">
                <a:latin typeface="Carlito"/>
                <a:cs typeface="Carlito"/>
              </a:rPr>
              <a:t>any </a:t>
            </a:r>
            <a:r>
              <a:rPr sz="2800" spc="-10" dirty="0">
                <a:latin typeface="Carlito"/>
                <a:cs typeface="Carlito"/>
              </a:rPr>
              <a:t>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denote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dirty="0">
                <a:latin typeface="Carlito"/>
                <a:cs typeface="Carlito"/>
              </a:rPr>
              <a:t>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edge  between </a:t>
            </a:r>
            <a:r>
              <a:rPr sz="2800" spc="-5" dirty="0">
                <a:latin typeface="Carlito"/>
                <a:cs typeface="Carlito"/>
              </a:rPr>
              <a:t>nodes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i="1" spc="-70" dirty="0">
                <a:latin typeface="Carlito"/>
                <a:cs typeface="Carlito"/>
              </a:rPr>
              <a:t>y.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the </a:t>
            </a:r>
            <a:r>
              <a:rPr sz="2800" spc="-10" dirty="0">
                <a:latin typeface="Carlito"/>
                <a:cs typeface="Carlito"/>
              </a:rPr>
              <a:t>pair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does not belong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 </a:t>
            </a:r>
            <a:r>
              <a:rPr sz="2800" spc="-5" dirty="0">
                <a:latin typeface="Carlito"/>
                <a:cs typeface="Carlito"/>
              </a:rPr>
              <a:t>∞.</a:t>
            </a:r>
            <a:endParaRPr lang="en-US" sz="2800" spc="-5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rlito"/>
                <a:cs typeface="Carlito"/>
              </a:rPr>
              <a:t>Co</a:t>
            </a:r>
            <a:r>
              <a:rPr sz="2800" spc="-10" dirty="0">
                <a:latin typeface="Carlito"/>
                <a:cs typeface="Carlito"/>
              </a:rPr>
              <a:t>nsider only  </a:t>
            </a:r>
            <a:r>
              <a:rPr sz="2800" spc="-15" dirty="0">
                <a:latin typeface="Carlito"/>
                <a:cs typeface="Carlito"/>
              </a:rPr>
              <a:t>undirected graphs </a:t>
            </a:r>
            <a:r>
              <a:rPr sz="2800" spc="-5" dirty="0">
                <a:latin typeface="Carlito"/>
                <a:cs typeface="Carlito"/>
              </a:rPr>
              <a:t>(i.e., </a:t>
            </a:r>
            <a:r>
              <a:rPr sz="2800" spc="-15" dirty="0">
                <a:latin typeface="Carlito"/>
                <a:cs typeface="Carlito"/>
              </a:rPr>
              <a:t>graphs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edges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0" dirty="0">
                <a:latin typeface="Carlito"/>
                <a:cs typeface="Carlito"/>
              </a:rPr>
              <a:t>not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direction),  </a:t>
            </a:r>
            <a:r>
              <a:rPr sz="2800" spc="-5" dirty="0">
                <a:latin typeface="Carlito"/>
                <a:cs typeface="Carlito"/>
              </a:rPr>
              <a:t>so </a:t>
            </a:r>
            <a:r>
              <a:rPr sz="2800" spc="-10" dirty="0">
                <a:latin typeface="Carlito"/>
                <a:cs typeface="Carlito"/>
              </a:rPr>
              <a:t>that 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is the same as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40" dirty="0">
                <a:latin typeface="Carlito"/>
                <a:cs typeface="Carlito"/>
              </a:rPr>
              <a:t>(</a:t>
            </a:r>
            <a:r>
              <a:rPr sz="2800" i="1" spc="-40" dirty="0">
                <a:latin typeface="Carlito"/>
                <a:cs typeface="Carlito"/>
              </a:rPr>
              <a:t>y,x</a:t>
            </a:r>
            <a:r>
              <a:rPr sz="2800" spc="-4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</a:t>
            </a:r>
            <a:r>
              <a:rPr sz="2800" i="1" spc="225" dirty="0">
                <a:latin typeface="Carlito"/>
                <a:cs typeface="Carlito"/>
              </a:rPr>
              <a:t> </a:t>
            </a:r>
            <a:r>
              <a:rPr sz="2800" i="1" spc="-30" dirty="0">
                <a:latin typeface="Carlito"/>
                <a:cs typeface="Carlito"/>
              </a:rPr>
              <a:t>c</a:t>
            </a:r>
            <a:r>
              <a:rPr sz="2800" spc="-30" dirty="0">
                <a:latin typeface="Carlito"/>
                <a:cs typeface="Carlito"/>
              </a:rPr>
              <a:t>(</a:t>
            </a:r>
            <a:r>
              <a:rPr sz="2800" i="1" spc="-30" dirty="0">
                <a:latin typeface="Carlito"/>
                <a:cs typeface="Carlito"/>
              </a:rPr>
              <a:t>y,x</a:t>
            </a:r>
            <a:r>
              <a:rPr sz="2800" spc="-30" dirty="0">
                <a:latin typeface="Carlito"/>
                <a:cs typeface="Carlito"/>
              </a:rPr>
              <a:t>).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Also,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y </a:t>
            </a:r>
            <a:r>
              <a:rPr sz="2800" spc="-5" dirty="0">
                <a:latin typeface="Carlito"/>
                <a:cs typeface="Carlito"/>
              </a:rPr>
              <a:t>is said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be a </a:t>
            </a:r>
            <a:r>
              <a:rPr sz="2800" b="1" spc="-5" dirty="0">
                <a:latin typeface="Carlito"/>
                <a:cs typeface="Carlito"/>
              </a:rPr>
              <a:t>neighbor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if </a:t>
            </a:r>
            <a:r>
              <a:rPr sz="2800" spc="-10" dirty="0">
                <a:latin typeface="Carlito"/>
                <a:cs typeface="Carlito"/>
              </a:rPr>
              <a:t>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belongs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29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251113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2306"/>
            <a:ext cx="10356850" cy="59404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61150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natural </a:t>
            </a:r>
            <a:r>
              <a:rPr sz="2600" spc="-5" dirty="0">
                <a:latin typeface="Carlito"/>
                <a:cs typeface="Carlito"/>
              </a:rPr>
              <a:t>goal 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spc="-5" dirty="0">
                <a:latin typeface="Carlito"/>
                <a:cs typeface="Carlito"/>
              </a:rPr>
              <a:t>identify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least </a:t>
            </a:r>
            <a:r>
              <a:rPr sz="2600" spc="-10" dirty="0">
                <a:latin typeface="Carlito"/>
                <a:cs typeface="Carlito"/>
              </a:rPr>
              <a:t>costly </a:t>
            </a:r>
            <a:r>
              <a:rPr sz="2600" spc="-5" dirty="0">
                <a:latin typeface="Carlito"/>
                <a:cs typeface="Carlito"/>
              </a:rPr>
              <a:t>paths  between sources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233679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600" spc="-110" dirty="0">
                <a:latin typeface="Carlito"/>
                <a:cs typeface="Carlito"/>
              </a:rPr>
              <a:t>To </a:t>
            </a:r>
            <a:r>
              <a:rPr sz="2600" spc="-20" dirty="0">
                <a:latin typeface="Carlito"/>
                <a:cs typeface="Carlito"/>
              </a:rPr>
              <a:t>make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5" dirty="0">
                <a:latin typeface="Carlito"/>
                <a:cs typeface="Carlito"/>
              </a:rPr>
              <a:t>problem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precise, </a:t>
            </a:r>
            <a:r>
              <a:rPr sz="2600" spc="-10" dirty="0">
                <a:latin typeface="Carlito"/>
                <a:cs typeface="Carlito"/>
              </a:rPr>
              <a:t>recall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10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in a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i="1" dirty="0">
                <a:latin typeface="Carlito"/>
                <a:cs typeface="Carlito"/>
              </a:rPr>
              <a:t>G =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N,E</a:t>
            </a:r>
            <a:r>
              <a:rPr sz="2600" dirty="0">
                <a:latin typeface="Carlito"/>
                <a:cs typeface="Carlito"/>
              </a:rPr>
              <a:t>)  is a sequence </a:t>
            </a:r>
            <a:r>
              <a:rPr sz="2600" spc="-5" dirty="0">
                <a:latin typeface="Carlito"/>
                <a:cs typeface="Carlito"/>
              </a:rPr>
              <a:t>of nodes </a:t>
            </a:r>
            <a:r>
              <a:rPr sz="2600" spc="-10" dirty="0">
                <a:latin typeface="Carlito"/>
                <a:cs typeface="Carlito"/>
              </a:rPr>
              <a:t>(</a:t>
            </a:r>
            <a:r>
              <a:rPr sz="2600" i="1" spc="-10" dirty="0">
                <a:latin typeface="Carlito"/>
                <a:cs typeface="Carlito"/>
              </a:rPr>
              <a:t>x</a:t>
            </a:r>
            <a:r>
              <a:rPr sz="2600" spc="-10" dirty="0">
                <a:latin typeface="Carlito"/>
                <a:cs typeface="Carlito"/>
              </a:rPr>
              <a:t>1, 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spc="-5" dirty="0">
                <a:latin typeface="Carlito"/>
                <a:cs typeface="Carlito"/>
              </a:rPr>
              <a:t>such that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pairs 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2)</a:t>
            </a:r>
            <a:r>
              <a:rPr sz="2600" i="1" spc="-5" dirty="0">
                <a:latin typeface="Carlito"/>
                <a:cs typeface="Carlito"/>
              </a:rPr>
              <a:t>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</a:t>
            </a:r>
            <a:r>
              <a:rPr sz="2600" i="1" spc="-5" dirty="0">
                <a:latin typeface="Carlito"/>
                <a:cs typeface="Carlito"/>
              </a:rPr>
              <a:t>,...,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xp-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xp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E</a:t>
            </a:r>
            <a:r>
              <a:rPr sz="260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is </a:t>
            </a:r>
            <a:r>
              <a:rPr sz="2600" spc="-5" dirty="0">
                <a:latin typeface="Carlito"/>
                <a:cs typeface="Carlito"/>
              </a:rPr>
              <a:t>simply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sum of </a:t>
            </a:r>
            <a:r>
              <a:rPr sz="2600" dirty="0">
                <a:latin typeface="Carlito"/>
                <a:cs typeface="Carlito"/>
              </a:rPr>
              <a:t>all the </a:t>
            </a:r>
            <a:r>
              <a:rPr sz="2600" spc="-5" dirty="0">
                <a:latin typeface="Carlito"/>
                <a:cs typeface="Carlito"/>
              </a:rPr>
              <a:t>edge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along 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path, 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c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...+</a:t>
            </a:r>
            <a:r>
              <a:rPr sz="2600" i="1" spc="-7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xp-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).</a:t>
            </a:r>
            <a:endParaRPr sz="2600">
              <a:latin typeface="Carlito"/>
              <a:cs typeface="Carlito"/>
            </a:endParaRPr>
          </a:p>
          <a:p>
            <a:pPr marL="241300" marR="311150" indent="-228600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Given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two nodes </a:t>
            </a:r>
            <a:r>
              <a:rPr sz="2600" i="1" dirty="0">
                <a:latin typeface="Carlito"/>
                <a:cs typeface="Carlito"/>
              </a:rPr>
              <a:t>x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i="1" spc="-5" dirty="0">
                <a:latin typeface="Carlito"/>
                <a:cs typeface="Carlito"/>
              </a:rPr>
              <a:t>y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spc="-10" dirty="0">
                <a:latin typeface="Carlito"/>
                <a:cs typeface="Carlito"/>
              </a:rPr>
              <a:t>there are </a:t>
            </a:r>
            <a:r>
              <a:rPr sz="2600" spc="-5" dirty="0">
                <a:latin typeface="Carlito"/>
                <a:cs typeface="Carlito"/>
              </a:rPr>
              <a:t>typically </a:t>
            </a:r>
            <a:r>
              <a:rPr sz="2600" spc="-15" dirty="0">
                <a:latin typeface="Carlito"/>
                <a:cs typeface="Carlito"/>
              </a:rPr>
              <a:t>many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spc="-10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5" dirty="0">
                <a:latin typeface="Carlito"/>
                <a:cs typeface="Carlito"/>
              </a:rPr>
              <a:t>two nodes, </a:t>
            </a:r>
            <a:r>
              <a:rPr sz="2600" dirty="0">
                <a:latin typeface="Carlito"/>
                <a:cs typeface="Carlito"/>
              </a:rPr>
              <a:t>with each </a:t>
            </a:r>
            <a:r>
              <a:rPr sz="2600" spc="-10" dirty="0">
                <a:latin typeface="Carlito"/>
                <a:cs typeface="Carlito"/>
              </a:rPr>
              <a:t>path having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5" dirty="0">
                <a:latin typeface="Carlito"/>
                <a:cs typeface="Carlito"/>
              </a:rPr>
              <a:t>cost. </a:t>
            </a:r>
            <a:r>
              <a:rPr sz="2600" dirty="0">
                <a:latin typeface="Carlito"/>
                <a:cs typeface="Carlito"/>
              </a:rPr>
              <a:t>One </a:t>
            </a:r>
            <a:r>
              <a:rPr sz="2600" spc="-5" dirty="0">
                <a:latin typeface="Carlito"/>
                <a:cs typeface="Carlito"/>
              </a:rPr>
              <a:t>or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these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dirty="0">
                <a:latin typeface="Carlito"/>
                <a:cs typeface="Carlito"/>
              </a:rPr>
              <a:t>is a  </a:t>
            </a:r>
            <a:r>
              <a:rPr sz="2600" b="1" spc="-10" dirty="0">
                <a:latin typeface="Carlito"/>
                <a:cs typeface="Carlito"/>
              </a:rPr>
              <a:t>least-cost</a:t>
            </a:r>
            <a:r>
              <a:rPr sz="2600" b="1" spc="-2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</a:t>
            </a:r>
            <a:r>
              <a:rPr sz="2600" spc="-1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292735" indent="-228600" algn="just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problem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20" dirty="0">
                <a:latin typeface="Carlito"/>
                <a:cs typeface="Carlito"/>
              </a:rPr>
              <a:t>therefore </a:t>
            </a:r>
            <a:r>
              <a:rPr sz="2600" dirty="0">
                <a:latin typeface="Carlito"/>
                <a:cs typeface="Carlito"/>
              </a:rPr>
              <a:t>clear: Find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that has least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15" dirty="0">
                <a:latin typeface="Carlito"/>
                <a:cs typeface="Carlito"/>
              </a:rPr>
              <a:t>cost.</a:t>
            </a:r>
            <a:endParaRPr sz="2600">
              <a:latin typeface="Carlito"/>
              <a:cs typeface="Carlito"/>
            </a:endParaRPr>
          </a:p>
          <a:p>
            <a:pPr marL="241300" marR="419734" indent="-228600" algn="just">
              <a:lnSpc>
                <a:spcPts val="25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For example,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spc="-5" dirty="0">
                <a:latin typeface="Carlito"/>
                <a:cs typeface="Carlito"/>
              </a:rPr>
              <a:t>node </a:t>
            </a:r>
            <a:r>
              <a:rPr sz="2600" i="1" dirty="0">
                <a:latin typeface="Carlito"/>
                <a:cs typeface="Carlito"/>
              </a:rPr>
              <a:t>u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 node </a:t>
            </a:r>
            <a:r>
              <a:rPr sz="2600" i="1" dirty="0">
                <a:latin typeface="Carlito"/>
                <a:cs typeface="Carlito"/>
              </a:rPr>
              <a:t>w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u, x, </a:t>
            </a:r>
            <a:r>
              <a:rPr sz="2600" i="1" spc="-80" dirty="0">
                <a:latin typeface="Carlito"/>
                <a:cs typeface="Carlito"/>
              </a:rPr>
              <a:t>y, </a:t>
            </a:r>
            <a:r>
              <a:rPr sz="2600" i="1" spc="-5" dirty="0">
                <a:latin typeface="Carlito"/>
                <a:cs typeface="Carlito"/>
              </a:rPr>
              <a:t>w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dirty="0">
                <a:latin typeface="Carlito"/>
                <a:cs typeface="Carlito"/>
              </a:rPr>
              <a:t>with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</a:t>
            </a:r>
            <a:r>
              <a:rPr sz="2600" spc="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3.</a:t>
            </a:r>
            <a:endParaRPr sz="2600">
              <a:latin typeface="Carlito"/>
              <a:cs typeface="Carlito"/>
            </a:endParaRPr>
          </a:p>
          <a:p>
            <a:pPr marL="241300" marR="64135" indent="-228600" algn="just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Note that </a:t>
            </a:r>
            <a:r>
              <a:rPr sz="2600" dirty="0">
                <a:latin typeface="Carlito"/>
                <a:cs typeface="Carlito"/>
              </a:rPr>
              <a:t>if all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same </a:t>
            </a:r>
            <a:r>
              <a:rPr sz="2600" spc="-15" dirty="0">
                <a:latin typeface="Carlito"/>
                <a:cs typeface="Carlito"/>
              </a:rPr>
              <a:t>cost,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dirty="0">
                <a:latin typeface="Carlito"/>
                <a:cs typeface="Carlito"/>
              </a:rPr>
              <a:t>is  also the </a:t>
            </a:r>
            <a:r>
              <a:rPr sz="2600" b="1" spc="-10" dirty="0">
                <a:latin typeface="Carlito"/>
                <a:cs typeface="Carlito"/>
              </a:rPr>
              <a:t>shortest</a:t>
            </a:r>
            <a:r>
              <a:rPr sz="2600" b="1" spc="-4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5441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381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Classification </a:t>
            </a:r>
            <a:r>
              <a:rPr spc="-190" dirty="0"/>
              <a:t>of </a:t>
            </a:r>
            <a:r>
              <a:rPr spc="-195" dirty="0"/>
              <a:t>Routing</a:t>
            </a:r>
            <a:r>
              <a:rPr spc="-560" dirty="0"/>
              <a:t> </a:t>
            </a:r>
            <a:r>
              <a:rPr spc="-19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877300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  <a:tab pos="3975735" algn="l"/>
              </a:tabLst>
            </a:pPr>
            <a:r>
              <a:rPr sz="2800" b="1" spc="-10" dirty="0">
                <a:latin typeface="Carlito"/>
                <a:cs typeface="Carlito"/>
              </a:rPr>
              <a:t>global</a:t>
            </a:r>
            <a:r>
              <a:rPr sz="2800" b="1" spc="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1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	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5" dirty="0">
                <a:latin typeface="Carlito"/>
                <a:cs typeface="Carlito"/>
              </a:rPr>
              <a:t>decentralized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5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algorithms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Dynamic routing</a:t>
            </a:r>
            <a:r>
              <a:rPr sz="2800" b="1" spc="1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rlito"/>
                <a:cs typeface="Carlito"/>
              </a:rPr>
              <a:t>load-sensitive algorithm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b="1" spc="16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294240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32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global </a:t>
            </a:r>
            <a:r>
              <a:rPr spc="-220" dirty="0"/>
              <a:t>routing</a:t>
            </a:r>
            <a:r>
              <a:rPr spc="-64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293350" cy="41402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3746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5" dirty="0">
                <a:latin typeface="Carlito"/>
                <a:cs typeface="Carlito"/>
              </a:rPr>
              <a:t>global routing algorithm </a:t>
            </a:r>
            <a:r>
              <a:rPr sz="2600" spc="-10" dirty="0">
                <a:latin typeface="Carlito"/>
                <a:cs typeface="Carlito"/>
              </a:rPr>
              <a:t>computes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using </a:t>
            </a:r>
            <a:r>
              <a:rPr sz="2600" spc="-10" dirty="0">
                <a:latin typeface="Carlito"/>
                <a:cs typeface="Carlito"/>
              </a:rPr>
              <a:t>complete, </a:t>
            </a:r>
            <a:r>
              <a:rPr sz="2600" dirty="0">
                <a:latin typeface="Carlito"/>
                <a:cs typeface="Carlito"/>
              </a:rPr>
              <a:t>global </a:t>
            </a:r>
            <a:r>
              <a:rPr sz="2600" spc="-5" dirty="0">
                <a:latin typeface="Carlito"/>
                <a:cs typeface="Carlito"/>
              </a:rPr>
              <a:t>knowledge </a:t>
            </a:r>
            <a:r>
              <a:rPr sz="2600" dirty="0">
                <a:latin typeface="Carlito"/>
                <a:cs typeface="Carlito"/>
              </a:rPr>
              <a:t>about the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  <a:p>
            <a:pPr marL="241300" marR="13779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is, 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25" dirty="0">
                <a:latin typeface="Carlito"/>
                <a:cs typeface="Carlito"/>
              </a:rPr>
              <a:t>takes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connectivity between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nodes </a:t>
            </a:r>
            <a:r>
              <a:rPr sz="2600" dirty="0">
                <a:latin typeface="Carlito"/>
                <a:cs typeface="Carlito"/>
              </a:rPr>
              <a:t>and all link  </a:t>
            </a:r>
            <a:r>
              <a:rPr sz="2600" spc="-10" dirty="0">
                <a:latin typeface="Carlito"/>
                <a:cs typeface="Carlito"/>
              </a:rPr>
              <a:t>costs </a:t>
            </a:r>
            <a:r>
              <a:rPr sz="2600" dirty="0">
                <a:latin typeface="Carlito"/>
                <a:cs typeface="Carlito"/>
              </a:rPr>
              <a:t>as inputs.</a:t>
            </a:r>
            <a:endParaRPr sz="2600">
              <a:latin typeface="Carlito"/>
              <a:cs typeface="Carlito"/>
            </a:endParaRPr>
          </a:p>
          <a:p>
            <a:pPr marL="241300" marR="54927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This then </a:t>
            </a:r>
            <a:r>
              <a:rPr sz="2600" spc="-10" dirty="0">
                <a:latin typeface="Carlito"/>
                <a:cs typeface="Carlito"/>
              </a:rPr>
              <a:t>requires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somehow </a:t>
            </a:r>
            <a:r>
              <a:rPr sz="2600" spc="-10" dirty="0">
                <a:latin typeface="Carlito"/>
                <a:cs typeface="Carlito"/>
              </a:rPr>
              <a:t>obtain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10" dirty="0">
                <a:latin typeface="Carlito"/>
                <a:cs typeface="Carlito"/>
              </a:rPr>
              <a:t>information  </a:t>
            </a:r>
            <a:r>
              <a:rPr sz="2600" spc="-20" dirty="0">
                <a:latin typeface="Carlito"/>
                <a:cs typeface="Carlito"/>
              </a:rPr>
              <a:t>before </a:t>
            </a:r>
            <a:r>
              <a:rPr sz="2600" dirty="0">
                <a:latin typeface="Carlito"/>
                <a:cs typeface="Carlito"/>
              </a:rPr>
              <a:t>actually </a:t>
            </a:r>
            <a:r>
              <a:rPr sz="2600" spc="-10" dirty="0">
                <a:latin typeface="Carlito"/>
                <a:cs typeface="Carlito"/>
              </a:rPr>
              <a:t>performing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calculation.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</a:t>
            </a:r>
            <a:r>
              <a:rPr sz="2600" dirty="0">
                <a:latin typeface="Carlito"/>
                <a:cs typeface="Carlito"/>
              </a:rPr>
              <a:t>itself </a:t>
            </a:r>
            <a:r>
              <a:rPr sz="2600" spc="-10" dirty="0">
                <a:latin typeface="Carlito"/>
                <a:cs typeface="Carlito"/>
              </a:rPr>
              <a:t>can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dirty="0">
                <a:latin typeface="Carlito"/>
                <a:cs typeface="Carlito"/>
              </a:rPr>
              <a:t>run </a:t>
            </a:r>
            <a:r>
              <a:rPr sz="2600" spc="-2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one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site.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</a:t>
            </a:r>
            <a:r>
              <a:rPr sz="2600" spc="-5" dirty="0">
                <a:latin typeface="Carlito"/>
                <a:cs typeface="Carlito"/>
              </a:rPr>
              <a:t>practice, algorithms </a:t>
            </a:r>
            <a:r>
              <a:rPr sz="2600" dirty="0">
                <a:latin typeface="Carlito"/>
                <a:cs typeface="Carlito"/>
              </a:rPr>
              <a:t>with global </a:t>
            </a:r>
            <a:r>
              <a:rPr sz="2600" spc="-25" dirty="0">
                <a:latin typeface="Carlito"/>
                <a:cs typeface="Carlito"/>
              </a:rPr>
              <a:t>state </a:t>
            </a:r>
            <a:r>
              <a:rPr sz="2600" spc="-10" dirty="0">
                <a:latin typeface="Carlito"/>
                <a:cs typeface="Carlito"/>
              </a:rPr>
              <a:t>information are often </a:t>
            </a:r>
            <a:r>
              <a:rPr sz="2600" spc="-20" dirty="0">
                <a:latin typeface="Carlito"/>
                <a:cs typeface="Carlito"/>
              </a:rPr>
              <a:t>referred </a:t>
            </a:r>
            <a:r>
              <a:rPr sz="2600" spc="-15" dirty="0">
                <a:latin typeface="Carlito"/>
                <a:cs typeface="Carlito"/>
              </a:rPr>
              <a:t>to  </a:t>
            </a:r>
            <a:r>
              <a:rPr sz="2600" dirty="0">
                <a:latin typeface="Carlito"/>
                <a:cs typeface="Carlito"/>
              </a:rPr>
              <a:t>as </a:t>
            </a:r>
            <a:r>
              <a:rPr sz="2600" b="1" spc="-15" dirty="0">
                <a:latin typeface="Carlito"/>
                <a:cs typeface="Carlito"/>
              </a:rPr>
              <a:t>link-state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b="1" dirty="0">
                <a:latin typeface="Carlito"/>
                <a:cs typeface="Carlito"/>
              </a:rPr>
              <a:t>LS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b="1" spc="-5" dirty="0">
                <a:latin typeface="Carlito"/>
                <a:cs typeface="Carlito"/>
              </a:rPr>
              <a:t>algorithms</a:t>
            </a:r>
            <a:r>
              <a:rPr sz="2600" spc="-5" dirty="0">
                <a:latin typeface="Carlito"/>
                <a:cs typeface="Carlito"/>
              </a:rPr>
              <a:t>, since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10" dirty="0">
                <a:latin typeface="Carlito"/>
                <a:cs typeface="Carlito"/>
              </a:rPr>
              <a:t>must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spc="-15" dirty="0">
                <a:latin typeface="Carlito"/>
                <a:cs typeface="Carlito"/>
              </a:rPr>
              <a:t>aware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 </a:t>
            </a:r>
            <a:r>
              <a:rPr sz="2600" dirty="0">
                <a:latin typeface="Carlito"/>
                <a:cs typeface="Carlito"/>
              </a:rPr>
              <a:t>of each link in the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84110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602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decentralized </a:t>
            </a:r>
            <a:r>
              <a:rPr spc="-220" dirty="0"/>
              <a:t>routing</a:t>
            </a:r>
            <a:r>
              <a:rPr spc="-62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1404"/>
            <a:ext cx="10257790" cy="44183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6667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a </a:t>
            </a:r>
            <a:r>
              <a:rPr sz="2600" b="1" spc="-15" dirty="0">
                <a:latin typeface="Carlito"/>
                <a:cs typeface="Carlito"/>
              </a:rPr>
              <a:t>decentralized </a:t>
            </a:r>
            <a:r>
              <a:rPr sz="2600" b="1" spc="-10" dirty="0">
                <a:latin typeface="Carlito"/>
                <a:cs typeface="Carlito"/>
              </a:rPr>
              <a:t>routing </a:t>
            </a:r>
            <a:r>
              <a:rPr sz="2600" b="1" spc="-5" dirty="0">
                <a:latin typeface="Carlito"/>
                <a:cs typeface="Carlito"/>
              </a:rPr>
              <a:t>algorithm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carried out </a:t>
            </a:r>
            <a:r>
              <a:rPr sz="2600" dirty="0">
                <a:latin typeface="Carlito"/>
                <a:cs typeface="Carlito"/>
              </a:rPr>
              <a:t>in an </a:t>
            </a:r>
            <a:r>
              <a:rPr sz="2600" spc="-15" dirty="0">
                <a:latin typeface="Carlito"/>
                <a:cs typeface="Carlito"/>
              </a:rPr>
              <a:t>iterative, </a:t>
            </a:r>
            <a:r>
              <a:rPr sz="2600" spc="-5" dirty="0">
                <a:latin typeface="Carlito"/>
                <a:cs typeface="Carlito"/>
              </a:rPr>
              <a:t>distributed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40" dirty="0">
                <a:latin typeface="Carlito"/>
                <a:cs typeface="Carlito"/>
              </a:rPr>
              <a:t>manner.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No </a:t>
            </a:r>
            <a:r>
              <a:rPr sz="2600" spc="-5" dirty="0">
                <a:latin typeface="Carlito"/>
                <a:cs typeface="Carlito"/>
              </a:rPr>
              <a:t>node has </a:t>
            </a:r>
            <a:r>
              <a:rPr sz="2600" spc="-10" dirty="0">
                <a:latin typeface="Carlito"/>
                <a:cs typeface="Carlito"/>
              </a:rPr>
              <a:t>complete information </a:t>
            </a:r>
            <a:r>
              <a:rPr sz="2600" dirty="0">
                <a:latin typeface="Carlito"/>
                <a:cs typeface="Carlito"/>
              </a:rPr>
              <a:t>about 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10" dirty="0">
                <a:latin typeface="Carlito"/>
                <a:cs typeface="Carlito"/>
              </a:rPr>
              <a:t>network</a:t>
            </a:r>
            <a:r>
              <a:rPr sz="2600" spc="-5" dirty="0">
                <a:latin typeface="Carlito"/>
                <a:cs typeface="Carlito"/>
              </a:rPr>
              <a:t> links.</a:t>
            </a:r>
            <a:endParaRPr sz="2600">
              <a:latin typeface="Carlito"/>
              <a:cs typeface="Carlito"/>
            </a:endParaRPr>
          </a:p>
          <a:p>
            <a:pPr marL="241300" marR="13017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Instead,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only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knowledge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its </a:t>
            </a:r>
            <a:r>
              <a:rPr sz="2600" spc="-5" dirty="0">
                <a:latin typeface="Carlito"/>
                <a:cs typeface="Carlito"/>
              </a:rPr>
              <a:t>own  directly </a:t>
            </a:r>
            <a:r>
              <a:rPr sz="2600" spc="-10" dirty="0">
                <a:latin typeface="Carlito"/>
                <a:cs typeface="Carlito"/>
              </a:rPr>
              <a:t>attached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links.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Then, </a:t>
            </a:r>
            <a:r>
              <a:rPr sz="2600" spc="-5" dirty="0">
                <a:latin typeface="Carlito"/>
                <a:cs typeface="Carlito"/>
              </a:rPr>
              <a:t>through </a:t>
            </a:r>
            <a:r>
              <a:rPr sz="2600" dirty="0">
                <a:latin typeface="Carlito"/>
                <a:cs typeface="Carlito"/>
              </a:rPr>
              <a:t>an </a:t>
            </a:r>
            <a:r>
              <a:rPr sz="2600" spc="-15" dirty="0">
                <a:latin typeface="Carlito"/>
                <a:cs typeface="Carlito"/>
              </a:rPr>
              <a:t>iterative </a:t>
            </a:r>
            <a:r>
              <a:rPr sz="2600" spc="-10" dirty="0">
                <a:latin typeface="Carlito"/>
                <a:cs typeface="Carlito"/>
              </a:rPr>
              <a:t>process </a:t>
            </a:r>
            <a:r>
              <a:rPr sz="2600" spc="-5" dirty="0">
                <a:latin typeface="Carlito"/>
                <a:cs typeface="Carlito"/>
              </a:rPr>
              <a:t>of calculation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15" dirty="0">
                <a:latin typeface="Carlito"/>
                <a:cs typeface="Carlito"/>
              </a:rPr>
              <a:t>exchange </a:t>
            </a:r>
            <a:r>
              <a:rPr sz="2600" spc="-5" dirty="0">
                <a:latin typeface="Carlito"/>
                <a:cs typeface="Carlito"/>
              </a:rPr>
              <a:t>of  </a:t>
            </a:r>
            <a:r>
              <a:rPr sz="2600" spc="-10" dirty="0">
                <a:latin typeface="Carlito"/>
                <a:cs typeface="Carlito"/>
              </a:rPr>
              <a:t>information </a:t>
            </a:r>
            <a:r>
              <a:rPr sz="2600" dirty="0">
                <a:latin typeface="Carlito"/>
                <a:cs typeface="Carlito"/>
              </a:rPr>
              <a:t>with its </a:t>
            </a:r>
            <a:r>
              <a:rPr sz="2600" spc="-5" dirty="0">
                <a:latin typeface="Carlito"/>
                <a:cs typeface="Carlito"/>
              </a:rPr>
              <a:t>neighboring nodes </a:t>
            </a:r>
            <a:r>
              <a:rPr sz="2600" spc="-10" dirty="0">
                <a:latin typeface="Carlito"/>
                <a:cs typeface="Carlito"/>
              </a:rPr>
              <a:t>(that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spc="-5" dirty="0">
                <a:latin typeface="Carlito"/>
                <a:cs typeface="Carlito"/>
              </a:rPr>
              <a:t>nodes that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other  </a:t>
            </a:r>
            <a:r>
              <a:rPr sz="2600" dirty="0">
                <a:latin typeface="Carlito"/>
                <a:cs typeface="Carlito"/>
              </a:rPr>
              <a:t>end </a:t>
            </a:r>
            <a:r>
              <a:rPr sz="2600" spc="-5" dirty="0">
                <a:latin typeface="Carlito"/>
                <a:cs typeface="Carlito"/>
              </a:rPr>
              <a:t>of links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which it itself is </a:t>
            </a:r>
            <a:r>
              <a:rPr sz="2600" spc="-10" dirty="0">
                <a:latin typeface="Carlito"/>
                <a:cs typeface="Carlito"/>
              </a:rPr>
              <a:t>attached),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node gradually </a:t>
            </a:r>
            <a:r>
              <a:rPr sz="2600" spc="-10" dirty="0">
                <a:latin typeface="Carlito"/>
                <a:cs typeface="Carlito"/>
              </a:rPr>
              <a:t>calculates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15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destination or set of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98425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decentralized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called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solidFill>
                  <a:srgbClr val="2D75B6"/>
                </a:solidFill>
                <a:latin typeface="Carlito"/>
                <a:cs typeface="Carlito"/>
              </a:rPr>
              <a:t>distance-vector </a:t>
            </a:r>
            <a:r>
              <a:rPr sz="2600" spc="-10" dirty="0">
                <a:latin typeface="Carlito"/>
                <a:cs typeface="Carlito"/>
              </a:rPr>
              <a:t>(DV)  </a:t>
            </a:r>
            <a:r>
              <a:rPr sz="2600" spc="-5" dirty="0">
                <a:latin typeface="Carlito"/>
                <a:cs typeface="Carlito"/>
              </a:rPr>
              <a:t>algorithm, because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maintains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vector of </a:t>
            </a:r>
            <a:r>
              <a:rPr sz="2600" spc="-10" dirty="0">
                <a:latin typeface="Carlito"/>
                <a:cs typeface="Carlito"/>
              </a:rPr>
              <a:t>estimates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 </a:t>
            </a:r>
            <a:r>
              <a:rPr sz="2600" spc="-5" dirty="0">
                <a:latin typeface="Carlito"/>
                <a:cs typeface="Carlito"/>
              </a:rPr>
              <a:t>(distances)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other nodes </a:t>
            </a:r>
            <a:r>
              <a:rPr sz="2600" dirty="0">
                <a:latin typeface="Carlito"/>
                <a:cs typeface="Carlito"/>
              </a:rPr>
              <a:t>in the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629487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8579"/>
            <a:ext cx="10229215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702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b="1" spc="-20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0" dirty="0">
                <a:latin typeface="Carlito"/>
                <a:cs typeface="Carlito"/>
              </a:rPr>
              <a:t>change very slowly </a:t>
            </a:r>
            <a:r>
              <a:rPr sz="2800" spc="-15" dirty="0">
                <a:latin typeface="Carlito"/>
                <a:cs typeface="Carlito"/>
              </a:rPr>
              <a:t>over </a:t>
            </a:r>
            <a:r>
              <a:rPr sz="2800" spc="-5" dirty="0">
                <a:latin typeface="Carlito"/>
                <a:cs typeface="Carlito"/>
              </a:rPr>
              <a:t>time,  </a:t>
            </a:r>
            <a:r>
              <a:rPr sz="2800" spc="-10" dirty="0">
                <a:latin typeface="Carlito"/>
                <a:cs typeface="Carlito"/>
              </a:rPr>
              <a:t>often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10" dirty="0">
                <a:latin typeface="Carlito"/>
                <a:cs typeface="Carlito"/>
              </a:rPr>
              <a:t>result </a:t>
            </a:r>
            <a:r>
              <a:rPr sz="2800" spc="-5" dirty="0">
                <a:latin typeface="Carlito"/>
                <a:cs typeface="Carlito"/>
              </a:rPr>
              <a:t>of human </a:t>
            </a:r>
            <a:r>
              <a:rPr sz="2800" spc="-10" dirty="0">
                <a:latin typeface="Carlito"/>
                <a:cs typeface="Carlito"/>
              </a:rPr>
              <a:t>intervention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human  </a:t>
            </a:r>
            <a:r>
              <a:rPr sz="2800" spc="-5" dirty="0">
                <a:latin typeface="Carlito"/>
                <a:cs typeface="Carlito"/>
              </a:rPr>
              <a:t>manually </a:t>
            </a:r>
            <a:r>
              <a:rPr sz="2800" spc="-10" dirty="0">
                <a:latin typeface="Carlito"/>
                <a:cs typeface="Carlito"/>
              </a:rPr>
              <a:t>editing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router’s forwarding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table).</a:t>
            </a:r>
            <a:endParaRPr sz="2800">
              <a:latin typeface="Carlito"/>
              <a:cs typeface="Carlito"/>
            </a:endParaRPr>
          </a:p>
          <a:p>
            <a:pPr marL="241300" marR="115951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b="1" spc="-5" dirty="0">
                <a:latin typeface="Carlito"/>
                <a:cs typeface="Carlito"/>
              </a:rPr>
              <a:t>Dynamic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 </a:t>
            </a:r>
            <a:r>
              <a:rPr sz="2800" spc="-10" dirty="0"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traffic </a:t>
            </a:r>
            <a:r>
              <a:rPr sz="2800" spc="-5" dirty="0">
                <a:latin typeface="Carlito"/>
                <a:cs typeface="Carlito"/>
              </a:rPr>
              <a:t>loads or </a:t>
            </a:r>
            <a:r>
              <a:rPr sz="2800" spc="-10" dirty="0">
                <a:latin typeface="Carlito"/>
                <a:cs typeface="Carlito"/>
              </a:rPr>
              <a:t>topology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change.</a:t>
            </a:r>
            <a:endParaRPr sz="2800">
              <a:latin typeface="Carlito"/>
              <a:cs typeface="Carlito"/>
            </a:endParaRPr>
          </a:p>
          <a:p>
            <a:pPr marL="241300" marR="960119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A dynamic </a:t>
            </a:r>
            <a:r>
              <a:rPr sz="2800" spc="-10" dirty="0">
                <a:latin typeface="Carlito"/>
                <a:cs typeface="Carlito"/>
              </a:rPr>
              <a:t>algorithm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run </a:t>
            </a:r>
            <a:r>
              <a:rPr sz="2800" spc="-5" dirty="0">
                <a:latin typeface="Carlito"/>
                <a:cs typeface="Carlito"/>
              </a:rPr>
              <a:t>either </a:t>
            </a:r>
            <a:r>
              <a:rPr sz="2800" spc="-10" dirty="0">
                <a:latin typeface="Carlito"/>
                <a:cs typeface="Carlito"/>
              </a:rPr>
              <a:t>periodically </a:t>
            </a:r>
            <a:r>
              <a:rPr sz="2800" spc="-5" dirty="0">
                <a:latin typeface="Carlito"/>
                <a:cs typeface="Carlito"/>
              </a:rPr>
              <a:t>or in </a:t>
            </a:r>
            <a:r>
              <a:rPr sz="2800" spc="-15" dirty="0">
                <a:latin typeface="Carlito"/>
                <a:cs typeface="Carlito"/>
              </a:rPr>
              <a:t>direct  </a:t>
            </a:r>
            <a:r>
              <a:rPr sz="2800" spc="-10" dirty="0">
                <a:latin typeface="Carlito"/>
                <a:cs typeface="Carlito"/>
              </a:rPr>
              <a:t>response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topology </a:t>
            </a:r>
            <a:r>
              <a:rPr sz="2800" spc="-5" dirty="0">
                <a:latin typeface="Carlito"/>
                <a:cs typeface="Carlito"/>
              </a:rPr>
              <a:t>or link </a:t>
            </a:r>
            <a:r>
              <a:rPr sz="2800" spc="-20" dirty="0">
                <a:latin typeface="Carlito"/>
                <a:cs typeface="Carlito"/>
              </a:rPr>
              <a:t>cost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changes.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While </a:t>
            </a:r>
            <a:r>
              <a:rPr sz="2800" spc="-10" dirty="0">
                <a:latin typeface="Carlito"/>
                <a:cs typeface="Carlito"/>
              </a:rPr>
              <a:t>dynamic 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more responsive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network changes,  </a:t>
            </a:r>
            <a:r>
              <a:rPr sz="2800" spc="-5" dirty="0">
                <a:latin typeface="Carlito"/>
                <a:cs typeface="Carlito"/>
              </a:rPr>
              <a:t>they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dirty="0">
                <a:latin typeface="Carlito"/>
                <a:cs typeface="Carlito"/>
              </a:rPr>
              <a:t>also </a:t>
            </a:r>
            <a:r>
              <a:rPr sz="2800" spc="-15" dirty="0">
                <a:latin typeface="Carlito"/>
                <a:cs typeface="Carlito"/>
              </a:rPr>
              <a:t>more </a:t>
            </a:r>
            <a:r>
              <a:rPr sz="2800" spc="-10" dirty="0">
                <a:latin typeface="Carlito"/>
                <a:cs typeface="Carlito"/>
              </a:rPr>
              <a:t>susceptible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problems </a:t>
            </a:r>
            <a:r>
              <a:rPr sz="2800" spc="-5" dirty="0">
                <a:latin typeface="Carlito"/>
                <a:cs typeface="Carlito"/>
              </a:rPr>
              <a:t>such as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loops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0" dirty="0">
                <a:latin typeface="Carlito"/>
                <a:cs typeface="Carlito"/>
              </a:rPr>
              <a:t>oscillation </a:t>
            </a:r>
            <a:r>
              <a:rPr sz="2800" spc="-5" dirty="0">
                <a:latin typeface="Carlito"/>
                <a:cs typeface="Carlito"/>
              </a:rPr>
              <a:t>in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routes.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53500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281920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9022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b="1" spc="-10" dirty="0">
                <a:latin typeface="Carlito"/>
                <a:cs typeface="Carlito"/>
              </a:rPr>
              <a:t>load-sensitive algorithm</a:t>
            </a:r>
            <a:r>
              <a:rPr sz="2800" spc="-10" dirty="0">
                <a:latin typeface="Carlito"/>
                <a:cs typeface="Carlito"/>
              </a:rPr>
              <a:t>, 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10" dirty="0">
                <a:latin typeface="Carlito"/>
                <a:cs typeface="Carlito"/>
              </a:rPr>
              <a:t>vary dynamically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reflect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current level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congestion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underlying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a </a:t>
            </a:r>
            <a:r>
              <a:rPr sz="2800" spc="-10" dirty="0">
                <a:latin typeface="Carlito"/>
                <a:cs typeface="Carlito"/>
              </a:rPr>
              <a:t>high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associated </a:t>
            </a:r>
            <a:r>
              <a:rPr sz="2800" spc="-5" dirty="0">
                <a:latin typeface="Carlito"/>
                <a:cs typeface="Carlito"/>
              </a:rPr>
              <a:t>with a </a:t>
            </a:r>
            <a:r>
              <a:rPr sz="2800" spc="-10" dirty="0">
                <a:latin typeface="Carlito"/>
                <a:cs typeface="Carlito"/>
              </a:rPr>
              <a:t>link that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currently congested,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10" dirty="0">
                <a:latin typeface="Carlito"/>
                <a:cs typeface="Carlito"/>
              </a:rPr>
              <a:t>tend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choose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5" dirty="0">
                <a:latin typeface="Carlito"/>
                <a:cs typeface="Carlito"/>
              </a:rPr>
              <a:t>around </a:t>
            </a:r>
            <a:r>
              <a:rPr sz="2800" spc="-10" dirty="0">
                <a:latin typeface="Carlito"/>
                <a:cs typeface="Carlito"/>
              </a:rPr>
              <a:t>such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congested 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24701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Today’s </a:t>
            </a:r>
            <a:r>
              <a:rPr sz="2800" spc="-15" dirty="0">
                <a:latin typeface="Carlito"/>
                <a:cs typeface="Carlito"/>
              </a:rPr>
              <a:t>Internet routing </a:t>
            </a:r>
            <a:r>
              <a:rPr sz="2800" spc="-10" dirty="0">
                <a:latin typeface="Carlito"/>
                <a:cs typeface="Carlito"/>
              </a:rPr>
              <a:t>algorithms (such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90" dirty="0">
                <a:latin typeface="Carlito"/>
                <a:cs typeface="Carlito"/>
              </a:rPr>
              <a:t>RIP, </a:t>
            </a:r>
            <a:r>
              <a:rPr sz="2800" spc="-65" dirty="0">
                <a:latin typeface="Carlito"/>
                <a:cs typeface="Carlito"/>
              </a:rPr>
              <a:t>OSPF, </a:t>
            </a:r>
            <a:r>
              <a:rPr sz="2800" spc="-5" dirty="0">
                <a:latin typeface="Carlito"/>
                <a:cs typeface="Carlito"/>
              </a:rPr>
              <a:t>and BGP)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spc="-1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35" dirty="0">
                <a:latin typeface="Carlito"/>
                <a:cs typeface="Carlito"/>
              </a:rPr>
              <a:t>link’s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does not explicitly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current  </a:t>
            </a:r>
            <a:r>
              <a:rPr sz="2800" spc="-5" dirty="0">
                <a:latin typeface="Carlito"/>
                <a:cs typeface="Carlito"/>
              </a:rPr>
              <a:t>(or </a:t>
            </a:r>
            <a:r>
              <a:rPr sz="2800" spc="-15" dirty="0">
                <a:latin typeface="Carlito"/>
                <a:cs typeface="Carlito"/>
              </a:rPr>
              <a:t>recent past) level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congestion.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617096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2665"/>
            <a:ext cx="9673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65" dirty="0"/>
              <a:t>Distance-Vector </a:t>
            </a:r>
            <a:r>
              <a:rPr spc="-225" dirty="0"/>
              <a:t>(DV) </a:t>
            </a:r>
            <a:r>
              <a:rPr spc="-220" dirty="0"/>
              <a:t>Routing</a:t>
            </a:r>
            <a:r>
              <a:rPr spc="-930" dirty="0"/>
              <a:t> </a:t>
            </a:r>
            <a:r>
              <a:rPr spc="-22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21925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640080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(</a:t>
            </a:r>
            <a:r>
              <a:rPr sz="2800" b="1" spc="-15" dirty="0">
                <a:latin typeface="Carlito"/>
                <a:cs typeface="Carlito"/>
              </a:rPr>
              <a:t>DV</a:t>
            </a:r>
            <a:r>
              <a:rPr sz="2800" spc="-1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iterative,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asynchronous,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and 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distributed.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distributed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10" dirty="0">
                <a:latin typeface="Carlito"/>
                <a:cs typeface="Carlito"/>
              </a:rPr>
              <a:t>some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one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more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i="1" spc="-10" dirty="0">
                <a:latin typeface="Carlito"/>
                <a:cs typeface="Carlito"/>
              </a:rPr>
              <a:t>directly </a:t>
            </a:r>
            <a:r>
              <a:rPr sz="2800" i="1" spc="-15" dirty="0">
                <a:latin typeface="Carlito"/>
                <a:cs typeface="Carlito"/>
              </a:rPr>
              <a:t>attached </a:t>
            </a:r>
            <a:r>
              <a:rPr sz="2800" spc="-15" dirty="0">
                <a:latin typeface="Carlito"/>
                <a:cs typeface="Carlito"/>
              </a:rPr>
              <a:t>neighbors, performs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calculation, </a:t>
            </a:r>
            <a:r>
              <a:rPr sz="2800" spc="-5" dirty="0">
                <a:latin typeface="Carlito"/>
                <a:cs typeface="Carlito"/>
              </a:rPr>
              <a:t>and  then </a:t>
            </a:r>
            <a:r>
              <a:rPr sz="2800" spc="-10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results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calculation back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2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1489075" indent="-228600">
              <a:lnSpc>
                <a:spcPts val="303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this </a:t>
            </a:r>
            <a:r>
              <a:rPr sz="2800" spc="-15" dirty="0">
                <a:latin typeface="Carlito"/>
                <a:cs typeface="Carlito"/>
              </a:rPr>
              <a:t>process continues </a:t>
            </a:r>
            <a:r>
              <a:rPr sz="2800" spc="-5" dirty="0">
                <a:latin typeface="Carlito"/>
                <a:cs typeface="Carlito"/>
              </a:rPr>
              <a:t>on </a:t>
            </a:r>
            <a:r>
              <a:rPr sz="2800" spc="-15" dirty="0">
                <a:latin typeface="Carlito"/>
                <a:cs typeface="Carlito"/>
              </a:rPr>
              <a:t>until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5" dirty="0">
                <a:latin typeface="Carlito"/>
                <a:cs typeface="Carlito"/>
              </a:rPr>
              <a:t>more  information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exchanged </a:t>
            </a:r>
            <a:r>
              <a:rPr sz="2800" spc="-10" dirty="0">
                <a:latin typeface="Carlito"/>
                <a:cs typeface="Carlito"/>
              </a:rPr>
              <a:t>between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68960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i="1" spc="-10" dirty="0">
                <a:latin typeface="Carlito"/>
                <a:cs typeface="Carlito"/>
              </a:rPr>
              <a:t>asynchronous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does not </a:t>
            </a:r>
            <a:r>
              <a:rPr sz="2800" spc="-20" dirty="0">
                <a:latin typeface="Carlito"/>
                <a:cs typeface="Carlito"/>
              </a:rPr>
              <a:t>require </a:t>
            </a:r>
            <a:r>
              <a:rPr sz="2800" spc="-5" dirty="0">
                <a:latin typeface="Carlito"/>
                <a:cs typeface="Carlito"/>
              </a:rPr>
              <a:t>all of the 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to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operate.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48547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9703" y="260509"/>
            <a:ext cx="10307555" cy="6423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10375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064750" cy="50584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730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a 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15" dirty="0">
                <a:latin typeface="Carlito"/>
                <a:cs typeface="Carlito"/>
              </a:rPr>
              <a:t>updates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distance-vector estimate  </a:t>
            </a:r>
            <a:r>
              <a:rPr sz="2800" spc="-5" dirty="0">
                <a:latin typeface="Carlito"/>
                <a:cs typeface="Carlito"/>
              </a:rPr>
              <a:t>when it either </a:t>
            </a:r>
            <a:r>
              <a:rPr sz="2800" spc="-10" dirty="0">
                <a:latin typeface="Carlito"/>
                <a:cs typeface="Carlito"/>
              </a:rPr>
              <a:t>sees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cost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links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receives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some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40" dirty="0">
                <a:latin typeface="Carlito"/>
                <a:cs typeface="Carlito"/>
              </a:rPr>
              <a:t>neighbor.</a:t>
            </a:r>
            <a:endParaRPr sz="2800">
              <a:latin typeface="Carlito"/>
              <a:cs typeface="Carlito"/>
            </a:endParaRPr>
          </a:p>
          <a:p>
            <a:pPr marL="241300" marR="275590" indent="-228600" algn="just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only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a node 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links 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neighbors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these 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waits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any </a:t>
            </a:r>
            <a:r>
              <a:rPr sz="2800" spc="-5" dirty="0">
                <a:latin typeface="Carlito"/>
                <a:cs typeface="Carlito"/>
              </a:rPr>
              <a:t>neighbor </a:t>
            </a:r>
            <a:r>
              <a:rPr sz="2800" spc="-10" dirty="0">
                <a:latin typeface="Carlito"/>
                <a:cs typeface="Carlito"/>
              </a:rPr>
              <a:t>calculates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</a:t>
            </a:r>
            <a:r>
              <a:rPr sz="2800" spc="-10" dirty="0">
                <a:latin typeface="Carlito"/>
                <a:cs typeface="Carlito"/>
              </a:rPr>
              <a:t>vector </a:t>
            </a: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0" dirty="0">
                <a:latin typeface="Carlito"/>
                <a:cs typeface="Carlito"/>
              </a:rPr>
              <a:t>receiving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vector to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390525" indent="-228600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DV-like </a:t>
            </a:r>
            <a:r>
              <a:rPr sz="2800" spc="-10" dirty="0">
                <a:latin typeface="Carlito"/>
                <a:cs typeface="Carlito"/>
              </a:rPr>
              <a:t>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many 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practice,  </a:t>
            </a:r>
            <a:r>
              <a:rPr sz="2800" spc="-5" dirty="0">
                <a:latin typeface="Carlito"/>
                <a:cs typeface="Carlito"/>
              </a:rPr>
              <a:t>including the </a:t>
            </a:r>
            <a:r>
              <a:rPr sz="2800" spc="-15" dirty="0">
                <a:latin typeface="Carlito"/>
                <a:cs typeface="Carlito"/>
              </a:rPr>
              <a:t>Internet’s </a:t>
            </a:r>
            <a:r>
              <a:rPr sz="2800" dirty="0">
                <a:latin typeface="Carlito"/>
                <a:cs typeface="Carlito"/>
              </a:rPr>
              <a:t>RIP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90" dirty="0">
                <a:latin typeface="Carlito"/>
                <a:cs typeface="Carlito"/>
              </a:rPr>
              <a:t>BGP, </a:t>
            </a:r>
            <a:r>
              <a:rPr sz="2800" spc="-5" dirty="0">
                <a:latin typeface="Carlito"/>
                <a:cs typeface="Carlito"/>
              </a:rPr>
              <a:t>ISO </a:t>
            </a:r>
            <a:r>
              <a:rPr sz="2800" spc="-75" dirty="0">
                <a:latin typeface="Carlito"/>
                <a:cs typeface="Carlito"/>
              </a:rPr>
              <a:t>IDRP, </a:t>
            </a:r>
            <a:r>
              <a:rPr sz="2800" spc="-10" dirty="0">
                <a:latin typeface="Carlito"/>
                <a:cs typeface="Carlito"/>
              </a:rPr>
              <a:t>Novell </a:t>
            </a:r>
            <a:r>
              <a:rPr sz="2800" spc="-20" dirty="0">
                <a:latin typeface="Carlito"/>
                <a:cs typeface="Carlito"/>
              </a:rPr>
              <a:t>IPX</a:t>
            </a:r>
            <a:r>
              <a:rPr sz="2800" i="1" spc="-2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and the  </a:t>
            </a:r>
            <a:r>
              <a:rPr sz="2800" spc="-10" dirty="0">
                <a:latin typeface="Carlito"/>
                <a:cs typeface="Carlito"/>
              </a:rPr>
              <a:t>original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ARPAnet.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061703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1679" y="38160"/>
            <a:ext cx="6801464" cy="661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0982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196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95" dirty="0"/>
              <a:t>Link-State (LS) </a:t>
            </a:r>
            <a:r>
              <a:rPr spc="-225" dirty="0"/>
              <a:t>Routing</a:t>
            </a:r>
            <a:r>
              <a:rPr spc="-855" dirty="0"/>
              <a:t> </a:t>
            </a:r>
            <a:r>
              <a:rPr spc="-22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22840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76835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topology </a:t>
            </a:r>
            <a:r>
              <a:rPr sz="2800" spc="-5" dirty="0">
                <a:latin typeface="Carlito"/>
                <a:cs typeface="Carlito"/>
              </a:rPr>
              <a:t>and all </a:t>
            </a:r>
            <a:r>
              <a:rPr sz="2800" spc="-10" dirty="0">
                <a:latin typeface="Carlito"/>
                <a:cs typeface="Carlito"/>
              </a:rPr>
              <a:t>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spc="-5" dirty="0">
                <a:latin typeface="Carlito"/>
                <a:cs typeface="Carlito"/>
              </a:rPr>
              <a:t>known,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is, </a:t>
            </a:r>
            <a:r>
              <a:rPr sz="2800" spc="-15" dirty="0">
                <a:latin typeface="Carlito"/>
                <a:cs typeface="Carlito"/>
              </a:rPr>
              <a:t>available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input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LS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5143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practice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accomplished </a:t>
            </a:r>
            <a:r>
              <a:rPr sz="2800" spc="-15" dirty="0">
                <a:latin typeface="Carlito"/>
                <a:cs typeface="Carlito"/>
              </a:rPr>
              <a:t>by having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broadcast </a:t>
            </a:r>
            <a:r>
              <a:rPr sz="2800" dirty="0">
                <a:latin typeface="Carlito"/>
                <a:cs typeface="Carlito"/>
              </a:rPr>
              <a:t>link-  </a:t>
            </a:r>
            <a:r>
              <a:rPr sz="2800" spc="-25" dirty="0">
                <a:latin typeface="Carlito"/>
                <a:cs typeface="Carlito"/>
              </a:rPr>
              <a:t>state </a:t>
            </a:r>
            <a:r>
              <a:rPr sz="2800" spc="-15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network, </a:t>
            </a:r>
            <a:r>
              <a:rPr sz="2800" spc="-5" dirty="0">
                <a:latin typeface="Carlito"/>
                <a:cs typeface="Carlito"/>
              </a:rPr>
              <a:t>with each </a:t>
            </a:r>
            <a:r>
              <a:rPr sz="2800" spc="-20" dirty="0">
                <a:latin typeface="Carlito"/>
                <a:cs typeface="Carlito"/>
              </a:rPr>
              <a:t>link-state  packet </a:t>
            </a:r>
            <a:r>
              <a:rPr sz="2800" spc="-15" dirty="0">
                <a:latin typeface="Carlito"/>
                <a:cs typeface="Carlito"/>
              </a:rPr>
              <a:t>containing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identities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5" dirty="0">
                <a:latin typeface="Carlito"/>
                <a:cs typeface="Carlito"/>
              </a:rPr>
              <a:t>attached</a:t>
            </a:r>
            <a:r>
              <a:rPr sz="2800" spc="1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All nodes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identical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complete </a:t>
            </a:r>
            <a:r>
              <a:rPr sz="2800" spc="-10" dirty="0">
                <a:latin typeface="Carlito"/>
                <a:cs typeface="Carlito"/>
              </a:rPr>
              <a:t>view </a:t>
            </a:r>
            <a:r>
              <a:rPr sz="2800" spc="-5" dirty="0">
                <a:latin typeface="Carlito"/>
                <a:cs typeface="Carlito"/>
              </a:rPr>
              <a:t>of the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can </a:t>
            </a:r>
            <a:r>
              <a:rPr sz="2800" spc="-5" dirty="0">
                <a:latin typeface="Carlito"/>
                <a:cs typeface="Carlito"/>
              </a:rPr>
              <a:t>then run the LS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compute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same set 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every other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957604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0219"/>
            <a:ext cx="10342245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we present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is known</a:t>
            </a:r>
            <a:r>
              <a:rPr sz="2800" spc="19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</a:t>
            </a:r>
            <a:endParaRPr sz="2800">
              <a:latin typeface="Carlito"/>
              <a:cs typeface="Carlito"/>
            </a:endParaRPr>
          </a:p>
          <a:p>
            <a:pPr marL="241300">
              <a:lnSpc>
                <a:spcPts val="3190"/>
              </a:lnSpc>
            </a:pPr>
            <a:r>
              <a:rPr sz="2800" i="1" spc="-25" dirty="0">
                <a:latin typeface="Carlito"/>
                <a:cs typeface="Carlito"/>
              </a:rPr>
              <a:t>Dijkstra’s</a:t>
            </a:r>
            <a:r>
              <a:rPr sz="2800" i="1" spc="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14986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computes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one </a:t>
            </a:r>
            <a:r>
              <a:rPr sz="2800" spc="-10" dirty="0">
                <a:latin typeface="Carlito"/>
                <a:cs typeface="Carlito"/>
              </a:rPr>
              <a:t>node (the  source,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will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i="1" spc="-5" dirty="0">
                <a:latin typeface="Carlito"/>
                <a:cs typeface="Carlito"/>
              </a:rPr>
              <a:t>u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property </a:t>
            </a:r>
            <a:r>
              <a:rPr sz="2800" spc="-10" dirty="0">
                <a:latin typeface="Carlito"/>
                <a:cs typeface="Carlito"/>
              </a:rPr>
              <a:t>that after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i="1" spc="-5" dirty="0">
                <a:latin typeface="Carlito"/>
                <a:cs typeface="Carlito"/>
              </a:rPr>
              <a:t>k</a:t>
            </a:r>
            <a:r>
              <a:rPr sz="2800" spc="-5" dirty="0">
                <a:latin typeface="Carlito"/>
                <a:cs typeface="Carlito"/>
              </a:rPr>
              <a:t>th  </a:t>
            </a:r>
            <a:r>
              <a:rPr sz="2800" spc="-15" dirty="0">
                <a:latin typeface="Carlito"/>
                <a:cs typeface="Carlito"/>
              </a:rPr>
              <a:t>iteration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known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k 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Notations used </a:t>
            </a:r>
            <a:r>
              <a:rPr sz="2800" spc="-15" dirty="0">
                <a:latin typeface="Carlito"/>
                <a:cs typeface="Carlito"/>
              </a:rPr>
              <a:t>are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: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D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2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v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15" dirty="0">
                <a:latin typeface="Carlito"/>
                <a:cs typeface="Carlito"/>
              </a:rPr>
              <a:t>previous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(neighbor of 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 along the </a:t>
            </a:r>
            <a:r>
              <a:rPr sz="2800" spc="-15" dirty="0">
                <a:latin typeface="Carlito"/>
                <a:cs typeface="Carlito"/>
              </a:rPr>
              <a:t>current least-cost</a:t>
            </a:r>
            <a:r>
              <a:rPr sz="2800" spc="229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path.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’: </a:t>
            </a:r>
            <a:r>
              <a:rPr sz="2800" spc="-15" dirty="0">
                <a:latin typeface="Carlito"/>
                <a:cs typeface="Carlito"/>
              </a:rPr>
              <a:t>subset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1139843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25779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global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consists </a:t>
            </a:r>
            <a:r>
              <a:rPr sz="2800" spc="-5" dirty="0">
                <a:latin typeface="Carlito"/>
                <a:cs typeface="Carlito"/>
              </a:rPr>
              <a:t>of an </a:t>
            </a:r>
            <a:r>
              <a:rPr sz="2800" spc="-10" dirty="0">
                <a:latin typeface="Carlito"/>
                <a:cs typeface="Carlito"/>
              </a:rPr>
              <a:t>initialization </a:t>
            </a:r>
            <a:r>
              <a:rPr sz="2800" spc="-20" dirty="0">
                <a:latin typeface="Carlito"/>
                <a:cs typeface="Carlito"/>
              </a:rPr>
              <a:t>step followed 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loop.</a:t>
            </a:r>
            <a:endParaRPr sz="2800">
              <a:latin typeface="Carlito"/>
              <a:cs typeface="Carlito"/>
            </a:endParaRPr>
          </a:p>
          <a:p>
            <a:pPr marL="241300" marR="1828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5" dirty="0">
                <a:latin typeface="Carlito"/>
                <a:cs typeface="Carlito"/>
              </a:rPr>
              <a:t>of times the loop is </a:t>
            </a:r>
            <a:r>
              <a:rPr sz="2800" spc="-20" dirty="0">
                <a:latin typeface="Carlito"/>
                <a:cs typeface="Carlito"/>
              </a:rPr>
              <a:t>executed </a:t>
            </a:r>
            <a:r>
              <a:rPr sz="2800" spc="-5" dirty="0">
                <a:latin typeface="Carlito"/>
                <a:cs typeface="Carlito"/>
              </a:rPr>
              <a:t>is equal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of 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292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Upon </a:t>
            </a:r>
            <a:r>
              <a:rPr sz="2800" spc="-10" dirty="0">
                <a:latin typeface="Carlito"/>
                <a:cs typeface="Carlito"/>
              </a:rPr>
              <a:t>termination,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10" dirty="0">
                <a:latin typeface="Carlito"/>
                <a:cs typeface="Carlito"/>
              </a:rPr>
              <a:t>calculated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shortest 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source node </a:t>
            </a:r>
            <a:r>
              <a:rPr sz="2800" i="1" spc="-5" dirty="0">
                <a:latin typeface="Carlito"/>
                <a:cs typeface="Carlito"/>
              </a:rPr>
              <a:t>u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every </a:t>
            </a:r>
            <a:r>
              <a:rPr sz="2800" spc="-5" dirty="0">
                <a:latin typeface="Carlito"/>
                <a:cs typeface="Carlito"/>
              </a:rPr>
              <a:t>other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2790725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4433"/>
            <a:ext cx="9519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Link-State</a:t>
            </a:r>
            <a:r>
              <a:rPr spc="-425" dirty="0"/>
              <a:t> </a:t>
            </a:r>
            <a:r>
              <a:rPr spc="-295" dirty="0"/>
              <a:t>(LS)</a:t>
            </a:r>
            <a:r>
              <a:rPr spc="-430" dirty="0"/>
              <a:t> </a:t>
            </a:r>
            <a:r>
              <a:rPr spc="-220" dirty="0"/>
              <a:t>Algorithm</a:t>
            </a:r>
            <a:r>
              <a:rPr spc="-475" dirty="0"/>
              <a:t> </a:t>
            </a:r>
            <a:r>
              <a:rPr spc="-240" dirty="0"/>
              <a:t>for</a:t>
            </a:r>
            <a:r>
              <a:rPr spc="-430" dirty="0"/>
              <a:t> </a:t>
            </a:r>
            <a:r>
              <a:rPr spc="-215" dirty="0"/>
              <a:t>Source</a:t>
            </a:r>
            <a:r>
              <a:rPr spc="-430" dirty="0"/>
              <a:t> </a:t>
            </a:r>
            <a:r>
              <a:rPr spc="-150" dirty="0"/>
              <a:t>Node</a:t>
            </a:r>
            <a:r>
              <a:rPr spc="-440" dirty="0"/>
              <a:t> </a:t>
            </a:r>
            <a:r>
              <a:rPr i="1" spc="-215" dirty="0">
                <a:latin typeface="Arial"/>
                <a:cs typeface="Arial"/>
              </a:rPr>
              <a:t>u</a:t>
            </a:r>
          </a:p>
        </p:txBody>
      </p:sp>
      <p:sp>
        <p:nvSpPr>
          <p:cNvPr id="3" name="object 3"/>
          <p:cNvSpPr/>
          <p:nvPr/>
        </p:nvSpPr>
        <p:spPr>
          <a:xfrm>
            <a:off x="979931" y="1296989"/>
            <a:ext cx="9864783" cy="5372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1228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920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sp>
        <p:nvSpPr>
          <p:cNvPr id="3" name="object 3"/>
          <p:cNvSpPr/>
          <p:nvPr/>
        </p:nvSpPr>
        <p:spPr>
          <a:xfrm>
            <a:off x="3226307" y="2001083"/>
            <a:ext cx="5825785" cy="4088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7607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53" y="1909348"/>
            <a:ext cx="11188565" cy="4183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1404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29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A</a:t>
            </a:r>
            <a:r>
              <a:rPr spc="-405" dirty="0"/>
              <a:t> </a:t>
            </a:r>
            <a:r>
              <a:rPr spc="-200" dirty="0"/>
              <a:t>Comparison</a:t>
            </a:r>
            <a:r>
              <a:rPr spc="-445" dirty="0"/>
              <a:t> </a:t>
            </a:r>
            <a:r>
              <a:rPr spc="-204" dirty="0"/>
              <a:t>of</a:t>
            </a:r>
            <a:r>
              <a:rPr spc="-405" dirty="0"/>
              <a:t> </a:t>
            </a:r>
            <a:r>
              <a:rPr spc="-265" dirty="0"/>
              <a:t>LS</a:t>
            </a:r>
            <a:r>
              <a:rPr spc="-409" dirty="0"/>
              <a:t> </a:t>
            </a:r>
            <a:r>
              <a:rPr spc="-195" dirty="0"/>
              <a:t>and</a:t>
            </a:r>
            <a:r>
              <a:rPr spc="-430" dirty="0"/>
              <a:t> </a:t>
            </a:r>
            <a:r>
              <a:rPr spc="-130" dirty="0"/>
              <a:t>DV</a:t>
            </a:r>
            <a:r>
              <a:rPr spc="-425" dirty="0"/>
              <a:t> </a:t>
            </a:r>
            <a:r>
              <a:rPr spc="-225" dirty="0"/>
              <a:t>Routing</a:t>
            </a:r>
            <a:r>
              <a:rPr spc="-43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1557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59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LS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(via  </a:t>
            </a:r>
            <a:r>
              <a:rPr sz="2800" spc="-15" dirty="0">
                <a:latin typeface="Carlito"/>
                <a:cs typeface="Carlito"/>
              </a:rPr>
              <a:t>broadcast), </a:t>
            </a:r>
            <a:r>
              <a:rPr sz="2800" spc="-5" dirty="0">
                <a:latin typeface="Carlito"/>
                <a:cs typeface="Carlito"/>
              </a:rPr>
              <a:t>but it </a:t>
            </a:r>
            <a:r>
              <a:rPr sz="2800" spc="-10" dirty="0">
                <a:latin typeface="Carlito"/>
                <a:cs typeface="Carlito"/>
              </a:rPr>
              <a:t>tells </a:t>
            </a:r>
            <a:r>
              <a:rPr sz="2800" spc="-5" dirty="0">
                <a:latin typeface="Carlito"/>
                <a:cs typeface="Carlito"/>
              </a:rPr>
              <a:t>them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connected  </a:t>
            </a:r>
            <a:r>
              <a:rPr sz="2800" spc="-15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to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connected  neighbors, </a:t>
            </a:r>
            <a:r>
              <a:rPr sz="2800" spc="-10" dirty="0">
                <a:latin typeface="Carlito"/>
                <a:cs typeface="Carlito"/>
              </a:rPr>
              <a:t>but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least-cost estimates </a:t>
            </a:r>
            <a:r>
              <a:rPr sz="2800" spc="-20" dirty="0">
                <a:latin typeface="Carlito"/>
                <a:cs typeface="Carlito"/>
              </a:rPr>
              <a:t>from  </a:t>
            </a:r>
            <a:r>
              <a:rPr sz="2800" spc="-5" dirty="0">
                <a:latin typeface="Carlito"/>
                <a:cs typeface="Carlito"/>
              </a:rPr>
              <a:t>itself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(that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knows </a:t>
            </a:r>
            <a:r>
              <a:rPr sz="2800" spc="-5" dirty="0">
                <a:latin typeface="Carlito"/>
                <a:cs typeface="Carlito"/>
              </a:rPr>
              <a:t>about) in the</a:t>
            </a:r>
            <a:r>
              <a:rPr sz="2800" spc="1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7992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</TotalTime>
  <Words>8021</Words>
  <Application>Microsoft Office PowerPoint</Application>
  <PresentationFormat>Widescreen</PresentationFormat>
  <Paragraphs>582</Paragraphs>
  <Slides>112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112</vt:i4>
      </vt:variant>
    </vt:vector>
  </HeadingPairs>
  <TitlesOfParts>
    <vt:vector size="125" baseType="lpstr">
      <vt:lpstr>AoyagiKouzanFontT</vt:lpstr>
      <vt:lpstr>Arial</vt:lpstr>
      <vt:lpstr>Calibri</vt:lpstr>
      <vt:lpstr>Carlito</vt:lpstr>
      <vt:lpstr>Courier New</vt:lpstr>
      <vt:lpstr>Konatu</vt:lpstr>
      <vt:lpstr>Times New Roman</vt:lpstr>
      <vt:lpstr>Trebuchet MS</vt:lpstr>
      <vt:lpstr>Wingdings</vt:lpstr>
      <vt:lpstr>Office Theme</vt:lpstr>
      <vt:lpstr>1_Office Theme</vt:lpstr>
      <vt:lpstr>2_Office Theme</vt:lpstr>
      <vt:lpstr>3_Office Theme</vt:lpstr>
      <vt:lpstr>Network Layer Module 3</vt:lpstr>
      <vt:lpstr>Network Layer</vt:lpstr>
      <vt:lpstr>PowerPoint Presentation</vt:lpstr>
      <vt:lpstr>PowerPoint Presentation</vt:lpstr>
      <vt:lpstr>Forwarding and Routing</vt:lpstr>
      <vt:lpstr>PowerPoint Presentation</vt:lpstr>
      <vt:lpstr>PowerPoint Presentation</vt:lpstr>
      <vt:lpstr>PowerPoint Presentation</vt:lpstr>
      <vt:lpstr>PowerPoint Presentation</vt:lpstr>
      <vt:lpstr>Connection setup</vt:lpstr>
      <vt:lpstr>Network Service Models</vt:lpstr>
      <vt:lpstr>PowerPoint Presentation</vt:lpstr>
      <vt:lpstr>PowerPoint Presentation</vt:lpstr>
      <vt:lpstr>Virtual Circuit and Datagram Networks</vt:lpstr>
      <vt:lpstr>PowerPoint Presentation</vt:lpstr>
      <vt:lpstr>Virtual circuits</vt:lpstr>
      <vt:lpstr>VC implementation</vt:lpstr>
      <vt:lpstr>VC forwarding table</vt:lpstr>
      <vt:lpstr>Virtual circuit setup</vt:lpstr>
      <vt:lpstr>Virtual circuit Phases</vt:lpstr>
      <vt:lpstr>Virtual setup</vt:lpstr>
      <vt:lpstr>Setup request in a virtual circuit</vt:lpstr>
      <vt:lpstr>Acknowledgment Phase</vt:lpstr>
      <vt:lpstr>VC Data transfer.</vt:lpstr>
      <vt:lpstr>VC Data Transfer</vt:lpstr>
      <vt:lpstr>VC teardown.</vt:lpstr>
      <vt:lpstr>Datagram networks</vt:lpstr>
      <vt:lpstr>Datagram forwarding table</vt:lpstr>
      <vt:lpstr>Datagram forwarding table</vt:lpstr>
      <vt:lpstr>Datagram forwarding table</vt:lpstr>
      <vt:lpstr>Datagram forwarding table</vt:lpstr>
      <vt:lpstr>Longest prefix matching</vt:lpstr>
      <vt:lpstr>Datagram</vt:lpstr>
      <vt:lpstr>Datagram network</vt:lpstr>
      <vt:lpstr>Router</vt:lpstr>
      <vt:lpstr>The Internet Protocol (IP)</vt:lpstr>
      <vt:lpstr>Inside the Internet’s network layer</vt:lpstr>
      <vt:lpstr>Datagram Format</vt:lpstr>
      <vt:lpstr>IPv4 datagram format</vt:lpstr>
      <vt:lpstr>PowerPoint Presentation</vt:lpstr>
      <vt:lpstr>PowerPoint Presentation</vt:lpstr>
      <vt:lpstr>PowerPoint Presentation</vt:lpstr>
      <vt:lpstr>IP Datagram Fragmentation</vt:lpstr>
      <vt:lpstr>PowerPoint Presentation</vt:lpstr>
      <vt:lpstr>PowerPoint Presentation</vt:lpstr>
      <vt:lpstr>PowerPoint Presentation</vt:lpstr>
      <vt:lpstr>IP fragments</vt:lpstr>
      <vt:lpstr>PowerPoint Presentation</vt:lpstr>
      <vt:lpstr>IPv4 Addressing</vt:lpstr>
      <vt:lpstr>IPV4 Address</vt:lpstr>
      <vt:lpstr>An IPv4 address is 32 bits long.</vt:lpstr>
      <vt:lpstr>IP Address Notation</vt:lpstr>
      <vt:lpstr>IP Address Notation: binary notation</vt:lpstr>
      <vt:lpstr>Dotted-Decimal Notation: Base 256</vt:lpstr>
      <vt:lpstr>Hexadecimal notation</vt:lpstr>
      <vt:lpstr>Classful addressing.</vt:lpstr>
      <vt:lpstr>Finding the class of address</vt:lpstr>
      <vt:lpstr>Finding Class of an IP Address</vt:lpstr>
      <vt:lpstr>Finding Class of an IP Address</vt:lpstr>
      <vt:lpstr>Finding Class of an IP Address</vt:lpstr>
      <vt:lpstr>Finding Class of an IP Address</vt:lpstr>
      <vt:lpstr>Netid and hostid</vt:lpstr>
      <vt:lpstr>Classful Addressing :Classes and Blocks</vt:lpstr>
      <vt:lpstr>Millions of class A addresses  are wasted.</vt:lpstr>
      <vt:lpstr>Class D addresses are made of one block,  used for multicasting.</vt:lpstr>
      <vt:lpstr>Two-level addressing in classful addressing</vt:lpstr>
      <vt:lpstr>Subnet</vt:lpstr>
      <vt:lpstr>PowerPoint Presentation</vt:lpstr>
      <vt:lpstr>PowerPoint Presentation</vt:lpstr>
      <vt:lpstr>Classless Interdomain Routing</vt:lpstr>
      <vt:lpstr>Obtaining a Block of Addresses</vt:lpstr>
      <vt:lpstr>PowerPoint Presentation</vt:lpstr>
      <vt:lpstr>Obtaining a Host Address: the Dynamic Host  Configuration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Address Translation (NAT)</vt:lpstr>
      <vt:lpstr>PowerPoint Presentation</vt:lpstr>
      <vt:lpstr>PowerPoint Presentation</vt:lpstr>
      <vt:lpstr>Internet Control Message Protocol (ICMP)</vt:lpstr>
      <vt:lpstr>IPv6</vt:lpstr>
      <vt:lpstr>IPv6 Datagram Format</vt:lpstr>
      <vt:lpstr>The most important changes introduced in  IPv6 are:</vt:lpstr>
      <vt:lpstr>The IPv6 format contains:</vt:lpstr>
      <vt:lpstr>PowerPoint Presentation</vt:lpstr>
      <vt:lpstr>PowerPoint Presentation</vt:lpstr>
      <vt:lpstr>Routing Algorithms</vt:lpstr>
      <vt:lpstr>PowerPoint Presentation</vt:lpstr>
      <vt:lpstr>PowerPoint Presentation</vt:lpstr>
      <vt:lpstr>PowerPoint Presentation</vt:lpstr>
      <vt:lpstr>PowerPoint Presentation</vt:lpstr>
      <vt:lpstr>Classification of Routing Algorithms</vt:lpstr>
      <vt:lpstr>global routing algorithm</vt:lpstr>
      <vt:lpstr>decentralized routing algorithm</vt:lpstr>
      <vt:lpstr>PowerPoint Presentation</vt:lpstr>
      <vt:lpstr>PowerPoint Presentation</vt:lpstr>
      <vt:lpstr>The Distance-Vector (DV) Routing Algorithm</vt:lpstr>
      <vt:lpstr>PowerPoint Presentation</vt:lpstr>
      <vt:lpstr>PowerPoint Presentation</vt:lpstr>
      <vt:lpstr>PowerPoint Presentation</vt:lpstr>
      <vt:lpstr>The Link-State (LS) Routing Algorithm</vt:lpstr>
      <vt:lpstr>PowerPoint Presentation</vt:lpstr>
      <vt:lpstr>PowerPoint Presentation</vt:lpstr>
      <vt:lpstr>Link-State (LS) Algorithm for Source Node u</vt:lpstr>
      <vt:lpstr>Example</vt:lpstr>
      <vt:lpstr>PowerPoint Presentation</vt:lpstr>
      <vt:lpstr>A Comparison of LS and DV Routing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</dc:title>
  <dc:creator>USER</dc:creator>
  <cp:lastModifiedBy>Mayank Agarwal</cp:lastModifiedBy>
  <cp:revision>36</cp:revision>
  <dcterms:created xsi:type="dcterms:W3CDTF">2021-06-09T06:00:20Z</dcterms:created>
  <dcterms:modified xsi:type="dcterms:W3CDTF">2024-11-05T18:43:14Z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2021-06-09T00:00:00Z</vt:filetime>
  </property>
</Properties>
</file>